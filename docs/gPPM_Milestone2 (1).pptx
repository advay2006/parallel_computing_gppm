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6.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84B"/>
                </a:solidFill>
                <a:latin typeface="Calibri"/>
              </a:defRPr>
            </a:pPr>
            <a:r>
              <a:rPr sz="1200" b="0" i="0" u="none" strike="noStrike">
                <a:solidFill>
                  <a:srgbClr val="14284B"/>
                </a:solidFill>
                <a:latin typeface="Calibri"/>
              </a:rPr>
              <a:t>Effective threads when T = 4 requested</a:t>
            </a:r>
          </a:p>
        </c:rich>
      </c:tx>
      <c:layout/>
      <c:overlay val="0"/>
    </c:title>
    <c:autoTitleDeleted val="0"/>
    <c:plotArea>
      <c:layout/>
      <c:barChart>
        <c:barDir val="bar"/>
        <c:grouping val="clustered"/>
        <c:varyColors val="0"/>
        <c:ser>
          <c:idx val="0"/>
          <c:order val="0"/>
          <c:tx>
            <c:strRef>
              <c:f>Sheet1!$B$1</c:f>
              <c:strCache>
                <c:ptCount val="1"/>
                <c:pt idx="0">
                  <c:v>Layouts</c:v>
                </c:pt>
              </c:strCache>
            </c:strRef>
          </c:tx>
          <c:spPr>
            <a:solidFill>
              <a:srgbClr val="14284B"/>
            </a:solidFill>
            <a:effectLst/>
          </c:spPr>
          <c:invertIfNegative val="0"/>
          <c:dLbls>
            <c:numFmt formatCode="#,##0" sourceLinked="0"/>
            <c:txPr>
              <a:bodyPr/>
              <a:lstStyle/>
              <a:p>
                <a:pPr>
                  <a:defRPr b="0" i="0" strike="noStrike" sz="1000" u="none">
                    <a:solidFill>
                      <a:srgbClr val="222222"/>
                    </a:solidFill>
                    <a:latin typeface="Arial"/>
                  </a:defRPr>
                </a:pPr>
              </a:p>
            </c:txPr>
            <c:showLegendKey val="0"/>
            <c:showVal val="1"/>
            <c:showCatName val="0"/>
            <c:showSerName val="0"/>
            <c:showPercent val="0"/>
            <c:showBubbleSize val="0"/>
            <c:showLeaderLines val="0"/>
          </c:dLbls>
          <c:cat>
            <c:multiLvlStrRef>
              <c:f>Sheet1!$A$2:$A$5</c:f>
              <c:multiLvlStrCache>
                <c:ptCount val="4"/>
                <c:lvl>
                  <c:pt idx="0">
                    <c:v>1</c:v>
                  </c:pt>
                  <c:pt idx="1">
                    <c:v>2</c:v>
                  </c:pt>
                  <c:pt idx="2">
                    <c:v>3</c:v>
                  </c:pt>
                  <c:pt idx="3">
                    <c:v>4</c:v>
                  </c:pt>
                </c:lvl>
              </c:multiLvlStrCache>
            </c:multiLvlStrRef>
          </c:cat>
          <c:val>
            <c:numRef>
              <c:f>Sheet1!$B$2:$B$5</c:f>
              <c:numCache>
                <c:formatCode>General</c:formatCode>
                <c:ptCount val="4"/>
                <c:pt idx="0">
                  <c:v>63</c:v>
                </c:pt>
                <c:pt idx="1">
                  <c:v>188</c:v>
                </c:pt>
                <c:pt idx="2">
                  <c:v>373</c:v>
                </c:pt>
                <c:pt idx="3">
                  <c:v>7209</c:v>
                </c:pt>
              </c:numCache>
            </c:numRef>
          </c:val>
        </c:ser>
        <c:dLbls>
          <c:numFmt formatCode="#,##0" sourceLinked="0"/>
          <c:txPr>
            <a:bodyPr/>
            <a:lstStyle/>
            <a:p>
              <a:pPr>
                <a:defRPr b="0" i="0" strike="noStrike" sz="1000" u="none">
                  <a:solidFill>
                    <a:srgbClr val="222222"/>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title>
          <c:tx>
            <c:rich>
              <a:bodyPr/>
              <a:lstStyle/>
              <a:p>
                <a:pPr>
                  <a:defRPr sz="1000" b="0" i="0" u="none" strike="noStrike">
                    <a:solidFill>
                      <a:srgbClr val="5F6B7A"/>
                    </a:solidFill>
                    <a:latin typeface="Arial"/>
                  </a:defRPr>
                </a:pPr>
                <a:r>
                  <a:rPr sz="1000" b="0" i="0" u="none" strike="noStrike">
                    <a:solidFill>
                      <a:srgbClr val="5F6B7A"/>
                    </a:solidFill>
                    <a:latin typeface="Arial"/>
                  </a:rPr>
                  <a:t>threads used = min(4, p)</a:t>
                </a:r>
              </a:p>
            </c:rich>
          </c:tx>
          <c:layout/>
          <c:overlay val="0"/>
        </c:title>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Layouts</c:v>
                </c:pt>
              </c:strCache>
            </c:strRef>
          </c:tx>
          <c:spPr>
            <a:solidFill>
              <a:srgbClr val="2F6DB5"/>
            </a:solidFill>
            <a:effectLst/>
          </c:spPr>
          <c:invertIfNegative val="0"/>
          <c:dLbls>
            <c:numFmt formatCode="#,##0" sourceLinked="0"/>
            <c:txPr>
              <a:bodyPr/>
              <a:lstStyle/>
              <a:p>
                <a:pPr>
                  <a:defRPr b="0" i="0" strike="noStrike" sz="900" u="none">
                    <a:solidFill>
                      <a:srgbClr val="5F6B7A"/>
                    </a:solidFill>
                    <a:latin typeface="Arial"/>
                  </a:defRPr>
                </a:pPr>
              </a:p>
            </c:txPr>
            <c:showLegendKey val="0"/>
            <c:showVal val="1"/>
            <c:showCatName val="0"/>
            <c:showSerName val="0"/>
            <c:showPercent val="0"/>
            <c:showBubbleSize val="0"/>
            <c:showLeaderLines val="0"/>
          </c:dLbls>
          <c:cat>
            <c:multiLvlStrRef>
              <c:f>Sheet1!$A$2:$A$12</c:f>
              <c:multiLvlStrCache>
                <c:ptCount val="11"/>
                <c:lvl>
                  <c:pt idx="0">
                    <c:v>0–5</c:v>
                  </c:pt>
                  <c:pt idx="1">
                    <c:v>5–10</c:v>
                  </c:pt>
                  <c:pt idx="2">
                    <c:v>10–15</c:v>
                  </c:pt>
                  <c:pt idx="3">
                    <c:v>15–20</c:v>
                  </c:pt>
                  <c:pt idx="4">
                    <c:v>20–25</c:v>
                  </c:pt>
                  <c:pt idx="5">
                    <c:v>25–30</c:v>
                  </c:pt>
                  <c:pt idx="6">
                    <c:v>30–35</c:v>
                  </c:pt>
                  <c:pt idx="7">
                    <c:v>35–40</c:v>
                  </c:pt>
                  <c:pt idx="8">
                    <c:v>40–45</c:v>
                  </c:pt>
                  <c:pt idx="9">
                    <c:v>45–50</c:v>
                  </c:pt>
                  <c:pt idx="10">
                    <c:v>≥ 50</c:v>
                  </c:pt>
                </c:lvl>
              </c:multiLvlStrCache>
            </c:multiLvlStrRef>
          </c:cat>
          <c:val>
            <c:numRef>
              <c:f>Sheet1!$B$2:$B$12</c:f>
              <c:numCache>
                <c:formatCode>General</c:formatCode>
                <c:ptCount val="11"/>
                <c:pt idx="0">
                  <c:v>1430</c:v>
                </c:pt>
                <c:pt idx="1">
                  <c:v>1556</c:v>
                </c:pt>
                <c:pt idx="2">
                  <c:v>1502</c:v>
                </c:pt>
                <c:pt idx="3">
                  <c:v>1171</c:v>
                </c:pt>
                <c:pt idx="4">
                  <c:v>735</c:v>
                </c:pt>
                <c:pt idx="5">
                  <c:v>474</c:v>
                </c:pt>
                <c:pt idx="6">
                  <c:v>332</c:v>
                </c:pt>
                <c:pt idx="7">
                  <c:v>244</c:v>
                </c:pt>
                <c:pt idx="8">
                  <c:v>143</c:v>
                </c:pt>
                <c:pt idx="9">
                  <c:v>99</c:v>
                </c:pt>
                <c:pt idx="10">
                  <c:v>147</c:v>
                </c:pt>
              </c:numCache>
            </c:numRef>
          </c:val>
        </c:ser>
        <c:dLbls>
          <c:numFmt formatCode="#,##0" sourceLinked="0"/>
          <c:txPr>
            <a:bodyPr/>
            <a:lstStyle/>
            <a:p>
              <a:pPr>
                <a:defRPr b="0" i="0" strike="noStrike" sz="900" u="none">
                  <a:solidFill>
                    <a:srgbClr val="5F6B7A"/>
                  </a:solidFill>
                  <a:latin typeface="Arial"/>
                </a:defRPr>
              </a:pPr>
            </a:p>
          </c:txPr>
          <c:showLegendKey val="0"/>
          <c:showVal val="1"/>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F6B7A"/>
                    </a:solidFill>
                    <a:latin typeface="Arial"/>
                  </a:defRPr>
                </a:pPr>
                <a:r>
                  <a:rPr sz="1100" b="0" i="0" u="none" strike="noStrike">
                    <a:solidFill>
                      <a:srgbClr val="5F6B7A"/>
                    </a:solidFill>
                    <a:latin typeface="Arial"/>
                  </a:rPr>
                  <a:t>Operation-count reduction, 1 − C_PPM / C_baseline (%)</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F"/>
              </a:solidFill>
              <a:prstDash val="solid"/>
              <a:round/>
            </a:ln>
          </c:spPr>
        </c:majorGridlines>
        <c:title>
          <c:tx>
            <c:rich>
              <a:bodyPr/>
              <a:lstStyle/>
              <a:p>
                <a:pPr>
                  <a:defRPr sz="1100" b="0" i="0" u="none" strike="noStrike">
                    <a:solidFill>
                      <a:srgbClr val="5F6B7A"/>
                    </a:solidFill>
                    <a:latin typeface="Arial"/>
                  </a:defRPr>
                </a:pPr>
                <a:r>
                  <a:rPr sz="1100" b="0" i="0" u="none" strike="noStrike">
                    <a:solidFill>
                      <a:srgbClr val="5F6B7A"/>
                    </a:solidFill>
                    <a:latin typeface="Arial"/>
                  </a:rPr>
                  <a:t>Number of layouts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Independent (parallel, matrix_first)</c:v>
                </c:pt>
              </c:strCache>
            </c:strRef>
          </c:tx>
          <c:spPr>
            <a:solidFill>
              <a:srgbClr val="2F6DB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(1,1) w8</c:v>
                  </c:pt>
                  <c:pt idx="1">
                    <c:v>(1,2) w16</c:v>
                  </c:pt>
                  <c:pt idx="2">
                    <c:v>(1,3) w32</c:v>
                  </c:pt>
                  <c:pt idx="3">
                    <c:v>(2,1) w8</c:v>
                  </c:pt>
                  <c:pt idx="4">
                    <c:v>(2,2) w16</c:v>
                  </c:pt>
                  <c:pt idx="5">
                    <c:v>(2,3) w32</c:v>
                  </c:pt>
                  <c:pt idx="6">
                    <c:v>(3,1) w8</c:v>
                  </c:pt>
                  <c:pt idx="7">
                    <c:v>(3,2) w16</c:v>
                  </c:pt>
                  <c:pt idx="8">
                    <c:v>(3,3) w32</c:v>
                  </c:pt>
                </c:lvl>
              </c:multiLvlStrCache>
            </c:multiLvlStrRef>
          </c:cat>
          <c:val>
            <c:numRef>
              <c:f>Sheet1!$B$2:$B$10</c:f>
              <c:numCache>
                <c:formatCode>General</c:formatCode>
                <c:ptCount val="9"/>
                <c:pt idx="0">
                  <c:v>225</c:v>
                </c:pt>
                <c:pt idx="1">
                  <c:v>225</c:v>
                </c:pt>
                <c:pt idx="2">
                  <c:v>225</c:v>
                </c:pt>
                <c:pt idx="3">
                  <c:v>420</c:v>
                </c:pt>
                <c:pt idx="4">
                  <c:v>420</c:v>
                </c:pt>
                <c:pt idx="5">
                  <c:v>420</c:v>
                </c:pt>
                <c:pt idx="6">
                  <c:v>585</c:v>
                </c:pt>
                <c:pt idx="7">
                  <c:v>585</c:v>
                </c:pt>
                <c:pt idx="8">
                  <c:v>585</c:v>
                </c:pt>
              </c:numCache>
            </c:numRef>
          </c:val>
        </c:ser>
        <c:ser>
          <c:idx val="1"/>
          <c:order val="1"/>
          <c:tx>
            <c:strRef>
              <c:f>Sheet1!$C$1</c:f>
              <c:strCache>
                <c:ptCount val="1"/>
                <c:pt idx="0">
                  <c:v>Remainder (sequential, normal)</c:v>
                </c:pt>
              </c:strCache>
            </c:strRef>
          </c:tx>
          <c:spPr>
            <a:solidFill>
              <a:srgbClr val="14284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(1,1) w8</c:v>
                  </c:pt>
                  <c:pt idx="1">
                    <c:v>(1,2) w16</c:v>
                  </c:pt>
                  <c:pt idx="2">
                    <c:v>(1,3) w32</c:v>
                  </c:pt>
                  <c:pt idx="3">
                    <c:v>(2,1) w8</c:v>
                  </c:pt>
                  <c:pt idx="4">
                    <c:v>(2,2) w16</c:v>
                  </c:pt>
                  <c:pt idx="5">
                    <c:v>(2,3) w32</c:v>
                  </c:pt>
                  <c:pt idx="6">
                    <c:v>(3,1) w8</c:v>
                  </c:pt>
                  <c:pt idx="7">
                    <c:v>(3,2) w16</c:v>
                  </c:pt>
                  <c:pt idx="8">
                    <c:v>(3,3) w32</c:v>
                  </c:pt>
                </c:lvl>
              </c:multiLvlStrCache>
            </c:multiLvlStrRef>
          </c:cat>
          <c:val>
            <c:numRef>
              <c:f>Sheet1!$C$2:$C$10</c:f>
              <c:numCache>
                <c:formatCode>General</c:formatCode>
                <c:ptCount val="9"/>
                <c:pt idx="0">
                  <c:v>272</c:v>
                </c:pt>
                <c:pt idx="1">
                  <c:v>528</c:v>
                </c:pt>
                <c:pt idx="2">
                  <c:v>784</c:v>
                </c:pt>
                <c:pt idx="3">
                  <c:v>288</c:v>
                </c:pt>
                <c:pt idx="4">
                  <c:v>544</c:v>
                </c:pt>
                <c:pt idx="5">
                  <c:v>800</c:v>
                </c:pt>
                <c:pt idx="6">
                  <c:v>304</c:v>
                </c:pt>
                <c:pt idx="7">
                  <c:v>560</c:v>
                </c:pt>
                <c:pt idx="8">
                  <c:v>816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title>
          <c:tx>
            <c:rich>
              <a:bodyPr/>
              <a:lstStyle/>
              <a:p>
                <a:pPr>
                  <a:defRPr sz="1100" b="0" i="0" u="none" strike="noStrike">
                    <a:solidFill>
                      <a:srgbClr val="5F6B7A"/>
                    </a:solidFill>
                    <a:latin typeface="Arial"/>
                  </a:defRPr>
                </a:pPr>
                <a:r>
                  <a:rPr sz="1100" b="0" i="0" u="none" strike="noStrike">
                    <a:solidFill>
                      <a:srgbClr val="5F6B7A"/>
                    </a:solidFill>
                    <a:latin typeface="Arial"/>
                  </a:rPr>
                  <a:t>(m, s) · field width w</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F"/>
              </a:solidFill>
              <a:prstDash val="solid"/>
              <a:round/>
            </a:ln>
          </c:spPr>
        </c:majorGridlines>
        <c:title>
          <c:tx>
            <c:rich>
              <a:bodyPr/>
              <a:lstStyle/>
              <a:p>
                <a:pPr>
                  <a:defRPr sz="1100" b="0" i="0" u="none" strike="noStrike">
                    <a:solidFill>
                      <a:srgbClr val="5F6B7A"/>
                    </a:solidFill>
                    <a:latin typeface="Arial"/>
                  </a:defRPr>
                </a:pPr>
                <a:r>
                  <a:rPr sz="1100" b="0" i="0" u="none" strike="noStrike">
                    <a:solidFill>
                      <a:srgbClr val="5F6B7A"/>
                    </a:solidFill>
                    <a:latin typeface="Arial"/>
                  </a:rPr>
                  <a:t>PPM region operations C</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22222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 = 1</c:v>
                </c:pt>
              </c:strCache>
            </c:strRef>
          </c:tx>
          <c:spPr>
            <a:solidFill>
              <a:srgbClr val="C9D6E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(1,1) w8</c:v>
                  </c:pt>
                  <c:pt idx="1">
                    <c:v>(1,2) w16</c:v>
                  </c:pt>
                  <c:pt idx="2">
                    <c:v>(1,3) w32</c:v>
                  </c:pt>
                  <c:pt idx="3">
                    <c:v>(2,1) w8</c:v>
                  </c:pt>
                  <c:pt idx="4">
                    <c:v>(2,2) w16</c:v>
                  </c:pt>
                  <c:pt idx="5">
                    <c:v>(2,3) w32</c:v>
                  </c:pt>
                  <c:pt idx="6">
                    <c:v>(3,1) w8</c:v>
                  </c:pt>
                  <c:pt idx="7">
                    <c:v>(3,2) w16</c:v>
                  </c:pt>
                  <c:pt idx="8">
                    <c:v>(3,3) w32</c:v>
                  </c:pt>
                </c:lvl>
              </c:multiLvlStrCache>
            </c:multiLvlStrRef>
          </c:cat>
          <c:val>
            <c:numRef>
              <c:f>Sheet1!$B$2:$B$10</c:f>
              <c:numCache>
                <c:formatCode>General</c:formatCode>
                <c:ptCount val="9"/>
                <c:pt idx="0">
                  <c:v>1.13</c:v>
                </c:pt>
                <c:pt idx="1">
                  <c:v>1.03</c:v>
                </c:pt>
                <c:pt idx="2">
                  <c:v>1.04</c:v>
                </c:pt>
                <c:pt idx="3">
                  <c:v>1.02</c:v>
                </c:pt>
                <c:pt idx="4">
                  <c:v>1.08</c:v>
                </c:pt>
                <c:pt idx="5">
                  <c:v>1.17</c:v>
                </c:pt>
                <c:pt idx="6">
                  <c:v>1.19</c:v>
                </c:pt>
                <c:pt idx="7">
                  <c:v>1.19</c:v>
                </c:pt>
                <c:pt idx="8">
                  <c:v>1.24</c:v>
                </c:pt>
              </c:numCache>
            </c:numRef>
          </c:val>
        </c:ser>
        <c:ser>
          <c:idx val="1"/>
          <c:order val="1"/>
          <c:tx>
            <c:strRef>
              <c:f>Sheet1!$C$1</c:f>
              <c:strCache>
                <c:ptCount val="1"/>
                <c:pt idx="0">
                  <c:v>T = 2</c:v>
                </c:pt>
              </c:strCache>
            </c:strRef>
          </c:tx>
          <c:spPr>
            <a:solidFill>
              <a:srgbClr val="8FA8C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(1,1) w8</c:v>
                  </c:pt>
                  <c:pt idx="1">
                    <c:v>(1,2) w16</c:v>
                  </c:pt>
                  <c:pt idx="2">
                    <c:v>(1,3) w32</c:v>
                  </c:pt>
                  <c:pt idx="3">
                    <c:v>(2,1) w8</c:v>
                  </c:pt>
                  <c:pt idx="4">
                    <c:v>(2,2) w16</c:v>
                  </c:pt>
                  <c:pt idx="5">
                    <c:v>(2,3) w32</c:v>
                  </c:pt>
                  <c:pt idx="6">
                    <c:v>(3,1) w8</c:v>
                  </c:pt>
                  <c:pt idx="7">
                    <c:v>(3,2) w16</c:v>
                  </c:pt>
                  <c:pt idx="8">
                    <c:v>(3,3) w32</c:v>
                  </c:pt>
                </c:lvl>
              </c:multiLvlStrCache>
            </c:multiLvlStrRef>
          </c:cat>
          <c:val>
            <c:numRef>
              <c:f>Sheet1!$C$2:$C$10</c:f>
              <c:numCache>
                <c:formatCode>General</c:formatCode>
                <c:ptCount val="9"/>
                <c:pt idx="0">
                  <c:v>1.31</c:v>
                </c:pt>
                <c:pt idx="1">
                  <c:v>1.1</c:v>
                </c:pt>
                <c:pt idx="2">
                  <c:v>1.14</c:v>
                </c:pt>
                <c:pt idx="3">
                  <c:v>1.25</c:v>
                </c:pt>
                <c:pt idx="4">
                  <c:v>1.35</c:v>
                </c:pt>
                <c:pt idx="5">
                  <c:v>1.36</c:v>
                </c:pt>
                <c:pt idx="6">
                  <c:v>1.66</c:v>
                </c:pt>
                <c:pt idx="7">
                  <c:v>1.53</c:v>
                </c:pt>
                <c:pt idx="8">
                  <c:v>1.53</c:v>
                </c:pt>
              </c:numCache>
            </c:numRef>
          </c:val>
        </c:ser>
        <c:ser>
          <c:idx val="2"/>
          <c:order val="2"/>
          <c:tx>
            <c:strRef>
              <c:f>Sheet1!$D$1</c:f>
              <c:strCache>
                <c:ptCount val="1"/>
                <c:pt idx="0">
                  <c:v>T = 4</c:v>
                </c:pt>
              </c:strCache>
            </c:strRef>
          </c:tx>
          <c:spPr>
            <a:solidFill>
              <a:srgbClr val="2F6DB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(1,1) w8</c:v>
                  </c:pt>
                  <c:pt idx="1">
                    <c:v>(1,2) w16</c:v>
                  </c:pt>
                  <c:pt idx="2">
                    <c:v>(1,3) w32</c:v>
                  </c:pt>
                  <c:pt idx="3">
                    <c:v>(2,1) w8</c:v>
                  </c:pt>
                  <c:pt idx="4">
                    <c:v>(2,2) w16</c:v>
                  </c:pt>
                  <c:pt idx="5">
                    <c:v>(2,3) w32</c:v>
                  </c:pt>
                  <c:pt idx="6">
                    <c:v>(3,1) w8</c:v>
                  </c:pt>
                  <c:pt idx="7">
                    <c:v>(3,2) w16</c:v>
                  </c:pt>
                  <c:pt idx="8">
                    <c:v>(3,3) w32</c:v>
                  </c:pt>
                </c:lvl>
              </c:multiLvlStrCache>
            </c:multiLvlStrRef>
          </c:cat>
          <c:val>
            <c:numRef>
              <c:f>Sheet1!$D$2:$D$10</c:f>
              <c:numCache>
                <c:formatCode>General</c:formatCode>
                <c:ptCount val="9"/>
                <c:pt idx="0">
                  <c:v>1.34</c:v>
                </c:pt>
                <c:pt idx="1">
                  <c:v>1.18</c:v>
                </c:pt>
                <c:pt idx="2">
                  <c:v>1.2</c:v>
                </c:pt>
                <c:pt idx="3">
                  <c:v>1.65</c:v>
                </c:pt>
                <c:pt idx="4">
                  <c:v>1.48</c:v>
                </c:pt>
                <c:pt idx="5">
                  <c:v>1.39</c:v>
                </c:pt>
                <c:pt idx="6">
                  <c:v>2.1</c:v>
                </c:pt>
                <c:pt idx="7">
                  <c:v>1.8</c:v>
                </c:pt>
                <c:pt idx="8">
                  <c:v>1.64</c:v>
                </c:pt>
              </c:numCache>
            </c:numRef>
          </c:val>
        </c:ser>
        <c:ser>
          <c:idx val="3"/>
          <c:order val="3"/>
          <c:tx>
            <c:strRef>
              <c:f>Sheet1!$E$1</c:f>
              <c:strCache>
                <c:ptCount val="1"/>
                <c:pt idx="0">
                  <c:v>T = 8</c:v>
                </c:pt>
              </c:strCache>
            </c:strRef>
          </c:tx>
          <c:spPr>
            <a:solidFill>
              <a:srgbClr val="14284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(1,1) w8</c:v>
                  </c:pt>
                  <c:pt idx="1">
                    <c:v>(1,2) w16</c:v>
                  </c:pt>
                  <c:pt idx="2">
                    <c:v>(1,3) w32</c:v>
                  </c:pt>
                  <c:pt idx="3">
                    <c:v>(2,1) w8</c:v>
                  </c:pt>
                  <c:pt idx="4">
                    <c:v>(2,2) w16</c:v>
                  </c:pt>
                  <c:pt idx="5">
                    <c:v>(2,3) w32</c:v>
                  </c:pt>
                  <c:pt idx="6">
                    <c:v>(3,1) w8</c:v>
                  </c:pt>
                  <c:pt idx="7">
                    <c:v>(3,2) w16</c:v>
                  </c:pt>
                  <c:pt idx="8">
                    <c:v>(3,3) w32</c:v>
                  </c:pt>
                </c:lvl>
              </c:multiLvlStrCache>
            </c:multiLvlStrRef>
          </c:cat>
          <c:val>
            <c:numRef>
              <c:f>Sheet1!$E$2:$E$10</c:f>
              <c:numCache>
                <c:formatCode>General</c:formatCode>
                <c:ptCount val="9"/>
                <c:pt idx="0">
                  <c:v>1.41</c:v>
                </c:pt>
                <c:pt idx="1">
                  <c:v>1.22</c:v>
                </c:pt>
                <c:pt idx="2">
                  <c:v>1.18</c:v>
                </c:pt>
                <c:pt idx="3">
                  <c:v>1.77</c:v>
                </c:pt>
                <c:pt idx="4">
                  <c:v>1.46</c:v>
                </c:pt>
                <c:pt idx="5">
                  <c:v>1.49</c:v>
                </c:pt>
                <c:pt idx="6">
                  <c:v>2.33</c:v>
                </c:pt>
                <c:pt idx="7">
                  <c:v>1.67</c:v>
                </c:pt>
                <c:pt idx="8">
                  <c:v>1.73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F6B7A"/>
                    </a:solidFill>
                    <a:latin typeface="Arial"/>
                  </a:defRPr>
                </a:pPr>
                <a:r>
                  <a:rPr sz="1100" b="0" i="0" u="none" strike="noStrike">
                    <a:solidFill>
                      <a:srgbClr val="5F6B7A"/>
                    </a:solidFill>
                    <a:latin typeface="Arial"/>
                  </a:rPr>
                  <a:t>(m, s) · field width w</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E3E8EF"/>
              </a:solidFill>
              <a:prstDash val="solid"/>
              <a:round/>
            </a:ln>
          </c:spPr>
        </c:majorGridlines>
        <c:title>
          <c:tx>
            <c:rich>
              <a:bodyPr/>
              <a:lstStyle/>
              <a:p>
                <a:pPr>
                  <a:defRPr sz="1100" b="0" i="0" u="none" strike="noStrike">
                    <a:solidFill>
                      <a:srgbClr val="5F6B7A"/>
                    </a:solidFill>
                    <a:latin typeface="Arial"/>
                  </a:defRPr>
                </a:pPr>
                <a:r>
                  <a:rPr sz="1100" b="0" i="0" u="none" strike="noStrike">
                    <a:solidFill>
                      <a:srgbClr val="5F6B7A"/>
                    </a:solidFill>
                    <a:latin typeface="Arial"/>
                  </a:rPr>
                  <a:t>Speedup vs baseline</a:t>
                </a:r>
              </a:p>
            </c:rich>
          </c:tx>
          <c:layout/>
          <c:overlay val="0"/>
        </c:title>
        <c:numFmt formatCode="0.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Arial"/>
              </a:defRPr>
            </a:pPr>
            <a:endParaRPr lang="en-US"/>
          </a:p>
        </c:txPr>
        <c:crossAx val="2094734554"/>
        <c:crosses val="autoZero"/>
        <c:crossBetween val="between"/>
        <c:majorUnit val="0.5"/>
      </c:valAx>
      <c:spPr>
        <a:noFill/>
        <a:ln>
          <a:noFill/>
        </a:ln>
        <a:effectLst/>
      </c:spPr>
    </c:plotArea>
    <c:legend>
      <c:legendPos val="t"/>
      <c:overlay val="0"/>
      <c:txPr>
        <a:bodyPr/>
        <a:lstStyle/>
        <a:p>
          <a:pPr>
            <a:defRPr sz="1100">
              <a:solidFill>
                <a:srgbClr val="22222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Baseline</c:v>
                </c:pt>
              </c:strCache>
            </c:strRef>
          </c:tx>
          <c:spPr>
            <a:solidFill>
              <a:srgbClr val="B9C9E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(1,1) w8</c:v>
                  </c:pt>
                  <c:pt idx="1">
                    <c:v>(1,2) w16</c:v>
                  </c:pt>
                  <c:pt idx="2">
                    <c:v>(1,3) w32</c:v>
                  </c:pt>
                  <c:pt idx="3">
                    <c:v>(2,1) w8</c:v>
                  </c:pt>
                  <c:pt idx="4">
                    <c:v>(2,2) w16</c:v>
                  </c:pt>
                  <c:pt idx="5">
                    <c:v>(2,3) w32</c:v>
                  </c:pt>
                  <c:pt idx="6">
                    <c:v>(3,1) w8</c:v>
                  </c:pt>
                  <c:pt idx="7">
                    <c:v>(3,2) w16</c:v>
                  </c:pt>
                  <c:pt idx="8">
                    <c:v>(3,3) w32</c:v>
                  </c:pt>
                </c:lvl>
              </c:multiLvlStrCache>
            </c:multiLvlStrRef>
          </c:cat>
          <c:val>
            <c:numRef>
              <c:f>Sheet1!$B$2:$B$10</c:f>
              <c:numCache>
                <c:formatCode>General</c:formatCode>
                <c:ptCount val="9"/>
                <c:pt idx="0">
                  <c:v>744.1</c:v>
                </c:pt>
                <c:pt idx="1">
                  <c:v>584.67</c:v>
                </c:pt>
                <c:pt idx="2">
                  <c:v>625.09</c:v>
                </c:pt>
                <c:pt idx="3">
                  <c:v>405.83</c:v>
                </c:pt>
                <c:pt idx="4">
                  <c:v>357.29</c:v>
                </c:pt>
                <c:pt idx="5">
                  <c:v>443.88</c:v>
                </c:pt>
                <c:pt idx="6">
                  <c:v>255.17</c:v>
                </c:pt>
                <c:pt idx="7">
                  <c:v>253.7</c:v>
                </c:pt>
                <c:pt idx="8">
                  <c:v>328.56</c:v>
                </c:pt>
              </c:numCache>
            </c:numRef>
          </c:val>
        </c:ser>
        <c:ser>
          <c:idx val="1"/>
          <c:order val="1"/>
          <c:tx>
            <c:strRef>
              <c:f>Sheet1!$C$1</c:f>
              <c:strCache>
                <c:ptCount val="1"/>
                <c:pt idx="0">
                  <c:v>PPM, T = 8</c:v>
                </c:pt>
              </c:strCache>
            </c:strRef>
          </c:tx>
          <c:spPr>
            <a:solidFill>
              <a:srgbClr val="14284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(1,1) w8</c:v>
                  </c:pt>
                  <c:pt idx="1">
                    <c:v>(1,2) w16</c:v>
                  </c:pt>
                  <c:pt idx="2">
                    <c:v>(1,3) w32</c:v>
                  </c:pt>
                  <c:pt idx="3">
                    <c:v>(2,1) w8</c:v>
                  </c:pt>
                  <c:pt idx="4">
                    <c:v>(2,2) w16</c:v>
                  </c:pt>
                  <c:pt idx="5">
                    <c:v>(2,3) w32</c:v>
                  </c:pt>
                  <c:pt idx="6">
                    <c:v>(3,1) w8</c:v>
                  </c:pt>
                  <c:pt idx="7">
                    <c:v>(3,2) w16</c:v>
                  </c:pt>
                  <c:pt idx="8">
                    <c:v>(3,3) w32</c:v>
                  </c:pt>
                </c:lvl>
              </c:multiLvlStrCache>
            </c:multiLvlStrRef>
          </c:cat>
          <c:val>
            <c:numRef>
              <c:f>Sheet1!$C$2:$C$10</c:f>
              <c:numCache>
                <c:formatCode>General</c:formatCode>
                <c:ptCount val="9"/>
                <c:pt idx="0">
                  <c:v>1049.24</c:v>
                </c:pt>
                <c:pt idx="1">
                  <c:v>711.9</c:v>
                </c:pt>
                <c:pt idx="2">
                  <c:v>735.89</c:v>
                </c:pt>
                <c:pt idx="3">
                  <c:v>717.81</c:v>
                </c:pt>
                <c:pt idx="4">
                  <c:v>520.41</c:v>
                </c:pt>
                <c:pt idx="5">
                  <c:v>662.15</c:v>
                </c:pt>
                <c:pt idx="6">
                  <c:v>595.49</c:v>
                </c:pt>
                <c:pt idx="7">
                  <c:v>422.67</c:v>
                </c:pt>
                <c:pt idx="8">
                  <c:v>568.56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F6B7A"/>
                    </a:solidFill>
                    <a:latin typeface="Arial"/>
                  </a:defRPr>
                </a:pPr>
                <a:r>
                  <a:rPr sz="1100" b="0" i="0" u="none" strike="noStrike">
                    <a:solidFill>
                      <a:srgbClr val="5F6B7A"/>
                    </a:solidFill>
                    <a:latin typeface="Arial"/>
                  </a:rPr>
                  <a:t>(m, s) · field width w</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noMultiLvlLbl val="1"/>
      </c:catAx>
      <c:valAx>
        <c:axId val="2094734552"/>
        <c:scaling>
          <c:orientation val="minMax"/>
          <c:max val="1200"/>
          <c:min val="0"/>
        </c:scaling>
        <c:delete val="0"/>
        <c:axPos val="l"/>
        <c:majorGridlines>
          <c:spPr>
            <a:ln w="6350" cap="flat">
              <a:solidFill>
                <a:srgbClr val="E3E8EF"/>
              </a:solidFill>
              <a:prstDash val="solid"/>
              <a:round/>
            </a:ln>
          </c:spPr>
        </c:majorGridlines>
        <c:title>
          <c:tx>
            <c:rich>
              <a:bodyPr/>
              <a:lstStyle/>
              <a:p>
                <a:pPr>
                  <a:defRPr sz="1100" b="0" i="0" u="none" strike="noStrike">
                    <a:solidFill>
                      <a:srgbClr val="5F6B7A"/>
                    </a:solidFill>
                    <a:latin typeface="Arial"/>
                  </a:defRPr>
                </a:pPr>
                <a:r>
                  <a:rPr sz="1100" b="0" i="0" u="none" strike="noStrike">
                    <a:solidFill>
                      <a:srgbClr val="5F6B7A"/>
                    </a:solidFill>
                    <a:latin typeface="Arial"/>
                  </a:rPr>
                  <a:t>Median useful-data throughput (MiB/s)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A"/>
                </a:solidFill>
                <a:latin typeface="Arial"/>
              </a:defRPr>
            </a:pPr>
            <a:endParaRPr lang="en-US"/>
          </a:p>
        </c:txPr>
        <c:crossAx val="2094734554"/>
        <c:crosses val="autoZero"/>
        <c:crossBetween val="between"/>
        <c:majorUnit val="200"/>
      </c:valAx>
      <c:spPr>
        <a:noFill/>
        <a:ln>
          <a:noFill/>
        </a:ln>
        <a:effectLst/>
      </c:spPr>
    </c:plotArea>
    <c:legend>
      <c:legendPos val="t"/>
      <c:overlay val="0"/>
      <c:txPr>
        <a:bodyPr/>
        <a:lstStyle/>
        <a:p>
          <a:pPr>
            <a:defRPr sz="1100">
              <a:solidFill>
                <a:srgbClr val="22222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Speedup at T = 8</c:v>
                </c:pt>
              </c:strCache>
            </c:strRef>
          </c:tx>
          <c:spPr>
            <a:solidFill>
              <a:srgbClr val="2F6DB5"/>
            </a:solidFill>
            <a:ln>
              <a:noFill/>
            </a:ln>
            <a:effectLst/>
          </c:spPr>
          <c:marker>
            <c:symbol val="circle"/>
            <c:size val="9"/>
            <c:spPr>
              <a:solidFill>
                <a:srgbClr val="2F6DB5"/>
              </a:solidFill>
              <a:ln w="9525" cap="flat">
                <a:solidFill>
                  <a:srgbClr val="2F6DB5"/>
                </a:solidFill>
                <a:prstDash val="solid"/>
                <a:round/>
              </a:ln>
              <a:effectLst/>
            </c:spPr>
          </c:marker>
          <c:xVal>
            <c:numRef>
              <c:f>Sheet1!$A$2:$A$10</c:f>
              <c:numCache>
                <c:formatCode>General</c:formatCode>
                <c:ptCount val="9"/>
                <c:pt idx="0">
                  <c:v>45.3</c:v>
                </c:pt>
                <c:pt idx="1">
                  <c:v>29.9</c:v>
                </c:pt>
                <c:pt idx="2">
                  <c:v>22.3</c:v>
                </c:pt>
                <c:pt idx="3">
                  <c:v>59.3</c:v>
                </c:pt>
                <c:pt idx="4">
                  <c:v>43.6</c:v>
                </c:pt>
                <c:pt idx="5">
                  <c:v>34.4</c:v>
                </c:pt>
                <c:pt idx="6">
                  <c:v>65.8</c:v>
                </c:pt>
                <c:pt idx="7">
                  <c:v>51.1</c:v>
                </c:pt>
                <c:pt idx="8">
                  <c:v>41.8</c:v>
                </c:pt>
              </c:numCache>
            </c:numRef>
          </c:xVal>
          <c:yVal>
            <c:numRef>
              <c:f>Sheet1!$B$2:$B$10</c:f>
              <c:numCache>
                <c:formatCode>General</c:formatCode>
                <c:ptCount val="9"/>
                <c:pt idx="0">
                  <c:v>1.41</c:v>
                </c:pt>
                <c:pt idx="1">
                  <c:v>1.22</c:v>
                </c:pt>
                <c:pt idx="2">
                  <c:v>1.18</c:v>
                </c:pt>
                <c:pt idx="3">
                  <c:v>1.77</c:v>
                </c:pt>
                <c:pt idx="4">
                  <c:v>1.46</c:v>
                </c:pt>
                <c:pt idx="5">
                  <c:v>1.49</c:v>
                </c:pt>
                <c:pt idx="6">
                  <c:v>2.33</c:v>
                </c:pt>
                <c:pt idx="7">
                  <c:v>1.67</c:v>
                </c:pt>
                <c:pt idx="8">
                  <c:v>1.73</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70"/>
          <c:min val="20"/>
        </c:scaling>
        <c:delete val="0"/>
        <c:axPos val="b"/>
        <c:title>
          <c:tx>
            <c:rich>
              <a:bodyPr/>
              <a:lstStyle/>
              <a:p>
                <a:pPr>
                  <a:defRPr sz="1100" b="0" i="0" u="none" strike="noStrike">
                    <a:solidFill>
                      <a:srgbClr val="5F6B7A"/>
                    </a:solidFill>
                    <a:latin typeface="Arial"/>
                  </a:defRPr>
                </a:pPr>
                <a:r>
                  <a:rPr sz="1100" b="0" i="0" u="none" strike="noStrike">
                    <a:solidFill>
                      <a:srgbClr val="5F6B7A"/>
                    </a:solidFill>
                    <a:latin typeface="Arial"/>
                  </a:rPr>
                  <a:t>Parallel share of PPM work, independent C / total C (%)</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5F6B7A"/>
                </a:solidFill>
                <a:latin typeface="Calibri"/>
              </a:defRPr>
            </a:pPr>
            <a:endParaRPr lang="en-US"/>
          </a:p>
        </c:txPr>
        <c:crossAx val="2094734552"/>
        <c:crosses val="autoZero"/>
        <c:auto val="1"/>
        <c:lblAlgn val="ctr"/>
        <c:noMultiLvlLbl val="1"/>
      </c:valAx>
      <c:valAx>
        <c:axId val="2094734552"/>
        <c:scaling>
          <c:orientation val="minMax"/>
          <c:max val="2.5"/>
          <c:min val="1"/>
        </c:scaling>
        <c:delete val="0"/>
        <c:axPos val="l"/>
        <c:majorGridlines>
          <c:spPr>
            <a:ln w="6350" cap="flat">
              <a:solidFill>
                <a:srgbClr val="E3E8EF"/>
              </a:solidFill>
              <a:prstDash val="solid"/>
              <a:round/>
            </a:ln>
          </c:spPr>
        </c:majorGridlines>
        <c:title>
          <c:tx>
            <c:rich>
              <a:bodyPr/>
              <a:lstStyle/>
              <a:p>
                <a:pPr>
                  <a:defRPr sz="1100" b="0" i="0" u="none" strike="noStrike">
                    <a:solidFill>
                      <a:srgbClr val="5F6B7A"/>
                    </a:solidFill>
                    <a:latin typeface="Arial"/>
                  </a:defRPr>
                </a:pPr>
                <a:r>
                  <a:rPr sz="1100" b="0" i="0" u="none" strike="noStrike">
                    <a:solidFill>
                      <a:srgbClr val="5F6B7A"/>
                    </a:solidFill>
                    <a:latin typeface="Arial"/>
                  </a:rPr>
                  <a:t>Median speedup, T = 8</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F6B7A"/>
                </a:solidFill>
                <a:latin typeface="Arial"/>
              </a:defRPr>
            </a:pPr>
            <a:endParaRPr lang="en-US"/>
          </a:p>
        </c:txPr>
        <c:crossAx val="2094734554"/>
        <c:crosses val="autoZero"/>
        <c:crossBetween val="midCat"/>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2 turns the validated sequential SD decoder into the paper's PPM decoder with OpenMP. Three headline numbers: the paper's Figure 3 example drops from 35 to 29 region operations, every feasible layout of the published grid recovers correctly at 1 and 4 threads, and the best median speedup is 2.33x at 8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only. The traditional decoder solves all missing sectors as one coupled system with the normal sequence. It stays untouched in M2 as ec_recover(), the control for every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is fixed PPM for SD codes. Matrix-first is part of M2 because the PPM algorithm prescribes it for independent submatrices; threading alone would not reproduce the paper's operation-count reduction. Dynamic choice between sequences is gPPM and belongs to M3.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Matrix multiplication is associative, so both orders give identical data. Matrix-first multiplies the small coefficient matrices first; that small product is excluded from C. Finite-field cancellation can create zeros in G, and each zero removes one region operation. For a Figure 3 group with m=1, F is a single nonzero scalar, so the normal order costs u(S)+1 while matrix-first costs u(G)=u(S).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0 to 2 each contain exactly one failure, so each row-local equation solves its failure with data from its own row only. Row 3 has two failures but only one local equation, so it needs the dense sector-parity equation, which spans the whole stripe. That remainder also reads the sectors recovered by the independent groups, so it must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split and inversion happens before any worker writes, so an allocation or singularity error cannot leave a half-modified stripe. Independent jobs run in an OpenMP worksharing loop capped at p threads. The loop's implicit barrier must complete before H_rest, whose dense equations read the recovered sectors.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fault pattern as Figure 2. Baseline recovers all five faults together: 22 plus 13 equals 35. PPM: three independent groups at 3 operations each via matrix-first, 9 in total, plus 20 for the remainder, 29 overall, a 17.1 percent reduction. The 9 plus 20 split was confirmed by re-running ppm_recover_sd on this example. Both paths give identical bytes and a zero syndrome.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path is unchanged. PPM is added beside it with its own entry point, sweep, benchmark and tests, so baseline and PPM statistics are never mixed. Only PPM executables link OpenMP.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independent jobs run in parallel. Each iteration resets and reads its worker's thread-local counter and stores the count and return code in its own job record. After the region the caller checks every return code and sums counts, then decodes H_rest. An atomic counter was rejected because it would add contention to the hottest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design rules carry the correctness argument. Disjoint outputs remove the need for data locks, the barrier enforces the only true dependency, thread-local counters remove the instrumentation race, and preparing all subproblems first keeps failures from corrupting the stripe.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tests pin down the building blocks and the paper example. The sweep checks correctness and thread invariance on every feasible grid point with small 16-byte sectors. The benchmark measures time on 32 MiB codewords. Threading must change elapsed time only, never the result or the operation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7,833 feasible layouts recover with identical bytes and zero syndrome at 1 and 4 threads, with identical operation counts. The partition always has p = r minus z groups. The effective-thread distribution at T=4 shows the cap at p: layouts with fewer than four independent groups run with fewer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Reduction is 1 minus PPM C at T=1 divided by the baseline measured C, computed from ppm_sweep_results.csv and sweep_results.csv. PPM never needs more operations than the baseline on any of the 7,833 layouts. The gain grows with m: more disk failures means larger independent groups and more of the work moves into matrix-first.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 r = 16 and z = 1 give p = 15 independent groups, so up to 15 threads could be used; T tops out at 8. Independent work is constant per m: 15 groups times u(G), which is 15, 28 or 39. The remainder carries the dense equations and grows with s. The chart shows how much of each PPM recovery can run in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Speedup per trial is the baseline median time divided by the PPM trial time; the chart shows the median of ten trials. T=1 isolates the algorithmic gain: every configuration improves, 1.02 to 1.24x. Adding threads gives up to 2.33x at T=8 for m=3, s=1. Three configurations peak at 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 useful-data throughput from the M2 benchmark run. Efficiency is speedup divided by effective threads. It falls from 0.29 to 0.53 at T=4 and 0.15 to 0.29 at T=8, far from linear, which the next slide explains.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scatter is my derivation from the benchmark CSV: the x-axis is the share of PPM's operation count that lies in the independent, parallel groups. Configurations with a larger parallel share reach higher T=8 speedup, consistent with an Amdahl-style limit from the sequential remainder. It is an explanatory correlation, not a fitted model; overhead, bandwidth and field backends also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scope limits, not hidden failures. Two reporting gaps are worth stating aloud: the M2 benchmark machine is not recorded separately, and the in-run baseline throughput is lower than the M1 report's figures, so compare speedups, not absolute rates across milestones.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PPM for SD codes is implemented, validated on the full published grid and reproduces the paper's example. It helps in two separable ways: fewer region operations, and parallel execution of independent groups. The sequential remainder bounds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PPM uses a fixed strategy. gPPM evaluates candidate sequences per matrix with the refined cost model and generalises beyond asymmetric codes. SIMD would speed each region operation, which is complementary to the reductions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references for Milestone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914400"/>
            <a:ext cx="9144000" cy="320040"/>
          </a:xfrm>
          <a:prstGeom prst="rect">
            <a:avLst/>
          </a:prstGeom>
          <a:noFill/>
          <a:ln/>
        </p:spPr>
        <p:txBody>
          <a:bodyPr wrap="square" lIns="0" tIns="0" rIns="0" bIns="0" rtlCol="0" anchor="t"/>
          <a:lstStyle/>
          <a:p>
            <a:pPr indent="0" marL="0">
              <a:buNone/>
            </a:pPr>
            <a:r>
              <a:rPr lang="en-US" sz="1300" b="1" spc="200" kern="0" dirty="0">
                <a:solidFill>
                  <a:srgbClr val="2F6DB5"/>
                </a:solidFill>
                <a:latin typeface="Calibri" pitchFamily="34" charset="0"/>
                <a:ea typeface="Calibri" pitchFamily="34" charset="-122"/>
                <a:cs typeface="Calibri" pitchFamily="34" charset="-120"/>
              </a:rPr>
              <a:t>PARALLEL COMPUTING PROJECT · MILESTONE 2</a:t>
            </a:r>
            <a:endParaRPr lang="en-US" sz="1300" dirty="0"/>
          </a:p>
        </p:txBody>
      </p:sp>
      <p:sp>
        <p:nvSpPr>
          <p:cNvPr id="3" name="Text 1"/>
          <p:cNvSpPr txBox="1"/>
          <p:nvPr/>
        </p:nvSpPr>
        <p:spPr>
          <a:xfrm>
            <a:off x="548640" y="1371600"/>
            <a:ext cx="10972800" cy="731520"/>
          </a:xfrm>
          <a:prstGeom prst="rect">
            <a:avLst/>
          </a:prstGeom>
          <a:noFill/>
          <a:ln/>
        </p:spPr>
        <p:txBody>
          <a:bodyPr wrap="square" lIns="0" tIns="0" rIns="0" bIns="0" rtlCol="0" anchor="t"/>
          <a:lstStyle/>
          <a:p>
            <a:pPr indent="0" marL="0">
              <a:buNone/>
            </a:pPr>
            <a:r>
              <a:rPr lang="en-US" sz="3800" b="1" dirty="0">
                <a:solidFill>
                  <a:srgbClr val="14284B"/>
                </a:solidFill>
                <a:latin typeface="Calibri" pitchFamily="34" charset="0"/>
                <a:ea typeface="Calibri" pitchFamily="34" charset="-122"/>
                <a:cs typeface="Calibri" pitchFamily="34" charset="-120"/>
              </a:rPr>
              <a:t>Partitioned and Parallel Matrix (PPM) Decoding</a:t>
            </a:r>
            <a:endParaRPr lang="en-US" sz="3800" dirty="0"/>
          </a:p>
        </p:txBody>
      </p:sp>
      <p:sp>
        <p:nvSpPr>
          <p:cNvPr id="4" name="Text 2"/>
          <p:cNvSpPr txBox="1"/>
          <p:nvPr/>
        </p:nvSpPr>
        <p:spPr>
          <a:xfrm>
            <a:off x="548640" y="2103120"/>
            <a:ext cx="10515600" cy="548640"/>
          </a:xfrm>
          <a:prstGeom prst="rect">
            <a:avLst/>
          </a:prstGeom>
          <a:noFill/>
          <a:ln/>
        </p:spPr>
        <p:txBody>
          <a:bodyPr wrap="square" lIns="0" tIns="0" rIns="0" bIns="0" rtlCol="0" anchor="t"/>
          <a:lstStyle/>
          <a:p>
            <a:pPr indent="0" marL="0">
              <a:buNone/>
            </a:pPr>
            <a:r>
              <a:rPr lang="en-US" sz="2400" dirty="0">
                <a:solidFill>
                  <a:srgbClr val="5F6B7A"/>
                </a:solidFill>
                <a:latin typeface="Calibri" pitchFamily="34" charset="0"/>
                <a:ea typeface="Calibri" pitchFamily="34" charset="-122"/>
                <a:cs typeface="Calibri" pitchFamily="34" charset="-120"/>
              </a:rPr>
              <a:t>OpenMP recovery of SD erasure codes over GF(2ʷ)</a:t>
            </a:r>
            <a:endParaRPr lang="en-US" sz="2400" dirty="0"/>
          </a:p>
        </p:txBody>
      </p:sp>
      <p:sp>
        <p:nvSpPr>
          <p:cNvPr id="5" name="Text 3"/>
          <p:cNvSpPr txBox="1"/>
          <p:nvPr/>
        </p:nvSpPr>
        <p:spPr>
          <a:xfrm>
            <a:off x="548640" y="3063240"/>
            <a:ext cx="6583680" cy="1005840"/>
          </a:xfrm>
          <a:prstGeom prst="rect">
            <a:avLst/>
          </a:prstGeom>
          <a:noFill/>
          <a:ln/>
        </p:spPr>
        <p:txBody>
          <a:bodyPr wrap="square" lIns="0" tIns="0" rIns="0" bIns="0" rtlCol="0" anchor="t"/>
          <a:lstStyle/>
          <a:p>
            <a:pPr indent="0" marL="0">
              <a:buNone/>
            </a:pPr>
            <a:r>
              <a:rPr lang="en-US" sz="1300" b="1" dirty="0">
                <a:solidFill>
                  <a:srgbClr val="222222"/>
                </a:solidFill>
                <a:latin typeface="Calibri" pitchFamily="34" charset="0"/>
                <a:ea typeface="Calibri" pitchFamily="34" charset="-122"/>
                <a:cs typeface="Calibri" pitchFamily="34" charset="-120"/>
              </a:rPr>
              <a:t>Reproducing: </a:t>
            </a:r>
            <a:r>
              <a:rPr lang="en-US" sz="1300" dirty="0">
                <a:solidFill>
                  <a:srgbClr val="5F6B7A"/>
                </a:solidFill>
                <a:latin typeface="Calibri" pitchFamily="34" charset="0"/>
                <a:ea typeface="Calibri" pitchFamily="34" charset="-122"/>
                <a:cs typeface="Calibri" pitchFamily="34" charset="-120"/>
              </a:rPr>
              <a:t>S. Li, Q. Cao, S. Wan, W. Xia, C. Xie. “gPPM: A Generalized Matrix Operation and Parallel Algorithm to Accelerate the Encoding/Decoding Process of Erasure Codes.” ACM TACO 20(4), Art. 51, 2023.</a:t>
            </a:r>
            <a:endParaRPr lang="en-US" sz="1300" dirty="0"/>
          </a:p>
        </p:txBody>
      </p:sp>
      <p:sp>
        <p:nvSpPr>
          <p:cNvPr id="6" name="Text 4"/>
          <p:cNvSpPr txBox="1"/>
          <p:nvPr/>
        </p:nvSpPr>
        <p:spPr>
          <a:xfrm>
            <a:off x="548640" y="5394960"/>
            <a:ext cx="6400800" cy="365760"/>
          </a:xfrm>
          <a:prstGeom prst="rect">
            <a:avLst/>
          </a:prstGeom>
          <a:noFill/>
          <a:ln/>
        </p:spPr>
        <p:txBody>
          <a:bodyPr wrap="square" lIns="0" tIns="0" rIns="0" bIns="0" rtlCol="0" anchor="t"/>
          <a:lstStyle/>
          <a:p>
            <a:pPr indent="0" marL="0">
              <a:buNone/>
            </a:pPr>
            <a:r>
              <a:rPr lang="en-US" sz="1500" dirty="0">
                <a:solidFill>
                  <a:srgbClr val="222222"/>
                </a:solidFill>
                <a:latin typeface="Calibri" pitchFamily="34" charset="0"/>
                <a:ea typeface="Calibri" pitchFamily="34" charset="-122"/>
                <a:cs typeface="Calibri" pitchFamily="34" charset="-120"/>
              </a:rPr>
              <a:t>[Presenter name]  ·  [Course / Institution]</a:t>
            </a:r>
            <a:endParaRPr lang="en-US" sz="1500" dirty="0"/>
          </a:p>
        </p:txBody>
      </p:sp>
      <p:sp>
        <p:nvSpPr>
          <p:cNvPr id="7" name="Shape 5"/>
          <p:cNvSpPr/>
          <p:nvPr/>
        </p:nvSpPr>
        <p:spPr>
          <a:xfrm>
            <a:off x="7818120" y="3063240"/>
            <a:ext cx="3840480" cy="2194560"/>
          </a:xfrm>
          <a:prstGeom prst="rect">
            <a:avLst/>
          </a:prstGeom>
          <a:solidFill>
            <a:srgbClr val="EEF2F8"/>
          </a:solidFill>
          <a:ln/>
        </p:spPr>
      </p:sp>
      <p:sp>
        <p:nvSpPr>
          <p:cNvPr id="8" name="Text 6"/>
          <p:cNvSpPr txBox="1"/>
          <p:nvPr/>
        </p:nvSpPr>
        <p:spPr>
          <a:xfrm>
            <a:off x="8046720" y="3246120"/>
            <a:ext cx="338328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HEADLINE RESULTS</a:t>
            </a:r>
            <a:endParaRPr lang="en-US" sz="1100" dirty="0"/>
          </a:p>
        </p:txBody>
      </p:sp>
      <p:sp>
        <p:nvSpPr>
          <p:cNvPr id="9" name="Text 7"/>
          <p:cNvSpPr txBox="1"/>
          <p:nvPr/>
        </p:nvSpPr>
        <p:spPr>
          <a:xfrm>
            <a:off x="8046720" y="3611880"/>
            <a:ext cx="3474720" cy="1554480"/>
          </a:xfrm>
          <a:prstGeom prst="rect">
            <a:avLst/>
          </a:prstGeom>
          <a:noFill/>
          <a:ln/>
        </p:spPr>
        <p:txBody>
          <a:bodyPr wrap="square" lIns="0" tIns="0" rIns="0" bIns="0" rtlCol="0" anchor="t"/>
          <a:lstStyle/>
          <a:p>
            <a:pPr indent="0" marL="0">
              <a:spcAft>
                <a:spcPts val="600"/>
              </a:spcAft>
              <a:buNone/>
            </a:pPr>
            <a:r>
              <a:rPr lang="en-US" sz="2200" b="1" dirty="0">
                <a:solidFill>
                  <a:srgbClr val="14284B"/>
                </a:solidFill>
                <a:latin typeface="Calibri" pitchFamily="34" charset="0"/>
                <a:ea typeface="Calibri" pitchFamily="34" charset="-122"/>
                <a:cs typeface="Calibri" pitchFamily="34" charset="-120"/>
              </a:rPr>
              <a:t>35 → 29</a:t>
            </a:r>
            <a:r>
              <a:rPr lang="en-US" sz="1300" dirty="0">
                <a:solidFill>
                  <a:srgbClr val="222222"/>
                </a:solidFill>
                <a:latin typeface="Calibri" pitchFamily="34" charset="0"/>
                <a:ea typeface="Calibri" pitchFamily="34" charset="-122"/>
                <a:cs typeface="Calibri" pitchFamily="34" charset="-120"/>
              </a:rPr>
              <a:t>  Fig. 3 operations</a:t>
            </a:r>
            <a:endParaRPr lang="en-US" sz="2200" dirty="0"/>
          </a:p>
          <a:p>
            <a:pPr indent="0" marL="0">
              <a:spcAft>
                <a:spcPts val="600"/>
              </a:spcAft>
              <a:buNone/>
            </a:pPr>
            <a:r>
              <a:rPr lang="en-US" sz="2200" b="1" dirty="0">
                <a:solidFill>
                  <a:srgbClr val="14284B"/>
                </a:solidFill>
                <a:latin typeface="Calibri" pitchFamily="34" charset="0"/>
                <a:ea typeface="Calibri" pitchFamily="34" charset="-122"/>
                <a:cs typeface="Calibri" pitchFamily="34" charset="-120"/>
              </a:rPr>
              <a:t>7,833 / 7,833</a:t>
            </a:r>
            <a:r>
              <a:rPr lang="en-US" sz="1300" dirty="0">
                <a:solidFill>
                  <a:srgbClr val="222222"/>
                </a:solidFill>
                <a:latin typeface="Calibri" pitchFamily="34" charset="0"/>
                <a:ea typeface="Calibri" pitchFamily="34" charset="-122"/>
                <a:cs typeface="Calibri" pitchFamily="34" charset="-120"/>
              </a:rPr>
              <a:t>  grid layouts PASS</a:t>
            </a:r>
            <a:endParaRPr lang="en-US" sz="2200" dirty="0"/>
          </a:p>
          <a:p>
            <a:pPr indent="0" marL="0">
              <a:spcAft>
                <a:spcPts val="600"/>
              </a:spcAft>
              <a:buNone/>
            </a:pPr>
            <a:r>
              <a:rPr lang="en-US" sz="2200" b="1" dirty="0">
                <a:solidFill>
                  <a:srgbClr val="2F6DB5"/>
                </a:solidFill>
                <a:latin typeface="Calibri" pitchFamily="34" charset="0"/>
                <a:ea typeface="Calibri" pitchFamily="34" charset="-122"/>
                <a:cs typeface="Calibri" pitchFamily="34" charset="-120"/>
              </a:rPr>
              <a:t>2.33×</a:t>
            </a:r>
            <a:r>
              <a:rPr lang="en-US" sz="1300" dirty="0">
                <a:solidFill>
                  <a:srgbClr val="222222"/>
                </a:solidFill>
                <a:latin typeface="Calibri" pitchFamily="34" charset="0"/>
                <a:ea typeface="Calibri" pitchFamily="34" charset="-122"/>
                <a:cs typeface="Calibri" pitchFamily="34" charset="-120"/>
              </a:rPr>
              <a:t>  best median speedup, T = 8</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RECAP · MILESTONE 1</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Starting Point: the Validated Sequential Baseline</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548640" y="1417320"/>
            <a:ext cx="6035040" cy="914400"/>
          </a:xfrm>
          <a:prstGeom prst="rect">
            <a:avLst/>
          </a:prstGeom>
          <a:solidFill>
            <a:srgbClr val="EEF2F8"/>
          </a:solidFill>
          <a:ln/>
        </p:spPr>
      </p:sp>
      <p:sp>
        <p:nvSpPr>
          <p:cNvPr id="8" name="Text 5"/>
          <p:cNvSpPr txBox="1"/>
          <p:nvPr/>
        </p:nvSpPr>
        <p:spPr>
          <a:xfrm>
            <a:off x="548640" y="1417320"/>
            <a:ext cx="6035040" cy="914400"/>
          </a:xfrm>
          <a:prstGeom prst="rect">
            <a:avLst/>
          </a:prstGeom>
          <a:noFill/>
          <a:ln/>
        </p:spPr>
        <p:txBody>
          <a:bodyPr wrap="square" lIns="0" tIns="0" rIns="0" bIns="0" rtlCol="0" anchor="ctr"/>
          <a:lstStyle/>
          <a:p>
            <a:pPr algn="ctr" indent="0" marL="0">
              <a:buNone/>
            </a:pPr>
            <a:r>
              <a:rPr lang="en-US" sz="2200" dirty="0">
                <a:solidFill>
                  <a:srgbClr val="14284B"/>
                </a:solidFill>
                <a:latin typeface="Cambria" pitchFamily="34" charset="0"/>
                <a:ea typeface="Cambria" pitchFamily="34" charset="-122"/>
                <a:cs typeface="Cambria" pitchFamily="34" charset="-120"/>
              </a:rPr>
              <a:t>H · B = 0   ⇒   B</a:t>
            </a:r>
            <a:r>
              <a:rPr lang="en-US" sz="2200" baseline="-40000" dirty="0">
                <a:solidFill>
                  <a:srgbClr val="14284B"/>
                </a:solidFill>
                <a:latin typeface="Cambria" pitchFamily="34" charset="0"/>
                <a:ea typeface="Cambria" pitchFamily="34" charset="-122"/>
                <a:cs typeface="Cambria" pitchFamily="34" charset="-120"/>
              </a:rPr>
              <a:t>F</a:t>
            </a:r>
            <a:r>
              <a:rPr lang="en-US" sz="2200" dirty="0">
                <a:solidFill>
                  <a:srgbClr val="14284B"/>
                </a:solidFill>
                <a:latin typeface="Cambria" pitchFamily="34" charset="0"/>
                <a:ea typeface="Cambria" pitchFamily="34" charset="-122"/>
                <a:cs typeface="Cambria" pitchFamily="34" charset="-120"/>
              </a:rPr>
              <a:t> = F</a:t>
            </a:r>
            <a:r>
              <a:rPr lang="en-US" sz="2200" baseline="30000" dirty="0">
                <a:solidFill>
                  <a:srgbClr val="14284B"/>
                </a:solidFill>
                <a:latin typeface="Cambria" pitchFamily="34" charset="0"/>
                <a:ea typeface="Cambria" pitchFamily="34" charset="-122"/>
                <a:cs typeface="Cambria" pitchFamily="34" charset="-120"/>
              </a:rPr>
              <a:t>−1</a:t>
            </a:r>
            <a:r>
              <a:rPr lang="en-US" sz="2200" dirty="0">
                <a:solidFill>
                  <a:srgbClr val="14284B"/>
                </a:solidFill>
                <a:latin typeface="Cambria" pitchFamily="34" charset="0"/>
                <a:ea typeface="Cambria" pitchFamily="34" charset="-122"/>
                <a:cs typeface="Cambria" pitchFamily="34" charset="-120"/>
              </a:rPr>
              <a:t> · S · B</a:t>
            </a:r>
            <a:r>
              <a:rPr lang="en-US" sz="2200" baseline="-40000" dirty="0">
                <a:solidFill>
                  <a:srgbClr val="14284B"/>
                </a:solidFill>
                <a:latin typeface="Cambria" pitchFamily="34" charset="0"/>
                <a:ea typeface="Cambria" pitchFamily="34" charset="-122"/>
                <a:cs typeface="Cambria" pitchFamily="34" charset="-120"/>
              </a:rPr>
              <a:t>S</a:t>
            </a:r>
            <a:endParaRPr lang="en-US" sz="2200" dirty="0"/>
          </a:p>
        </p:txBody>
      </p:sp>
      <p:sp>
        <p:nvSpPr>
          <p:cNvPr id="9" name="Text 6"/>
          <p:cNvSpPr txBox="1"/>
          <p:nvPr/>
        </p:nvSpPr>
        <p:spPr>
          <a:xfrm>
            <a:off x="548640" y="2560320"/>
            <a:ext cx="603504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Normal sequence (baseline)</a:t>
            </a:r>
            <a:endParaRPr lang="en-US" sz="1500" dirty="0"/>
          </a:p>
        </p:txBody>
      </p:sp>
      <p:sp>
        <p:nvSpPr>
          <p:cNvPr id="10" name="Text 7"/>
          <p:cNvSpPr txBox="1"/>
          <p:nvPr/>
        </p:nvSpPr>
        <p:spPr>
          <a:xfrm>
            <a:off x="731520" y="2926080"/>
            <a:ext cx="5852160" cy="868680"/>
          </a:xfrm>
          <a:prstGeom prst="rect">
            <a:avLst/>
          </a:prstGeom>
          <a:noFill/>
          <a:ln/>
        </p:spPr>
        <p:txBody>
          <a:bodyPr wrap="square" lIns="0" tIns="0" rIns="0" bIns="0" rtlCol="0" anchor="ctr"/>
          <a:lstStyle/>
          <a:p>
            <a:pPr indent="0" marL="0">
              <a:spcAft>
                <a:spcPts val="600"/>
              </a:spcAft>
              <a:buNone/>
            </a:pPr>
            <a:r>
              <a:rPr lang="en-US" sz="1800" dirty="0">
                <a:solidFill>
                  <a:srgbClr val="222222"/>
                </a:solidFill>
                <a:latin typeface="Cambria" pitchFamily="34" charset="0"/>
                <a:ea typeface="Cambria" pitchFamily="34" charset="-122"/>
                <a:cs typeface="Cambria" pitchFamily="34" charset="-120"/>
              </a:rPr>
              <a:t>T = S · B</a:t>
            </a:r>
            <a:r>
              <a:rPr lang="en-US" sz="1800" baseline="-40000" dirty="0">
                <a:solidFill>
                  <a:srgbClr val="222222"/>
                </a:solidFill>
                <a:latin typeface="Cambria" pitchFamily="34" charset="0"/>
                <a:ea typeface="Cambria" pitchFamily="34" charset="-122"/>
                <a:cs typeface="Cambria" pitchFamily="34" charset="-120"/>
              </a:rPr>
              <a:t>S</a:t>
            </a:r>
            <a:r>
              <a:rPr lang="en-US" sz="1800" dirty="0">
                <a:solidFill>
                  <a:srgbClr val="222222"/>
                </a:solidFill>
                <a:latin typeface="Cambria" pitchFamily="34" charset="0"/>
                <a:ea typeface="Cambria" pitchFamily="34" charset="-122"/>
                <a:cs typeface="Cambria" pitchFamily="34" charset="-120"/>
              </a:rPr>
              <a:t> ,    B</a:t>
            </a:r>
            <a:r>
              <a:rPr lang="en-US" sz="1800" baseline="-40000" dirty="0">
                <a:solidFill>
                  <a:srgbClr val="222222"/>
                </a:solidFill>
                <a:latin typeface="Cambria" pitchFamily="34" charset="0"/>
                <a:ea typeface="Cambria" pitchFamily="34" charset="-122"/>
                <a:cs typeface="Cambria" pitchFamily="34" charset="-120"/>
              </a:rPr>
              <a:t>F</a:t>
            </a:r>
            <a:r>
              <a:rPr lang="en-US" sz="1800" dirty="0">
                <a:solidFill>
                  <a:srgbClr val="222222"/>
                </a:solidFill>
                <a:latin typeface="Cambria" pitchFamily="34" charset="0"/>
                <a:ea typeface="Cambria" pitchFamily="34" charset="-122"/>
                <a:cs typeface="Cambria" pitchFamily="34" charset="-120"/>
              </a:rPr>
              <a:t> = F</a:t>
            </a:r>
            <a:r>
              <a:rPr lang="en-US" sz="1800" baseline="30000" dirty="0">
                <a:solidFill>
                  <a:srgbClr val="222222"/>
                </a:solidFill>
                <a:latin typeface="Cambria" pitchFamily="34" charset="0"/>
                <a:ea typeface="Cambria" pitchFamily="34" charset="-122"/>
                <a:cs typeface="Cambria" pitchFamily="34" charset="-120"/>
              </a:rPr>
              <a:t>−1</a:t>
            </a:r>
            <a:r>
              <a:rPr lang="en-US" sz="1800" dirty="0">
                <a:solidFill>
                  <a:srgbClr val="222222"/>
                </a:solidFill>
                <a:latin typeface="Cambria" pitchFamily="34" charset="0"/>
                <a:ea typeface="Cambria" pitchFamily="34" charset="-122"/>
                <a:cs typeface="Cambria" pitchFamily="34" charset="-120"/>
              </a:rPr>
              <a:t> · T</a:t>
            </a:r>
            <a:endParaRPr lang="en-US" sz="1800" dirty="0"/>
          </a:p>
          <a:p>
            <a:pPr indent="0" marL="0">
              <a:spcAft>
                <a:spcPts val="600"/>
              </a:spcAft>
              <a:buNone/>
            </a:pPr>
            <a:r>
              <a:rPr lang="en-US" sz="1800" dirty="0">
                <a:solidFill>
                  <a:srgbClr val="222222"/>
                </a:solidFill>
                <a:latin typeface="Cambria" pitchFamily="34" charset="0"/>
                <a:ea typeface="Cambria" pitchFamily="34" charset="-122"/>
                <a:cs typeface="Cambria" pitchFamily="34" charset="-120"/>
              </a:rPr>
              <a:t>C = u(S) + u(F</a:t>
            </a:r>
            <a:r>
              <a:rPr lang="en-US" sz="1800" baseline="30000" dirty="0">
                <a:solidFill>
                  <a:srgbClr val="222222"/>
                </a:solidFill>
                <a:latin typeface="Cambria" pitchFamily="34" charset="0"/>
                <a:ea typeface="Cambria" pitchFamily="34" charset="-122"/>
                <a:cs typeface="Cambria" pitchFamily="34" charset="-120"/>
              </a:rPr>
              <a:t>−1</a:t>
            </a:r>
            <a:r>
              <a:rPr lang="en-US" sz="1800" dirty="0">
                <a:solidFill>
                  <a:srgbClr val="222222"/>
                </a:solidFill>
                <a:latin typeface="Cambria" pitchFamily="34" charset="0"/>
                <a:ea typeface="Cambria" pitchFamily="34" charset="-122"/>
                <a:cs typeface="Cambria" pitchFamily="34" charset="-120"/>
              </a:rPr>
              <a:t>)</a:t>
            </a:r>
            <a:endParaRPr lang="en-US" sz="1800" dirty="0"/>
          </a:p>
        </p:txBody>
      </p:sp>
      <p:sp>
        <p:nvSpPr>
          <p:cNvPr id="11" name="Text 8"/>
          <p:cNvSpPr txBox="1"/>
          <p:nvPr/>
        </p:nvSpPr>
        <p:spPr>
          <a:xfrm>
            <a:off x="548640" y="3977640"/>
            <a:ext cx="6035040" cy="20116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14284B"/>
                </a:solidFill>
                <a:latin typeface="Calibri" pitchFamily="34" charset="0"/>
                <a:ea typeface="Calibri" pitchFamily="34" charset="-122"/>
                <a:cs typeface="Calibri" pitchFamily="34" charset="-120"/>
              </a:rPr>
              <a:t>C: </a:t>
            </a:r>
            <a:r>
              <a:rPr lang="en-US" sz="1400" dirty="0">
                <a:solidFill>
                  <a:srgbClr val="222222"/>
                </a:solidFill>
                <a:latin typeface="Calibri" pitchFamily="34" charset="0"/>
                <a:ea typeface="Calibri" pitchFamily="34" charset="-122"/>
                <a:cs typeface="Calibri" pitchFamily="34" charset="-120"/>
              </a:rPr>
              <a:t>number of whole-region mult_XORs() calls; u(M) = nonzero coefficients of M</a:t>
            </a:r>
            <a:endParaRPr lang="en-US" sz="1400" dirty="0"/>
          </a:p>
          <a:p>
            <a:pPr marL="177800" indent="-177800">
              <a:spcAft>
                <a:spcPts val="800"/>
              </a:spcAft>
              <a:buSzPct val="100000"/>
              <a:buChar char="•"/>
            </a:pPr>
            <a:r>
              <a:rPr lang="en-US" sz="1400" b="1" dirty="0">
                <a:solidFill>
                  <a:srgbClr val="14284B"/>
                </a:solidFill>
                <a:latin typeface="Calibri" pitchFamily="34" charset="0"/>
                <a:ea typeface="Calibri" pitchFamily="34" charset="-122"/>
                <a:cs typeface="Calibri" pitchFamily="34" charset="-120"/>
              </a:rPr>
              <a:t>Deliberately </a:t>
            </a:r>
            <a:r>
              <a:rPr lang="en-US" sz="1400" dirty="0">
                <a:solidFill>
                  <a:srgbClr val="222222"/>
                </a:solidFill>
                <a:latin typeface="Calibri" pitchFamily="34" charset="0"/>
                <a:ea typeface="Calibri" pitchFamily="34" charset="-122"/>
                <a:cs typeface="Calibri" pitchFamily="34" charset="-120"/>
              </a:rPr>
              <a:t>single-threaded, scalar, normal-sequence only</a:t>
            </a:r>
            <a:endParaRPr lang="en-US" sz="1400" dirty="0"/>
          </a:p>
          <a:p>
            <a:pPr marL="177800" indent="-177800">
              <a:spcAft>
                <a:spcPts val="800"/>
              </a:spcAft>
              <a:buSzPct val="100000"/>
              <a:buChar char="•"/>
            </a:pPr>
            <a:r>
              <a:rPr lang="en-US" sz="1400" b="1" dirty="0">
                <a:solidFill>
                  <a:srgbClr val="14284B"/>
                </a:solidFill>
                <a:latin typeface="Calibri" pitchFamily="34" charset="0"/>
                <a:ea typeface="Calibri" pitchFamily="34" charset="-122"/>
                <a:cs typeface="Calibri" pitchFamily="34" charset="-120"/>
              </a:rPr>
              <a:t>Kept unchanged </a:t>
            </a:r>
            <a:r>
              <a:rPr lang="en-US" sz="1400" dirty="0">
                <a:solidFill>
                  <a:srgbClr val="222222"/>
                </a:solidFill>
                <a:latin typeface="Calibri" pitchFamily="34" charset="0"/>
                <a:ea typeface="Calibri" pitchFamily="34" charset="-122"/>
                <a:cs typeface="Calibri" pitchFamily="34" charset="-120"/>
              </a:rPr>
              <a:t>in M2 as ec_recover() — the control implementation</a:t>
            </a:r>
            <a:endParaRPr lang="en-US" sz="1400" dirty="0"/>
          </a:p>
        </p:txBody>
      </p:sp>
      <p:sp>
        <p:nvSpPr>
          <p:cNvPr id="12" name="Shape 9"/>
          <p:cNvSpPr/>
          <p:nvPr/>
        </p:nvSpPr>
        <p:spPr>
          <a:xfrm>
            <a:off x="6949440" y="1417320"/>
            <a:ext cx="4690872" cy="1371600"/>
          </a:xfrm>
          <a:prstGeom prst="rect">
            <a:avLst/>
          </a:prstGeom>
          <a:solidFill>
            <a:srgbClr val="EEF2F8"/>
          </a:solidFill>
          <a:ln/>
        </p:spPr>
      </p:sp>
      <p:sp>
        <p:nvSpPr>
          <p:cNvPr id="13" name="Text 10"/>
          <p:cNvSpPr txBox="1"/>
          <p:nvPr/>
        </p:nvSpPr>
        <p:spPr>
          <a:xfrm>
            <a:off x="7178040" y="1554480"/>
            <a:ext cx="4233672" cy="548640"/>
          </a:xfrm>
          <a:prstGeom prst="rect">
            <a:avLst/>
          </a:prstGeom>
          <a:noFill/>
          <a:ln/>
        </p:spPr>
        <p:txBody>
          <a:bodyPr wrap="square" lIns="0" tIns="0" rIns="0" bIns="0" rtlCol="0" anchor="t"/>
          <a:lstStyle/>
          <a:p>
            <a:pPr indent="0" marL="0">
              <a:buNone/>
            </a:pPr>
            <a:r>
              <a:rPr lang="en-US" sz="2800" b="1" dirty="0">
                <a:solidFill>
                  <a:srgbClr val="14284B"/>
                </a:solidFill>
                <a:latin typeface="Calibri" pitchFamily="34" charset="0"/>
                <a:ea typeface="Calibri" pitchFamily="34" charset="-122"/>
                <a:cs typeface="Calibri" pitchFamily="34" charset="-120"/>
              </a:rPr>
              <a:t>7,833 / 7,833</a:t>
            </a:r>
            <a:endParaRPr lang="en-US" sz="2800" dirty="0"/>
          </a:p>
        </p:txBody>
      </p:sp>
      <p:sp>
        <p:nvSpPr>
          <p:cNvPr id="14" name="Text 11"/>
          <p:cNvSpPr txBox="1"/>
          <p:nvPr/>
        </p:nvSpPr>
        <p:spPr>
          <a:xfrm>
            <a:off x="7178040" y="2148840"/>
            <a:ext cx="4233672"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feasible (configuration, z) layouts recover, from 3,969 published SD configurations</a:t>
            </a:r>
            <a:endParaRPr lang="en-US" sz="1200" dirty="0"/>
          </a:p>
        </p:txBody>
      </p:sp>
      <p:sp>
        <p:nvSpPr>
          <p:cNvPr id="15" name="Shape 12"/>
          <p:cNvSpPr/>
          <p:nvPr/>
        </p:nvSpPr>
        <p:spPr>
          <a:xfrm>
            <a:off x="6949440" y="2990088"/>
            <a:ext cx="4690872" cy="1371600"/>
          </a:xfrm>
          <a:prstGeom prst="rect">
            <a:avLst/>
          </a:prstGeom>
          <a:solidFill>
            <a:srgbClr val="FFFFFF"/>
          </a:solidFill>
          <a:ln w="12700">
            <a:solidFill>
              <a:srgbClr val="2F6DB5"/>
            </a:solidFill>
            <a:prstDash val="solid"/>
          </a:ln>
        </p:spPr>
      </p:sp>
      <p:sp>
        <p:nvSpPr>
          <p:cNvPr id="16" name="Text 13"/>
          <p:cNvSpPr txBox="1"/>
          <p:nvPr/>
        </p:nvSpPr>
        <p:spPr>
          <a:xfrm>
            <a:off x="7178040" y="3127248"/>
            <a:ext cx="4233672" cy="548640"/>
          </a:xfrm>
          <a:prstGeom prst="rect">
            <a:avLst/>
          </a:prstGeom>
          <a:noFill/>
          <a:ln/>
        </p:spPr>
        <p:txBody>
          <a:bodyPr wrap="square" lIns="0" tIns="0" rIns="0" bIns="0" rtlCol="0" anchor="t"/>
          <a:lstStyle/>
          <a:p>
            <a:pPr indent="0" marL="0">
              <a:buNone/>
            </a:pPr>
            <a:r>
              <a:rPr lang="en-US" sz="2800" b="1" dirty="0">
                <a:solidFill>
                  <a:srgbClr val="2F6DB5"/>
                </a:solidFill>
                <a:latin typeface="Calibri" pitchFamily="34" charset="0"/>
                <a:ea typeface="Calibri" pitchFamily="34" charset="-122"/>
                <a:cs typeface="Calibri" pitchFamily="34" charset="-120"/>
              </a:rPr>
              <a:t>C = 35</a:t>
            </a:r>
            <a:endParaRPr lang="en-US" sz="2800" dirty="0"/>
          </a:p>
        </p:txBody>
      </p:sp>
      <p:sp>
        <p:nvSpPr>
          <p:cNvPr id="17" name="Text 14"/>
          <p:cNvSpPr txBox="1"/>
          <p:nvPr/>
        </p:nvSpPr>
        <p:spPr>
          <a:xfrm>
            <a:off x="7178040" y="3721608"/>
            <a:ext cx="4233672"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paper Fig. 2 example: u(S) = 22 + u(F⁻¹) = 13, equals closed form C₁</a:t>
            </a:r>
            <a:endParaRPr lang="en-US" sz="1200" dirty="0"/>
          </a:p>
        </p:txBody>
      </p:sp>
      <p:sp>
        <p:nvSpPr>
          <p:cNvPr id="18" name="Shape 15"/>
          <p:cNvSpPr/>
          <p:nvPr/>
        </p:nvSpPr>
        <p:spPr>
          <a:xfrm>
            <a:off x="6949440" y="4562856"/>
            <a:ext cx="4690872" cy="1371600"/>
          </a:xfrm>
          <a:prstGeom prst="rect">
            <a:avLst/>
          </a:prstGeom>
          <a:solidFill>
            <a:srgbClr val="EEF2F8"/>
          </a:solidFill>
          <a:ln/>
        </p:spPr>
      </p:sp>
      <p:sp>
        <p:nvSpPr>
          <p:cNvPr id="19" name="Text 16"/>
          <p:cNvSpPr txBox="1"/>
          <p:nvPr/>
        </p:nvSpPr>
        <p:spPr>
          <a:xfrm>
            <a:off x="7178040" y="4700016"/>
            <a:ext cx="4233672" cy="548640"/>
          </a:xfrm>
          <a:prstGeom prst="rect">
            <a:avLst/>
          </a:prstGeom>
          <a:noFill/>
          <a:ln/>
        </p:spPr>
        <p:txBody>
          <a:bodyPr wrap="square" lIns="0" tIns="0" rIns="0" bIns="0" rtlCol="0" anchor="t"/>
          <a:lstStyle/>
          <a:p>
            <a:pPr indent="0" marL="0">
              <a:buNone/>
            </a:pPr>
            <a:r>
              <a:rPr lang="en-US" sz="2800" b="1" dirty="0">
                <a:solidFill>
                  <a:srgbClr val="14284B"/>
                </a:solidFill>
                <a:latin typeface="Calibri" pitchFamily="34" charset="0"/>
                <a:ea typeface="Calibri" pitchFamily="34" charset="-122"/>
                <a:cs typeface="Calibri" pitchFamily="34" charset="-120"/>
              </a:rPr>
              <a:t>≈ 276 – 855 MiB/s</a:t>
            </a:r>
            <a:endParaRPr lang="en-US" sz="2800" dirty="0"/>
          </a:p>
        </p:txBody>
      </p:sp>
      <p:sp>
        <p:nvSpPr>
          <p:cNvPr id="20" name="Text 17"/>
          <p:cNvSpPr txBox="1"/>
          <p:nvPr/>
        </p:nvSpPr>
        <p:spPr>
          <a:xfrm>
            <a:off x="7178040" y="5294376"/>
            <a:ext cx="4233672"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scalar useful-data throughput, 32 MiB codeword (M1 report)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MILESTONE 2 · OBJECTIVE</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Objectives and Scope</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548640" y="1417320"/>
            <a:ext cx="5440680" cy="3429000"/>
          </a:xfrm>
          <a:prstGeom prst="rect">
            <a:avLst/>
          </a:prstGeom>
          <a:solidFill>
            <a:srgbClr val="EEF2F8"/>
          </a:solidFill>
          <a:ln/>
        </p:spPr>
      </p:sp>
      <p:sp>
        <p:nvSpPr>
          <p:cNvPr id="8" name="Text 5"/>
          <p:cNvSpPr txBox="1"/>
          <p:nvPr/>
        </p:nvSpPr>
        <p:spPr>
          <a:xfrm>
            <a:off x="731520" y="1554480"/>
            <a:ext cx="507492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Delivered in Milestone 2</a:t>
            </a:r>
            <a:endParaRPr lang="en-US" sz="1500" dirty="0"/>
          </a:p>
        </p:txBody>
      </p:sp>
      <p:sp>
        <p:nvSpPr>
          <p:cNvPr id="9" name="Text 6"/>
          <p:cNvSpPr txBox="1"/>
          <p:nvPr/>
        </p:nvSpPr>
        <p:spPr>
          <a:xfrm>
            <a:off x="731520" y="1874520"/>
            <a:ext cx="5074920" cy="306324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222222"/>
                </a:solidFill>
                <a:latin typeface="Calibri" pitchFamily="34" charset="0"/>
                <a:ea typeface="Calibri" pitchFamily="34" charset="-122"/>
                <a:cs typeface="Calibri" pitchFamily="34" charset="-120"/>
              </a:rPr>
              <a:t>SD partition into independent submatrices H_i + dependent remainder H_rest</a:t>
            </a:r>
            <a:endParaRPr lang="en-US" sz="1350" dirty="0"/>
          </a:p>
          <a:p>
            <a:pPr marL="177800" indent="-177800">
              <a:spcAft>
                <a:spcPts val="400"/>
              </a:spcAft>
              <a:buSzPct val="100000"/>
              <a:buChar char="•"/>
            </a:pPr>
            <a:r>
              <a:rPr lang="en-US" sz="1350" dirty="0">
                <a:solidFill>
                  <a:srgbClr val="222222"/>
                </a:solidFill>
                <a:latin typeface="Calibri" pitchFamily="34" charset="0"/>
                <a:ea typeface="Calibri" pitchFamily="34" charset="-122"/>
                <a:cs typeface="Calibri" pitchFamily="34" charset="-120"/>
              </a:rPr>
              <a:t>Fixed matrix_first decoding for every H_i</a:t>
            </a:r>
            <a:endParaRPr lang="en-US" sz="1350" dirty="0"/>
          </a:p>
          <a:p>
            <a:pPr marL="177800" indent="-177800">
              <a:spcAft>
                <a:spcPts val="400"/>
              </a:spcAft>
              <a:buSzPct val="100000"/>
              <a:buChar char="•"/>
            </a:pPr>
            <a:r>
              <a:rPr lang="en-US" sz="1350" dirty="0">
                <a:solidFill>
                  <a:srgbClr val="222222"/>
                </a:solidFill>
                <a:latin typeface="Calibri" pitchFamily="34" charset="0"/>
                <a:ea typeface="Calibri" pitchFamily="34" charset="-122"/>
                <a:cs typeface="Calibri" pitchFamily="34" charset="-120"/>
              </a:rPr>
              <a:t>Normal-sequence decoding for H_rest</a:t>
            </a:r>
            <a:endParaRPr lang="en-US" sz="1350" dirty="0"/>
          </a:p>
          <a:p>
            <a:pPr marL="177800" indent="-177800">
              <a:spcAft>
                <a:spcPts val="400"/>
              </a:spcAft>
              <a:buSzPct val="100000"/>
              <a:buChar char="•"/>
            </a:pPr>
            <a:r>
              <a:rPr lang="en-US" sz="1350" dirty="0">
                <a:solidFill>
                  <a:srgbClr val="222222"/>
                </a:solidFill>
                <a:latin typeface="Calibri" pitchFamily="34" charset="0"/>
                <a:ea typeface="Calibri" pitchFamily="34" charset="-122"/>
                <a:cs typeface="Calibri" pitchFamily="34" charset="-120"/>
              </a:rPr>
              <a:t>OpenMP recovery of independent H_i, with barrier</a:t>
            </a:r>
            <a:endParaRPr lang="en-US" sz="1350" dirty="0"/>
          </a:p>
          <a:p>
            <a:pPr marL="177800" indent="-177800">
              <a:spcAft>
                <a:spcPts val="400"/>
              </a:spcAft>
              <a:buSzPct val="100000"/>
              <a:buChar char="•"/>
            </a:pPr>
            <a:r>
              <a:rPr lang="en-US" sz="1350" dirty="0">
                <a:solidFill>
                  <a:srgbClr val="222222"/>
                </a:solidFill>
                <a:latin typeface="Calibri" pitchFamily="34" charset="0"/>
                <a:ea typeface="Calibri" pitchFamily="34" charset="-122"/>
                <a:cs typeface="Calibri" pitchFamily="34" charset="-120"/>
              </a:rPr>
              <a:t>Thread-local operation counting</a:t>
            </a:r>
            <a:endParaRPr lang="en-US" sz="1350" dirty="0"/>
          </a:p>
          <a:p>
            <a:pPr marL="177800" indent="-177800">
              <a:spcAft>
                <a:spcPts val="400"/>
              </a:spcAft>
              <a:buSzPct val="100000"/>
              <a:buChar char="•"/>
            </a:pPr>
            <a:r>
              <a:rPr lang="en-US" sz="1350" dirty="0">
                <a:solidFill>
                  <a:srgbClr val="222222"/>
                </a:solidFill>
                <a:latin typeface="Calibri" pitchFamily="34" charset="0"/>
                <a:ea typeface="Calibri" pitchFamily="34" charset="-122"/>
                <a:cs typeface="Calibri" pitchFamily="34" charset="-120"/>
              </a:rPr>
              <a:t>Full-grid correctness at T = 1 and T = 4</a:t>
            </a:r>
            <a:endParaRPr lang="en-US" sz="1350" dirty="0"/>
          </a:p>
          <a:p>
            <a:pPr marL="177800" indent="-177800">
              <a:spcAft>
                <a:spcPts val="400"/>
              </a:spcAft>
              <a:buSzPct val="100000"/>
              <a:buChar char="•"/>
            </a:pPr>
            <a:r>
              <a:rPr lang="en-US" sz="1350" dirty="0">
                <a:solidFill>
                  <a:srgbClr val="222222"/>
                </a:solidFill>
                <a:latin typeface="Calibri" pitchFamily="34" charset="0"/>
                <a:ea typeface="Calibri" pitchFamily="34" charset="-122"/>
                <a:cs typeface="Calibri" pitchFamily="34" charset="-120"/>
              </a:rPr>
              <a:t>Figure 3 reproduced: C = 35 → 29</a:t>
            </a:r>
            <a:endParaRPr lang="en-US" sz="1350" dirty="0"/>
          </a:p>
          <a:p>
            <a:pPr marL="177800" indent="-177800">
              <a:spcAft>
                <a:spcPts val="400"/>
              </a:spcAft>
              <a:buSzPct val="100000"/>
              <a:buChar char="•"/>
            </a:pPr>
            <a:r>
              <a:rPr lang="en-US" sz="1350" dirty="0">
                <a:solidFill>
                  <a:srgbClr val="222222"/>
                </a:solidFill>
                <a:latin typeface="Calibri" pitchFamily="34" charset="0"/>
                <a:ea typeface="Calibri" pitchFamily="34" charset="-122"/>
                <a:cs typeface="Calibri" pitchFamily="34" charset="-120"/>
              </a:rPr>
              <a:t>Baseline vs PPM scaling at T = 1, 2, 4, 8</a:t>
            </a:r>
            <a:endParaRPr lang="en-US" sz="1350" dirty="0"/>
          </a:p>
        </p:txBody>
      </p:sp>
      <p:sp>
        <p:nvSpPr>
          <p:cNvPr id="10" name="Shape 7"/>
          <p:cNvSpPr/>
          <p:nvPr/>
        </p:nvSpPr>
        <p:spPr>
          <a:xfrm>
            <a:off x="6199632" y="1417320"/>
            <a:ext cx="5440680" cy="3429000"/>
          </a:xfrm>
          <a:prstGeom prst="rect">
            <a:avLst/>
          </a:prstGeom>
          <a:solidFill>
            <a:srgbClr val="F6F7F9"/>
          </a:solidFill>
          <a:ln/>
        </p:spPr>
      </p:sp>
      <p:sp>
        <p:nvSpPr>
          <p:cNvPr id="11" name="Text 8"/>
          <p:cNvSpPr txBox="1"/>
          <p:nvPr/>
        </p:nvSpPr>
        <p:spPr>
          <a:xfrm>
            <a:off x="6382512" y="1554480"/>
            <a:ext cx="5074920" cy="320040"/>
          </a:xfrm>
          <a:prstGeom prst="rect">
            <a:avLst/>
          </a:prstGeom>
          <a:noFill/>
          <a:ln/>
        </p:spPr>
        <p:txBody>
          <a:bodyPr wrap="square" lIns="0" tIns="0" rIns="0" bIns="0" rtlCol="0" anchor="t"/>
          <a:lstStyle/>
          <a:p>
            <a:pPr indent="0" marL="0">
              <a:buNone/>
            </a:pPr>
            <a:r>
              <a:rPr lang="en-US" sz="1500" b="1" dirty="0">
                <a:solidFill>
                  <a:srgbClr val="5F6B7A"/>
                </a:solidFill>
                <a:latin typeface="Calibri" pitchFamily="34" charset="0"/>
                <a:ea typeface="Calibri" pitchFamily="34" charset="-122"/>
                <a:cs typeface="Calibri" pitchFamily="34" charset="-120"/>
              </a:rPr>
              <a:t>Deferred to Milestone 3 and later</a:t>
            </a:r>
            <a:endParaRPr lang="en-US" sz="1500" dirty="0"/>
          </a:p>
        </p:txBody>
      </p:sp>
      <p:sp>
        <p:nvSpPr>
          <p:cNvPr id="12" name="Text 9"/>
          <p:cNvSpPr txBox="1"/>
          <p:nvPr/>
        </p:nvSpPr>
        <p:spPr>
          <a:xfrm>
            <a:off x="6382512" y="1874520"/>
            <a:ext cx="5074920" cy="306324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5F6B7A"/>
                </a:solidFill>
                <a:latin typeface="Calibri" pitchFamily="34" charset="0"/>
                <a:ea typeface="Calibri" pitchFamily="34" charset="-122"/>
                <a:cs typeface="Calibri" pitchFamily="34" charset="-120"/>
              </a:rPr>
              <a:t>Dynamic normal vs matrix_first selection</a:t>
            </a:r>
            <a:endParaRPr lang="en-US" sz="1350" dirty="0"/>
          </a:p>
          <a:p>
            <a:pPr marL="177800" indent="-177800">
              <a:spcAft>
                <a:spcPts val="400"/>
              </a:spcAft>
              <a:buSzPct val="100000"/>
              <a:buChar char="•"/>
            </a:pPr>
            <a:r>
              <a:rPr lang="en-US" sz="1350" dirty="0">
                <a:solidFill>
                  <a:srgbClr val="5F6B7A"/>
                </a:solidFill>
                <a:latin typeface="Calibri" pitchFamily="34" charset="0"/>
                <a:ea typeface="Calibri" pitchFamily="34" charset="-122"/>
                <a:cs typeface="Calibri" pitchFamily="34" charset="-120"/>
              </a:rPr>
              <a:t>Refined cost model C = u + c·v</a:t>
            </a:r>
            <a:endParaRPr lang="en-US" sz="1350" dirty="0"/>
          </a:p>
          <a:p>
            <a:pPr marL="177800" indent="-177800">
              <a:spcAft>
                <a:spcPts val="400"/>
              </a:spcAft>
              <a:buSzPct val="100000"/>
              <a:buChar char="•"/>
            </a:pPr>
            <a:r>
              <a:rPr lang="en-US" sz="1350" dirty="0">
                <a:solidFill>
                  <a:srgbClr val="5F6B7A"/>
                </a:solidFill>
                <a:latin typeface="Calibri" pitchFamily="34" charset="0"/>
                <a:ea typeface="Calibri" pitchFamily="34" charset="-122"/>
                <a:cs typeface="Calibri" pitchFamily="34" charset="-120"/>
              </a:rPr>
              <a:t>Generalised PPM for symmetric codes (e.g. RS)</a:t>
            </a:r>
            <a:endParaRPr lang="en-US" sz="1350" dirty="0"/>
          </a:p>
          <a:p>
            <a:pPr marL="177800" indent="-177800">
              <a:spcAft>
                <a:spcPts val="400"/>
              </a:spcAft>
              <a:buSzPct val="100000"/>
              <a:buChar char="•"/>
            </a:pPr>
            <a:r>
              <a:rPr lang="en-US" sz="1350" dirty="0">
                <a:solidFill>
                  <a:srgbClr val="5F6B7A"/>
                </a:solidFill>
                <a:latin typeface="Calibri" pitchFamily="34" charset="0"/>
                <a:ea typeface="Calibri" pitchFamily="34" charset="-122"/>
                <a:cs typeface="Calibri" pitchFamily="34" charset="-120"/>
              </a:rPr>
              <a:t>SIMD / SSE / AVX region arithmetic</a:t>
            </a:r>
            <a:endParaRPr lang="en-US" sz="1350" dirty="0"/>
          </a:p>
          <a:p>
            <a:pPr marL="177800" indent="-177800">
              <a:spcAft>
                <a:spcPts val="400"/>
              </a:spcAft>
              <a:buSzPct val="100000"/>
              <a:buChar char="•"/>
            </a:pPr>
            <a:r>
              <a:rPr lang="en-US" sz="1350" dirty="0">
                <a:solidFill>
                  <a:srgbClr val="5F6B7A"/>
                </a:solidFill>
                <a:latin typeface="Calibri" pitchFamily="34" charset="0"/>
                <a:ea typeface="Calibri" pitchFamily="34" charset="-122"/>
                <a:cs typeface="Calibri" pitchFamily="34" charset="-120"/>
              </a:rPr>
              <a:t>CUDA or MPI implementations</a:t>
            </a:r>
            <a:endParaRPr lang="en-US" sz="1350" dirty="0"/>
          </a:p>
          <a:p>
            <a:pPr marL="177800" indent="-177800">
              <a:spcAft>
                <a:spcPts val="400"/>
              </a:spcAft>
              <a:buSzPct val="100000"/>
              <a:buChar char="•"/>
            </a:pPr>
            <a:r>
              <a:rPr lang="en-US" sz="1350" dirty="0">
                <a:solidFill>
                  <a:srgbClr val="5F6B7A"/>
                </a:solidFill>
                <a:latin typeface="Calibri" pitchFamily="34" charset="0"/>
                <a:ea typeface="Calibri" pitchFamily="34" charset="-122"/>
                <a:cs typeface="Calibri" pitchFamily="34" charset="-120"/>
              </a:rPr>
              <a:t>Exhaustive failure-placement enumeration</a:t>
            </a:r>
            <a:endParaRPr lang="en-US" sz="1350" dirty="0"/>
          </a:p>
        </p:txBody>
      </p:sp>
      <p:sp>
        <p:nvSpPr>
          <p:cNvPr id="13" name="Shape 10"/>
          <p:cNvSpPr/>
          <p:nvPr/>
        </p:nvSpPr>
        <p:spPr>
          <a:xfrm>
            <a:off x="548640" y="5029200"/>
            <a:ext cx="11091672" cy="960120"/>
          </a:xfrm>
          <a:prstGeom prst="rect">
            <a:avLst/>
          </a:prstGeom>
          <a:solidFill>
            <a:srgbClr val="FFFFFF"/>
          </a:solidFill>
          <a:ln w="12700">
            <a:solidFill>
              <a:srgbClr val="2F6DB5"/>
            </a:solidFill>
            <a:prstDash val="solid"/>
          </a:ln>
        </p:spPr>
      </p:sp>
      <p:sp>
        <p:nvSpPr>
          <p:cNvPr id="14" name="Text 11"/>
          <p:cNvSpPr txBox="1"/>
          <p:nvPr/>
        </p:nvSpPr>
        <p:spPr>
          <a:xfrm>
            <a:off x="777240" y="5029200"/>
            <a:ext cx="10634472" cy="960120"/>
          </a:xfrm>
          <a:prstGeom prst="rect">
            <a:avLst/>
          </a:prstGeom>
          <a:noFill/>
          <a:ln/>
        </p:spPr>
        <p:txBody>
          <a:bodyPr wrap="square" lIns="0" tIns="0" rIns="0" bIns="0" rtlCol="0" anchor="ctr"/>
          <a:lstStyle/>
          <a:p>
            <a:pPr indent="0" marL="0">
              <a:buNone/>
            </a:pPr>
            <a:r>
              <a:rPr lang="en-US" sz="1400" b="1" dirty="0">
                <a:solidFill>
                  <a:srgbClr val="2F6DB5"/>
                </a:solidFill>
                <a:latin typeface="Calibri" pitchFamily="34" charset="0"/>
                <a:ea typeface="Calibri" pitchFamily="34" charset="-122"/>
                <a:cs typeface="Calibri" pitchFamily="34" charset="-120"/>
              </a:rPr>
              <a:t>Research question  </a:t>
            </a:r>
            <a:r>
              <a:rPr lang="en-US" sz="1400" dirty="0">
                <a:solidFill>
                  <a:srgbClr val="222222"/>
                </a:solidFill>
                <a:latin typeface="Calibri" pitchFamily="34" charset="0"/>
                <a:ea typeface="Calibri" pitchFamily="34" charset="-122"/>
                <a:cs typeface="Calibri" pitchFamily="34" charset="-120"/>
              </a:rPr>
              <a:t>Can the same data be recovered correctly while performing fewer whole-region operations and executing independent work on multiple CPU cores?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THEORY · INSIGHT 1</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Multiplication Order Changes the Work</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548640" y="1417320"/>
            <a:ext cx="11091672" cy="868680"/>
          </a:xfrm>
          <a:prstGeom prst="rect">
            <a:avLst/>
          </a:prstGeom>
          <a:solidFill>
            <a:srgbClr val="EEF2F8"/>
          </a:solidFill>
          <a:ln/>
        </p:spPr>
      </p:sp>
      <p:sp>
        <p:nvSpPr>
          <p:cNvPr id="8" name="Text 5"/>
          <p:cNvSpPr txBox="1"/>
          <p:nvPr/>
        </p:nvSpPr>
        <p:spPr>
          <a:xfrm>
            <a:off x="548640" y="1417320"/>
            <a:ext cx="11091672" cy="868680"/>
          </a:xfrm>
          <a:prstGeom prst="rect">
            <a:avLst/>
          </a:prstGeom>
          <a:noFill/>
          <a:ln/>
        </p:spPr>
        <p:txBody>
          <a:bodyPr wrap="square" lIns="0" tIns="0" rIns="0" bIns="0" rtlCol="0" anchor="ctr"/>
          <a:lstStyle/>
          <a:p>
            <a:pPr algn="ctr" indent="0" marL="0">
              <a:buNone/>
            </a:pPr>
            <a:r>
              <a:rPr lang="en-US" sz="2400" dirty="0">
                <a:solidFill>
                  <a:srgbClr val="14284B"/>
                </a:solidFill>
                <a:latin typeface="Cambria" pitchFamily="34" charset="0"/>
                <a:ea typeface="Cambria" pitchFamily="34" charset="-122"/>
                <a:cs typeface="Cambria" pitchFamily="34" charset="-120"/>
              </a:rPr>
              <a:t>F</a:t>
            </a:r>
            <a:r>
              <a:rPr lang="en-US" sz="2400" baseline="30000" dirty="0">
                <a:solidFill>
                  <a:srgbClr val="14284B"/>
                </a:solidFill>
                <a:latin typeface="Cambria" pitchFamily="34" charset="0"/>
                <a:ea typeface="Cambria" pitchFamily="34" charset="-122"/>
                <a:cs typeface="Cambria" pitchFamily="34" charset="-120"/>
              </a:rPr>
              <a:t>−1</a:t>
            </a:r>
            <a:r>
              <a:rPr lang="en-US" sz="2400" dirty="0">
                <a:solidFill>
                  <a:srgbClr val="14284B"/>
                </a:solidFill>
                <a:latin typeface="Cambria" pitchFamily="34" charset="0"/>
                <a:ea typeface="Cambria" pitchFamily="34" charset="-122"/>
                <a:cs typeface="Cambria" pitchFamily="34" charset="-120"/>
              </a:rPr>
              <a:t> · (S · B</a:t>
            </a:r>
            <a:r>
              <a:rPr lang="en-US" sz="2400" baseline="-40000" dirty="0">
                <a:solidFill>
                  <a:srgbClr val="14284B"/>
                </a:solidFill>
                <a:latin typeface="Cambria" pitchFamily="34" charset="0"/>
                <a:ea typeface="Cambria" pitchFamily="34" charset="-122"/>
                <a:cs typeface="Cambria" pitchFamily="34" charset="-120"/>
              </a:rPr>
              <a:t>S</a:t>
            </a:r>
            <a:r>
              <a:rPr lang="en-US" sz="2400" dirty="0">
                <a:solidFill>
                  <a:srgbClr val="14284B"/>
                </a:solidFill>
                <a:latin typeface="Cambria" pitchFamily="34" charset="0"/>
                <a:ea typeface="Cambria" pitchFamily="34" charset="-122"/>
                <a:cs typeface="Cambria" pitchFamily="34" charset="-120"/>
              </a:rPr>
              <a:t>)   =   (F</a:t>
            </a:r>
            <a:r>
              <a:rPr lang="en-US" sz="2400" baseline="30000" dirty="0">
                <a:solidFill>
                  <a:srgbClr val="14284B"/>
                </a:solidFill>
                <a:latin typeface="Cambria" pitchFamily="34" charset="0"/>
                <a:ea typeface="Cambria" pitchFamily="34" charset="-122"/>
                <a:cs typeface="Cambria" pitchFamily="34" charset="-120"/>
              </a:rPr>
              <a:t>−1</a:t>
            </a:r>
            <a:r>
              <a:rPr lang="en-US" sz="2400" dirty="0">
                <a:solidFill>
                  <a:srgbClr val="14284B"/>
                </a:solidFill>
                <a:latin typeface="Cambria" pitchFamily="34" charset="0"/>
                <a:ea typeface="Cambria" pitchFamily="34" charset="-122"/>
                <a:cs typeface="Cambria" pitchFamily="34" charset="-120"/>
              </a:rPr>
              <a:t> · S) · B</a:t>
            </a:r>
            <a:r>
              <a:rPr lang="en-US" sz="2400" baseline="-40000" dirty="0">
                <a:solidFill>
                  <a:srgbClr val="14284B"/>
                </a:solidFill>
                <a:latin typeface="Cambria" pitchFamily="34" charset="0"/>
                <a:ea typeface="Cambria" pitchFamily="34" charset="-122"/>
                <a:cs typeface="Cambria" pitchFamily="34" charset="-120"/>
              </a:rPr>
              <a:t>S</a:t>
            </a:r>
            <a:endParaRPr lang="en-US" sz="2400" dirty="0"/>
          </a:p>
        </p:txBody>
      </p:sp>
      <p:sp>
        <p:nvSpPr>
          <p:cNvPr id="9" name="Text 6"/>
          <p:cNvSpPr txBox="1"/>
          <p:nvPr/>
        </p:nvSpPr>
        <p:spPr>
          <a:xfrm>
            <a:off x="548640" y="2331720"/>
            <a:ext cx="11091672" cy="274320"/>
          </a:xfrm>
          <a:prstGeom prst="rect">
            <a:avLst/>
          </a:prstGeom>
          <a:noFill/>
          <a:ln/>
        </p:spPr>
        <p:txBody>
          <a:bodyPr wrap="square" lIns="0" tIns="0" rIns="0" bIns="0" rtlCol="0" anchor="t"/>
          <a:lstStyle/>
          <a:p>
            <a:pPr algn="ctr" indent="0" marL="0">
              <a:buNone/>
            </a:pPr>
            <a:r>
              <a:rPr lang="en-US" sz="1200" i="1" dirty="0">
                <a:solidFill>
                  <a:srgbClr val="5F6B7A"/>
                </a:solidFill>
                <a:latin typeface="Calibri" pitchFamily="34" charset="0"/>
                <a:ea typeface="Calibri" pitchFamily="34" charset="-122"/>
                <a:cs typeface="Calibri" pitchFamily="34" charset="-120"/>
              </a:rPr>
              <a:t>associativity: same linear map, different number of region operations</a:t>
            </a:r>
            <a:endParaRPr lang="en-US" sz="1200" dirty="0"/>
          </a:p>
        </p:txBody>
      </p:sp>
      <p:sp>
        <p:nvSpPr>
          <p:cNvPr id="10" name="Shape 7"/>
          <p:cNvSpPr/>
          <p:nvPr/>
        </p:nvSpPr>
        <p:spPr>
          <a:xfrm>
            <a:off x="548640" y="2788920"/>
            <a:ext cx="5440680" cy="2240280"/>
          </a:xfrm>
          <a:prstGeom prst="rect">
            <a:avLst/>
          </a:prstGeom>
          <a:solidFill>
            <a:srgbClr val="FFFFFF"/>
          </a:solidFill>
          <a:ln w="12700">
            <a:solidFill>
              <a:srgbClr val="14284B"/>
            </a:solidFill>
            <a:prstDash val="solid"/>
          </a:ln>
        </p:spPr>
      </p:sp>
      <p:sp>
        <p:nvSpPr>
          <p:cNvPr id="11" name="Text 8"/>
          <p:cNvSpPr txBox="1"/>
          <p:nvPr/>
        </p:nvSpPr>
        <p:spPr>
          <a:xfrm>
            <a:off x="777240" y="2926080"/>
            <a:ext cx="3657600" cy="320040"/>
          </a:xfrm>
          <a:prstGeom prst="rect">
            <a:avLst/>
          </a:prstGeom>
          <a:noFill/>
          <a:ln/>
        </p:spPr>
        <p:txBody>
          <a:bodyPr wrap="square" lIns="0" tIns="0" rIns="0" bIns="0" rtlCol="0" anchor="t"/>
          <a:lstStyle/>
          <a:p>
            <a:pPr indent="0" marL="0">
              <a:buNone/>
            </a:pPr>
            <a:r>
              <a:rPr lang="en-US" sz="1600" b="1" dirty="0">
                <a:solidFill>
                  <a:srgbClr val="14284B"/>
                </a:solidFill>
                <a:latin typeface="Calibri" pitchFamily="34" charset="0"/>
                <a:ea typeface="Calibri" pitchFamily="34" charset="-122"/>
                <a:cs typeface="Calibri" pitchFamily="34" charset="-120"/>
              </a:rPr>
              <a:t>Normal</a:t>
            </a:r>
            <a:endParaRPr lang="en-US" sz="1600" dirty="0"/>
          </a:p>
        </p:txBody>
      </p:sp>
      <p:sp>
        <p:nvSpPr>
          <p:cNvPr id="12" name="Text 9"/>
          <p:cNvSpPr txBox="1"/>
          <p:nvPr/>
        </p:nvSpPr>
        <p:spPr>
          <a:xfrm>
            <a:off x="777240" y="3246120"/>
            <a:ext cx="4572000" cy="27432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baseline · PPM remainder H_rest</a:t>
            </a:r>
            <a:endParaRPr lang="en-US" sz="1100" dirty="0"/>
          </a:p>
        </p:txBody>
      </p:sp>
      <p:sp>
        <p:nvSpPr>
          <p:cNvPr id="13" name="Text 10"/>
          <p:cNvSpPr txBox="1"/>
          <p:nvPr/>
        </p:nvSpPr>
        <p:spPr>
          <a:xfrm>
            <a:off x="914400" y="3611880"/>
            <a:ext cx="4572000" cy="777240"/>
          </a:xfrm>
          <a:prstGeom prst="rect">
            <a:avLst/>
          </a:prstGeom>
          <a:noFill/>
          <a:ln/>
        </p:spPr>
        <p:txBody>
          <a:bodyPr wrap="square" lIns="0" tIns="0" rIns="0" bIns="0" rtlCol="0" anchor="ctr"/>
          <a:lstStyle/>
          <a:p>
            <a:pPr indent="0" marL="0">
              <a:spcAft>
                <a:spcPts val="200"/>
              </a:spcAft>
              <a:buNone/>
            </a:pPr>
            <a:r>
              <a:rPr lang="en-US" sz="1800" dirty="0">
                <a:solidFill>
                  <a:srgbClr val="14284B"/>
                </a:solidFill>
                <a:latin typeface="Cambria" pitchFamily="34" charset="0"/>
                <a:ea typeface="Cambria" pitchFamily="34" charset="-122"/>
                <a:cs typeface="Cambria" pitchFamily="34" charset="-120"/>
              </a:rPr>
              <a:t>T = S · B</a:t>
            </a:r>
            <a:r>
              <a:rPr lang="en-US" sz="1800" baseline="-40000" dirty="0">
                <a:solidFill>
                  <a:srgbClr val="14284B"/>
                </a:solidFill>
                <a:latin typeface="Cambria" pitchFamily="34" charset="0"/>
                <a:ea typeface="Cambria" pitchFamily="34" charset="-122"/>
                <a:cs typeface="Cambria" pitchFamily="34" charset="-120"/>
              </a:rPr>
              <a:t>S</a:t>
            </a:r>
            <a:endParaRPr lang="en-US" sz="1800" dirty="0"/>
          </a:p>
          <a:p>
            <a:pPr indent="0" marL="0">
              <a:spcAft>
                <a:spcPts val="200"/>
              </a:spcAft>
              <a:buNone/>
            </a:pPr>
            <a:r>
              <a:rPr lang="en-US" sz="1800" dirty="0">
                <a:solidFill>
                  <a:srgbClr val="14284B"/>
                </a:solidFill>
                <a:latin typeface="Cambria" pitchFamily="34" charset="0"/>
                <a:ea typeface="Cambria" pitchFamily="34" charset="-122"/>
                <a:cs typeface="Cambria" pitchFamily="34" charset="-120"/>
              </a:rPr>
              <a:t>B</a:t>
            </a:r>
            <a:r>
              <a:rPr lang="en-US" sz="1800" baseline="-40000" dirty="0">
                <a:solidFill>
                  <a:srgbClr val="14284B"/>
                </a:solidFill>
                <a:latin typeface="Cambria" pitchFamily="34" charset="0"/>
                <a:ea typeface="Cambria" pitchFamily="34" charset="-122"/>
                <a:cs typeface="Cambria" pitchFamily="34" charset="-120"/>
              </a:rPr>
              <a:t>F</a:t>
            </a:r>
            <a:r>
              <a:rPr lang="en-US" sz="1800" dirty="0">
                <a:solidFill>
                  <a:srgbClr val="14284B"/>
                </a:solidFill>
                <a:latin typeface="Cambria" pitchFamily="34" charset="0"/>
                <a:ea typeface="Cambria" pitchFamily="34" charset="-122"/>
                <a:cs typeface="Cambria" pitchFamily="34" charset="-120"/>
              </a:rPr>
              <a:t> = F</a:t>
            </a:r>
            <a:r>
              <a:rPr lang="en-US" sz="1800" baseline="30000" dirty="0">
                <a:solidFill>
                  <a:srgbClr val="14284B"/>
                </a:solidFill>
                <a:latin typeface="Cambria" pitchFamily="34" charset="0"/>
                <a:ea typeface="Cambria" pitchFamily="34" charset="-122"/>
                <a:cs typeface="Cambria" pitchFamily="34" charset="-120"/>
              </a:rPr>
              <a:t>−1</a:t>
            </a:r>
            <a:r>
              <a:rPr lang="en-US" sz="1800" dirty="0">
                <a:solidFill>
                  <a:srgbClr val="14284B"/>
                </a:solidFill>
                <a:latin typeface="Cambria" pitchFamily="34" charset="0"/>
                <a:ea typeface="Cambria" pitchFamily="34" charset="-122"/>
                <a:cs typeface="Cambria" pitchFamily="34" charset="-120"/>
              </a:rPr>
              <a:t> · T</a:t>
            </a:r>
            <a:endParaRPr lang="en-US" sz="1800" dirty="0"/>
          </a:p>
        </p:txBody>
      </p:sp>
      <p:sp>
        <p:nvSpPr>
          <p:cNvPr id="14" name="Text 11"/>
          <p:cNvSpPr txBox="1"/>
          <p:nvPr/>
        </p:nvSpPr>
        <p:spPr>
          <a:xfrm>
            <a:off x="777240" y="4526280"/>
            <a:ext cx="5029200" cy="320040"/>
          </a:xfrm>
          <a:prstGeom prst="rect">
            <a:avLst/>
          </a:prstGeom>
          <a:noFill/>
          <a:ln/>
        </p:spPr>
        <p:txBody>
          <a:bodyPr wrap="square" lIns="0" tIns="0" rIns="0" bIns="0" rtlCol="0" anchor="ctr"/>
          <a:lstStyle/>
          <a:p>
            <a:pPr indent="0" marL="0">
              <a:buNone/>
            </a:pPr>
            <a:r>
              <a:rPr lang="en-US" sz="1300" dirty="0">
                <a:solidFill>
                  <a:srgbClr val="000000"/>
                </a:solidFill>
                <a:latin typeface="Calibri" pitchFamily="34" charset="0"/>
                <a:ea typeface="Calibri" pitchFamily="34" charset="-122"/>
                <a:cs typeface="Calibri" pitchFamily="34" charset="-120"/>
              </a:rPr>
              <a:t>Region operations:  </a:t>
            </a:r>
            <a:r>
              <a:rPr lang="en-US" sz="1500" b="1" dirty="0">
                <a:solidFill>
                  <a:srgbClr val="2F6DB5"/>
                </a:solidFill>
                <a:latin typeface="Cambria" pitchFamily="34" charset="0"/>
                <a:ea typeface="Cambria" pitchFamily="34" charset="-122"/>
                <a:cs typeface="Cambria" pitchFamily="34" charset="-120"/>
              </a:rPr>
              <a:t>u(S) + u(F</a:t>
            </a:r>
            <a:r>
              <a:rPr lang="en-US" sz="1500" b="1" baseline="30000" dirty="0">
                <a:solidFill>
                  <a:srgbClr val="2F6DB5"/>
                </a:solidFill>
                <a:latin typeface="Cambria" pitchFamily="34" charset="0"/>
                <a:ea typeface="Cambria" pitchFamily="34" charset="-122"/>
                <a:cs typeface="Cambria" pitchFamily="34" charset="-120"/>
              </a:rPr>
              <a:t>−1</a:t>
            </a:r>
            <a:r>
              <a:rPr lang="en-US" sz="1500" b="1" dirty="0">
                <a:solidFill>
                  <a:srgbClr val="2F6DB5"/>
                </a:solidFill>
                <a:latin typeface="Cambria" pitchFamily="34" charset="0"/>
                <a:ea typeface="Cambria" pitchFamily="34" charset="-122"/>
                <a:cs typeface="Cambria" pitchFamily="34" charset="-120"/>
              </a:rPr>
              <a:t>)</a:t>
            </a:r>
            <a:endParaRPr lang="en-US" sz="1300" dirty="0"/>
          </a:p>
        </p:txBody>
      </p:sp>
      <p:sp>
        <p:nvSpPr>
          <p:cNvPr id="15" name="Shape 12"/>
          <p:cNvSpPr/>
          <p:nvPr/>
        </p:nvSpPr>
        <p:spPr>
          <a:xfrm>
            <a:off x="6199632" y="2788920"/>
            <a:ext cx="5440680" cy="2240280"/>
          </a:xfrm>
          <a:prstGeom prst="rect">
            <a:avLst/>
          </a:prstGeom>
          <a:solidFill>
            <a:srgbClr val="FFFFFF"/>
          </a:solidFill>
          <a:ln w="12700">
            <a:solidFill>
              <a:srgbClr val="2F6DB5"/>
            </a:solidFill>
            <a:prstDash val="solid"/>
          </a:ln>
        </p:spPr>
      </p:sp>
      <p:sp>
        <p:nvSpPr>
          <p:cNvPr id="16" name="Text 13"/>
          <p:cNvSpPr txBox="1"/>
          <p:nvPr/>
        </p:nvSpPr>
        <p:spPr>
          <a:xfrm>
            <a:off x="6428232" y="2926080"/>
            <a:ext cx="3657600" cy="320040"/>
          </a:xfrm>
          <a:prstGeom prst="rect">
            <a:avLst/>
          </a:prstGeom>
          <a:noFill/>
          <a:ln/>
        </p:spPr>
        <p:txBody>
          <a:bodyPr wrap="square" lIns="0" tIns="0" rIns="0" bIns="0" rtlCol="0" anchor="t"/>
          <a:lstStyle/>
          <a:p>
            <a:pPr indent="0" marL="0">
              <a:buNone/>
            </a:pPr>
            <a:r>
              <a:rPr lang="en-US" sz="1600" b="1" dirty="0">
                <a:solidFill>
                  <a:srgbClr val="2F6DB5"/>
                </a:solidFill>
                <a:latin typeface="Calibri" pitchFamily="34" charset="0"/>
                <a:ea typeface="Calibri" pitchFamily="34" charset="-122"/>
                <a:cs typeface="Calibri" pitchFamily="34" charset="-120"/>
              </a:rPr>
              <a:t>Matrix-first</a:t>
            </a:r>
            <a:endParaRPr lang="en-US" sz="1600" dirty="0"/>
          </a:p>
        </p:txBody>
      </p:sp>
      <p:sp>
        <p:nvSpPr>
          <p:cNvPr id="17" name="Text 14"/>
          <p:cNvSpPr txBox="1"/>
          <p:nvPr/>
        </p:nvSpPr>
        <p:spPr>
          <a:xfrm>
            <a:off x="6428232" y="3246120"/>
            <a:ext cx="4572000" cy="27432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PPM independent submatrices H_i</a:t>
            </a:r>
            <a:endParaRPr lang="en-US" sz="1100" dirty="0"/>
          </a:p>
        </p:txBody>
      </p:sp>
      <p:sp>
        <p:nvSpPr>
          <p:cNvPr id="18" name="Text 15"/>
          <p:cNvSpPr txBox="1"/>
          <p:nvPr/>
        </p:nvSpPr>
        <p:spPr>
          <a:xfrm>
            <a:off x="6565392" y="3611880"/>
            <a:ext cx="4937760" cy="777240"/>
          </a:xfrm>
          <a:prstGeom prst="rect">
            <a:avLst/>
          </a:prstGeom>
          <a:noFill/>
          <a:ln/>
        </p:spPr>
        <p:txBody>
          <a:bodyPr wrap="square" lIns="0" tIns="0" rIns="0" bIns="0" rtlCol="0" anchor="ctr"/>
          <a:lstStyle/>
          <a:p>
            <a:pPr indent="0" marL="0">
              <a:spcAft>
                <a:spcPts val="200"/>
              </a:spcAft>
              <a:buNone/>
            </a:pPr>
            <a:r>
              <a:rPr lang="en-US" sz="1800" dirty="0">
                <a:solidFill>
                  <a:srgbClr val="14284B"/>
                </a:solidFill>
                <a:latin typeface="Cambria" pitchFamily="34" charset="0"/>
                <a:ea typeface="Cambria" pitchFamily="34" charset="-122"/>
                <a:cs typeface="Cambria" pitchFamily="34" charset="-120"/>
              </a:rPr>
              <a:t>G = F</a:t>
            </a:r>
            <a:r>
              <a:rPr lang="en-US" sz="1800" baseline="30000" dirty="0">
                <a:solidFill>
                  <a:srgbClr val="14284B"/>
                </a:solidFill>
                <a:latin typeface="Cambria" pitchFamily="34" charset="0"/>
                <a:ea typeface="Cambria" pitchFamily="34" charset="-122"/>
                <a:cs typeface="Cambria" pitchFamily="34" charset="-120"/>
              </a:rPr>
              <a:t>−1</a:t>
            </a:r>
            <a:r>
              <a:rPr lang="en-US" sz="1800" dirty="0">
                <a:solidFill>
                  <a:srgbClr val="14284B"/>
                </a:solidFill>
                <a:latin typeface="Cambria" pitchFamily="34" charset="0"/>
                <a:ea typeface="Cambria" pitchFamily="34" charset="-122"/>
                <a:cs typeface="Cambria" pitchFamily="34" charset="-120"/>
              </a:rPr>
              <a:t> · S      mat_mul(), not counted</a:t>
            </a:r>
            <a:endParaRPr lang="en-US" sz="1800" dirty="0"/>
          </a:p>
          <a:p>
            <a:pPr indent="0" marL="0">
              <a:spcAft>
                <a:spcPts val="200"/>
              </a:spcAft>
              <a:buNone/>
            </a:pPr>
            <a:r>
              <a:rPr lang="en-US" sz="1800" dirty="0">
                <a:solidFill>
                  <a:srgbClr val="14284B"/>
                </a:solidFill>
                <a:latin typeface="Cambria" pitchFamily="34" charset="0"/>
                <a:ea typeface="Cambria" pitchFamily="34" charset="-122"/>
                <a:cs typeface="Cambria" pitchFamily="34" charset="-120"/>
              </a:rPr>
              <a:t>B</a:t>
            </a:r>
            <a:r>
              <a:rPr lang="en-US" sz="1800" baseline="-40000" dirty="0">
                <a:solidFill>
                  <a:srgbClr val="14284B"/>
                </a:solidFill>
                <a:latin typeface="Cambria" pitchFamily="34" charset="0"/>
                <a:ea typeface="Cambria" pitchFamily="34" charset="-122"/>
                <a:cs typeface="Cambria" pitchFamily="34" charset="-120"/>
              </a:rPr>
              <a:t>F</a:t>
            </a:r>
            <a:r>
              <a:rPr lang="en-US" sz="1800" dirty="0">
                <a:solidFill>
                  <a:srgbClr val="14284B"/>
                </a:solidFill>
                <a:latin typeface="Cambria" pitchFamily="34" charset="0"/>
                <a:ea typeface="Cambria" pitchFamily="34" charset="-122"/>
                <a:cs typeface="Cambria" pitchFamily="34" charset="-120"/>
              </a:rPr>
              <a:t> = G · B</a:t>
            </a:r>
            <a:r>
              <a:rPr lang="en-US" sz="1800" baseline="-40000" dirty="0">
                <a:solidFill>
                  <a:srgbClr val="14284B"/>
                </a:solidFill>
                <a:latin typeface="Cambria" pitchFamily="34" charset="0"/>
                <a:ea typeface="Cambria" pitchFamily="34" charset="-122"/>
                <a:cs typeface="Cambria" pitchFamily="34" charset="-120"/>
              </a:rPr>
              <a:t>S</a:t>
            </a:r>
            <a:endParaRPr lang="en-US" sz="1800" dirty="0"/>
          </a:p>
        </p:txBody>
      </p:sp>
      <p:sp>
        <p:nvSpPr>
          <p:cNvPr id="19" name="Text 16"/>
          <p:cNvSpPr txBox="1"/>
          <p:nvPr/>
        </p:nvSpPr>
        <p:spPr>
          <a:xfrm>
            <a:off x="6428232" y="4526280"/>
            <a:ext cx="5029200" cy="320040"/>
          </a:xfrm>
          <a:prstGeom prst="rect">
            <a:avLst/>
          </a:prstGeom>
          <a:noFill/>
          <a:ln/>
        </p:spPr>
        <p:txBody>
          <a:bodyPr wrap="square" lIns="0" tIns="0" rIns="0" bIns="0" rtlCol="0" anchor="ctr"/>
          <a:lstStyle/>
          <a:p>
            <a:pPr indent="0" marL="0">
              <a:buNone/>
            </a:pPr>
            <a:r>
              <a:rPr lang="en-US" sz="1300" dirty="0">
                <a:solidFill>
                  <a:srgbClr val="000000"/>
                </a:solidFill>
                <a:latin typeface="Calibri" pitchFamily="34" charset="0"/>
                <a:ea typeface="Calibri" pitchFamily="34" charset="-122"/>
                <a:cs typeface="Calibri" pitchFamily="34" charset="-120"/>
              </a:rPr>
              <a:t>Region operations:  </a:t>
            </a:r>
            <a:r>
              <a:rPr lang="en-US" sz="1500" b="1" dirty="0">
                <a:solidFill>
                  <a:srgbClr val="2F6DB5"/>
                </a:solidFill>
                <a:latin typeface="Cambria" pitchFamily="34" charset="0"/>
                <a:ea typeface="Cambria" pitchFamily="34" charset="-122"/>
                <a:cs typeface="Cambria" pitchFamily="34" charset="-120"/>
              </a:rPr>
              <a:t>u(G) = u(F</a:t>
            </a:r>
            <a:r>
              <a:rPr lang="en-US" sz="1500" b="1" baseline="30000" dirty="0">
                <a:solidFill>
                  <a:srgbClr val="2F6DB5"/>
                </a:solidFill>
                <a:latin typeface="Cambria" pitchFamily="34" charset="0"/>
                <a:ea typeface="Cambria" pitchFamily="34" charset="-122"/>
                <a:cs typeface="Cambria" pitchFamily="34" charset="-120"/>
              </a:rPr>
              <a:t>−1</a:t>
            </a:r>
            <a:r>
              <a:rPr lang="en-US" sz="1500" b="1" dirty="0">
                <a:solidFill>
                  <a:srgbClr val="2F6DB5"/>
                </a:solidFill>
                <a:latin typeface="Cambria" pitchFamily="34" charset="0"/>
                <a:ea typeface="Cambria" pitchFamily="34" charset="-122"/>
                <a:cs typeface="Cambria" pitchFamily="34" charset="-120"/>
              </a:rPr>
              <a:t> · S)</a:t>
            </a:r>
            <a:endParaRPr lang="en-US" sz="1300" dirty="0"/>
          </a:p>
        </p:txBody>
      </p:sp>
      <p:sp>
        <p:nvSpPr>
          <p:cNvPr id="20" name="Shape 17"/>
          <p:cNvSpPr/>
          <p:nvPr/>
        </p:nvSpPr>
        <p:spPr>
          <a:xfrm>
            <a:off x="548640" y="5212080"/>
            <a:ext cx="11091672" cy="914400"/>
          </a:xfrm>
          <a:prstGeom prst="rect">
            <a:avLst/>
          </a:prstGeom>
          <a:solidFill>
            <a:srgbClr val="F6F7F9"/>
          </a:solidFill>
          <a:ln/>
        </p:spPr>
      </p:sp>
      <p:sp>
        <p:nvSpPr>
          <p:cNvPr id="21" name="Text 18"/>
          <p:cNvSpPr txBox="1"/>
          <p:nvPr/>
        </p:nvSpPr>
        <p:spPr>
          <a:xfrm>
            <a:off x="777240" y="5212080"/>
            <a:ext cx="10634472" cy="914400"/>
          </a:xfrm>
          <a:prstGeom prst="rect">
            <a:avLst/>
          </a:prstGeom>
          <a:noFill/>
          <a:ln/>
        </p:spPr>
        <p:txBody>
          <a:bodyPr wrap="square" lIns="0" tIns="0" rIns="0" bIns="0" rtlCol="0" anchor="ctr"/>
          <a:lstStyle/>
          <a:p>
            <a:pPr indent="0" marL="0">
              <a:buNone/>
            </a:pPr>
            <a:r>
              <a:rPr lang="en-US" sz="1300" b="1" dirty="0">
                <a:solidFill>
                  <a:srgbClr val="14284B"/>
                </a:solidFill>
                <a:latin typeface="Calibri" pitchFamily="34" charset="0"/>
                <a:ea typeface="Calibri" pitchFamily="34" charset="-122"/>
                <a:cs typeface="Calibri" pitchFamily="34" charset="-120"/>
              </a:rPr>
              <a:t>Why fewer operations  </a:t>
            </a:r>
            <a:r>
              <a:rPr lang="en-US" sz="1300" dirty="0">
                <a:solidFill>
                  <a:srgbClr val="222222"/>
                </a:solidFill>
                <a:latin typeface="Calibri" pitchFamily="34" charset="0"/>
                <a:ea typeface="Calibri" pitchFamily="34" charset="-122"/>
                <a:cs typeface="Calibri" pitchFamily="34" charset="-120"/>
              </a:rPr>
              <a:t>Coefficients are tiny field elements, but each nonzero one triggers an operation over a whole sector. Cancellation while forming G yields zero entries, and every zero is a skipped region operation.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THEORY · INSIGHT 2</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Some Failures Are Independent</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5</a:t>
            </a:r>
            <a:endParaRPr lang="en-US" sz="900" dirty="0"/>
          </a:p>
        </p:txBody>
      </p:sp>
      <p:sp>
        <p:nvSpPr>
          <p:cNvPr id="7" name="Text 4"/>
          <p:cNvSpPr txBox="1"/>
          <p:nvPr/>
        </p:nvSpPr>
        <p:spPr>
          <a:xfrm>
            <a:off x="548640" y="1298448"/>
            <a:ext cx="6583680" cy="274320"/>
          </a:xfrm>
          <a:prstGeom prst="rect">
            <a:avLst/>
          </a:prstGeom>
          <a:noFill/>
          <a:ln/>
        </p:spPr>
        <p:txBody>
          <a:bodyPr wrap="square" lIns="0" tIns="0" rIns="0" bIns="0" rtlCol="0" anchor="t"/>
          <a:lstStyle/>
          <a:p>
            <a:pPr indent="0" marL="0">
              <a:buNone/>
            </a:pPr>
            <a:r>
              <a:rPr lang="en-US" sz="1300" b="1" dirty="0">
                <a:solidFill>
                  <a:srgbClr val="14284B"/>
                </a:solidFill>
                <a:latin typeface="Calibri" pitchFamily="34" charset="0"/>
                <a:ea typeface="Calibri" pitchFamily="34" charset="-122"/>
                <a:cs typeface="Calibri" pitchFamily="34" charset="-120"/>
              </a:rPr>
              <a:t>Paper Figure 3:  SD(4, 4, m=1, s=1, w=8 | 1, 2),  faults {2, 6, 10, 13, 14}</a:t>
            </a:r>
            <a:endParaRPr lang="en-US" sz="1300" dirty="0"/>
          </a:p>
        </p:txBody>
      </p:sp>
      <p:sp>
        <p:nvSpPr>
          <p:cNvPr id="8" name="Text 5"/>
          <p:cNvSpPr txBox="1"/>
          <p:nvPr/>
        </p:nvSpPr>
        <p:spPr>
          <a:xfrm>
            <a:off x="1600200" y="1591056"/>
            <a:ext cx="329184" cy="219456"/>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0</a:t>
            </a:r>
            <a:endParaRPr lang="en-US" sz="900" dirty="0"/>
          </a:p>
        </p:txBody>
      </p:sp>
      <p:sp>
        <p:nvSpPr>
          <p:cNvPr id="9" name="Text 6"/>
          <p:cNvSpPr txBox="1"/>
          <p:nvPr/>
        </p:nvSpPr>
        <p:spPr>
          <a:xfrm>
            <a:off x="1929384" y="1591056"/>
            <a:ext cx="329184" cy="219456"/>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1</a:t>
            </a:r>
            <a:endParaRPr lang="en-US" sz="900" dirty="0"/>
          </a:p>
        </p:txBody>
      </p:sp>
      <p:sp>
        <p:nvSpPr>
          <p:cNvPr id="10" name="Text 7"/>
          <p:cNvSpPr txBox="1"/>
          <p:nvPr/>
        </p:nvSpPr>
        <p:spPr>
          <a:xfrm>
            <a:off x="2258568" y="1591056"/>
            <a:ext cx="329184" cy="219456"/>
          </a:xfrm>
          <a:prstGeom prst="rect">
            <a:avLst/>
          </a:prstGeom>
          <a:noFill/>
          <a:ln/>
        </p:spPr>
        <p:txBody>
          <a:bodyPr wrap="square" lIns="0" tIns="0" rIns="0" bIns="0" rtlCol="0" anchor="t"/>
          <a:lstStyle/>
          <a:p>
            <a:pPr algn="ctr" indent="0" marL="0">
              <a:buNone/>
            </a:pPr>
            <a:r>
              <a:rPr lang="en-US" sz="900" b="1" dirty="0">
                <a:solidFill>
                  <a:srgbClr val="B5472A"/>
                </a:solidFill>
                <a:latin typeface="Calibri" pitchFamily="34" charset="0"/>
                <a:ea typeface="Calibri" pitchFamily="34" charset="-122"/>
                <a:cs typeface="Calibri" pitchFamily="34" charset="-120"/>
              </a:rPr>
              <a:t>2</a:t>
            </a:r>
            <a:endParaRPr lang="en-US" sz="900" dirty="0"/>
          </a:p>
        </p:txBody>
      </p:sp>
      <p:sp>
        <p:nvSpPr>
          <p:cNvPr id="11" name="Text 8"/>
          <p:cNvSpPr txBox="1"/>
          <p:nvPr/>
        </p:nvSpPr>
        <p:spPr>
          <a:xfrm>
            <a:off x="2587752" y="1591056"/>
            <a:ext cx="329184" cy="219456"/>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3</a:t>
            </a:r>
            <a:endParaRPr lang="en-US" sz="900" dirty="0"/>
          </a:p>
        </p:txBody>
      </p:sp>
      <p:sp>
        <p:nvSpPr>
          <p:cNvPr id="12" name="Text 9"/>
          <p:cNvSpPr txBox="1"/>
          <p:nvPr/>
        </p:nvSpPr>
        <p:spPr>
          <a:xfrm>
            <a:off x="2916936" y="1591056"/>
            <a:ext cx="329184" cy="219456"/>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4</a:t>
            </a:r>
            <a:endParaRPr lang="en-US" sz="900" dirty="0"/>
          </a:p>
        </p:txBody>
      </p:sp>
      <p:sp>
        <p:nvSpPr>
          <p:cNvPr id="13" name="Text 10"/>
          <p:cNvSpPr txBox="1"/>
          <p:nvPr/>
        </p:nvSpPr>
        <p:spPr>
          <a:xfrm>
            <a:off x="3246120" y="1591056"/>
            <a:ext cx="329184" cy="219456"/>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5</a:t>
            </a:r>
            <a:endParaRPr lang="en-US" sz="900" dirty="0"/>
          </a:p>
        </p:txBody>
      </p:sp>
      <p:sp>
        <p:nvSpPr>
          <p:cNvPr id="14" name="Text 11"/>
          <p:cNvSpPr txBox="1"/>
          <p:nvPr/>
        </p:nvSpPr>
        <p:spPr>
          <a:xfrm>
            <a:off x="3575304" y="1591056"/>
            <a:ext cx="329184" cy="219456"/>
          </a:xfrm>
          <a:prstGeom prst="rect">
            <a:avLst/>
          </a:prstGeom>
          <a:noFill/>
          <a:ln/>
        </p:spPr>
        <p:txBody>
          <a:bodyPr wrap="square" lIns="0" tIns="0" rIns="0" bIns="0" rtlCol="0" anchor="t"/>
          <a:lstStyle/>
          <a:p>
            <a:pPr algn="ctr" indent="0" marL="0">
              <a:buNone/>
            </a:pPr>
            <a:r>
              <a:rPr lang="en-US" sz="900" b="1" dirty="0">
                <a:solidFill>
                  <a:srgbClr val="B5472A"/>
                </a:solidFill>
                <a:latin typeface="Calibri" pitchFamily="34" charset="0"/>
                <a:ea typeface="Calibri" pitchFamily="34" charset="-122"/>
                <a:cs typeface="Calibri" pitchFamily="34" charset="-120"/>
              </a:rPr>
              <a:t>6</a:t>
            </a:r>
            <a:endParaRPr lang="en-US" sz="900" dirty="0"/>
          </a:p>
        </p:txBody>
      </p:sp>
      <p:sp>
        <p:nvSpPr>
          <p:cNvPr id="15" name="Text 12"/>
          <p:cNvSpPr txBox="1"/>
          <p:nvPr/>
        </p:nvSpPr>
        <p:spPr>
          <a:xfrm>
            <a:off x="3904488" y="1591056"/>
            <a:ext cx="329184" cy="219456"/>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7</a:t>
            </a:r>
            <a:endParaRPr lang="en-US" sz="900" dirty="0"/>
          </a:p>
        </p:txBody>
      </p:sp>
      <p:sp>
        <p:nvSpPr>
          <p:cNvPr id="16" name="Text 13"/>
          <p:cNvSpPr txBox="1"/>
          <p:nvPr/>
        </p:nvSpPr>
        <p:spPr>
          <a:xfrm>
            <a:off x="4233672" y="1591056"/>
            <a:ext cx="329184" cy="219456"/>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8</a:t>
            </a:r>
            <a:endParaRPr lang="en-US" sz="900" dirty="0"/>
          </a:p>
        </p:txBody>
      </p:sp>
      <p:sp>
        <p:nvSpPr>
          <p:cNvPr id="17" name="Text 14"/>
          <p:cNvSpPr txBox="1"/>
          <p:nvPr/>
        </p:nvSpPr>
        <p:spPr>
          <a:xfrm>
            <a:off x="4562856" y="1591056"/>
            <a:ext cx="329184" cy="219456"/>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9</a:t>
            </a:r>
            <a:endParaRPr lang="en-US" sz="900" dirty="0"/>
          </a:p>
        </p:txBody>
      </p:sp>
      <p:sp>
        <p:nvSpPr>
          <p:cNvPr id="18" name="Text 15"/>
          <p:cNvSpPr txBox="1"/>
          <p:nvPr/>
        </p:nvSpPr>
        <p:spPr>
          <a:xfrm>
            <a:off x="4892040" y="1591056"/>
            <a:ext cx="329184" cy="219456"/>
          </a:xfrm>
          <a:prstGeom prst="rect">
            <a:avLst/>
          </a:prstGeom>
          <a:noFill/>
          <a:ln/>
        </p:spPr>
        <p:txBody>
          <a:bodyPr wrap="square" lIns="0" tIns="0" rIns="0" bIns="0" rtlCol="0" anchor="t"/>
          <a:lstStyle/>
          <a:p>
            <a:pPr algn="ctr" indent="0" marL="0">
              <a:buNone/>
            </a:pPr>
            <a:r>
              <a:rPr lang="en-US" sz="900" b="1" dirty="0">
                <a:solidFill>
                  <a:srgbClr val="B5472A"/>
                </a:solidFill>
                <a:latin typeface="Calibri" pitchFamily="34" charset="0"/>
                <a:ea typeface="Calibri" pitchFamily="34" charset="-122"/>
                <a:cs typeface="Calibri" pitchFamily="34" charset="-120"/>
              </a:rPr>
              <a:t>10</a:t>
            </a:r>
            <a:endParaRPr lang="en-US" sz="900" dirty="0"/>
          </a:p>
        </p:txBody>
      </p:sp>
      <p:sp>
        <p:nvSpPr>
          <p:cNvPr id="19" name="Text 16"/>
          <p:cNvSpPr txBox="1"/>
          <p:nvPr/>
        </p:nvSpPr>
        <p:spPr>
          <a:xfrm>
            <a:off x="5221224" y="1591056"/>
            <a:ext cx="329184" cy="219456"/>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11</a:t>
            </a:r>
            <a:endParaRPr lang="en-US" sz="900" dirty="0"/>
          </a:p>
        </p:txBody>
      </p:sp>
      <p:sp>
        <p:nvSpPr>
          <p:cNvPr id="20" name="Text 17"/>
          <p:cNvSpPr txBox="1"/>
          <p:nvPr/>
        </p:nvSpPr>
        <p:spPr>
          <a:xfrm>
            <a:off x="5550408" y="1591056"/>
            <a:ext cx="329184" cy="219456"/>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12</a:t>
            </a:r>
            <a:endParaRPr lang="en-US" sz="900" dirty="0"/>
          </a:p>
        </p:txBody>
      </p:sp>
      <p:sp>
        <p:nvSpPr>
          <p:cNvPr id="21" name="Text 18"/>
          <p:cNvSpPr txBox="1"/>
          <p:nvPr/>
        </p:nvSpPr>
        <p:spPr>
          <a:xfrm>
            <a:off x="5879592" y="1591056"/>
            <a:ext cx="329184" cy="219456"/>
          </a:xfrm>
          <a:prstGeom prst="rect">
            <a:avLst/>
          </a:prstGeom>
          <a:noFill/>
          <a:ln/>
        </p:spPr>
        <p:txBody>
          <a:bodyPr wrap="square" lIns="0" tIns="0" rIns="0" bIns="0" rtlCol="0" anchor="t"/>
          <a:lstStyle/>
          <a:p>
            <a:pPr algn="ctr" indent="0" marL="0">
              <a:buNone/>
            </a:pPr>
            <a:r>
              <a:rPr lang="en-US" sz="900" b="1" dirty="0">
                <a:solidFill>
                  <a:srgbClr val="B5472A"/>
                </a:solidFill>
                <a:latin typeface="Calibri" pitchFamily="34" charset="0"/>
                <a:ea typeface="Calibri" pitchFamily="34" charset="-122"/>
                <a:cs typeface="Calibri" pitchFamily="34" charset="-120"/>
              </a:rPr>
              <a:t>13</a:t>
            </a:r>
            <a:endParaRPr lang="en-US" sz="900" dirty="0"/>
          </a:p>
        </p:txBody>
      </p:sp>
      <p:sp>
        <p:nvSpPr>
          <p:cNvPr id="22" name="Text 19"/>
          <p:cNvSpPr txBox="1"/>
          <p:nvPr/>
        </p:nvSpPr>
        <p:spPr>
          <a:xfrm>
            <a:off x="6208776" y="1591056"/>
            <a:ext cx="329184" cy="219456"/>
          </a:xfrm>
          <a:prstGeom prst="rect">
            <a:avLst/>
          </a:prstGeom>
          <a:noFill/>
          <a:ln/>
        </p:spPr>
        <p:txBody>
          <a:bodyPr wrap="square" lIns="0" tIns="0" rIns="0" bIns="0" rtlCol="0" anchor="t"/>
          <a:lstStyle/>
          <a:p>
            <a:pPr algn="ctr" indent="0" marL="0">
              <a:buNone/>
            </a:pPr>
            <a:r>
              <a:rPr lang="en-US" sz="900" b="1" dirty="0">
                <a:solidFill>
                  <a:srgbClr val="B5472A"/>
                </a:solidFill>
                <a:latin typeface="Calibri" pitchFamily="34" charset="0"/>
                <a:ea typeface="Calibri" pitchFamily="34" charset="-122"/>
                <a:cs typeface="Calibri" pitchFamily="34" charset="-120"/>
              </a:rPr>
              <a:t>14</a:t>
            </a:r>
            <a:endParaRPr lang="en-US" sz="900" dirty="0"/>
          </a:p>
        </p:txBody>
      </p:sp>
      <p:sp>
        <p:nvSpPr>
          <p:cNvPr id="23" name="Text 20"/>
          <p:cNvSpPr txBox="1"/>
          <p:nvPr/>
        </p:nvSpPr>
        <p:spPr>
          <a:xfrm>
            <a:off x="6537960" y="1591056"/>
            <a:ext cx="329184" cy="219456"/>
          </a:xfrm>
          <a:prstGeom prst="rect">
            <a:avLst/>
          </a:prstGeom>
          <a:noFill/>
          <a:ln/>
        </p:spPr>
        <p:txBody>
          <a:bodyPr wrap="square" lIns="0" tIns="0" rIns="0" bIns="0" rtlCol="0" anchor="t"/>
          <a:lstStyle/>
          <a:p>
            <a:pPr algn="ctr" indent="0" marL="0">
              <a:buNone/>
            </a:pPr>
            <a:r>
              <a:rPr lang="en-US" sz="900" dirty="0">
                <a:solidFill>
                  <a:srgbClr val="5F6B7A"/>
                </a:solidFill>
                <a:latin typeface="Calibri" pitchFamily="34" charset="0"/>
                <a:ea typeface="Calibri" pitchFamily="34" charset="-122"/>
                <a:cs typeface="Calibri" pitchFamily="34" charset="-120"/>
              </a:rPr>
              <a:t>15</a:t>
            </a:r>
            <a:endParaRPr lang="en-US" sz="900" dirty="0"/>
          </a:p>
        </p:txBody>
      </p:sp>
      <p:sp>
        <p:nvSpPr>
          <p:cNvPr id="24" name="Shape 21"/>
          <p:cNvSpPr/>
          <p:nvPr/>
        </p:nvSpPr>
        <p:spPr>
          <a:xfrm>
            <a:off x="1600200" y="1828800"/>
            <a:ext cx="329184" cy="329184"/>
          </a:xfrm>
          <a:prstGeom prst="rect">
            <a:avLst/>
          </a:prstGeom>
          <a:solidFill>
            <a:srgbClr val="B9C9E2"/>
          </a:solidFill>
          <a:ln w="6350">
            <a:solidFill>
              <a:srgbClr val="D5DCE6"/>
            </a:solidFill>
            <a:prstDash val="solid"/>
          </a:ln>
        </p:spPr>
      </p:sp>
      <p:sp>
        <p:nvSpPr>
          <p:cNvPr id="25" name="Shape 22"/>
          <p:cNvSpPr/>
          <p:nvPr/>
        </p:nvSpPr>
        <p:spPr>
          <a:xfrm>
            <a:off x="1929384" y="1828800"/>
            <a:ext cx="329184" cy="329184"/>
          </a:xfrm>
          <a:prstGeom prst="rect">
            <a:avLst/>
          </a:prstGeom>
          <a:solidFill>
            <a:srgbClr val="B9C9E2"/>
          </a:solidFill>
          <a:ln w="6350">
            <a:solidFill>
              <a:srgbClr val="D5DCE6"/>
            </a:solidFill>
            <a:prstDash val="solid"/>
          </a:ln>
        </p:spPr>
      </p:sp>
      <p:sp>
        <p:nvSpPr>
          <p:cNvPr id="26" name="Shape 23"/>
          <p:cNvSpPr/>
          <p:nvPr/>
        </p:nvSpPr>
        <p:spPr>
          <a:xfrm>
            <a:off x="2258568" y="1828800"/>
            <a:ext cx="329184" cy="329184"/>
          </a:xfrm>
          <a:prstGeom prst="rect">
            <a:avLst/>
          </a:prstGeom>
          <a:solidFill>
            <a:srgbClr val="E6A58F"/>
          </a:solidFill>
          <a:ln w="6350">
            <a:solidFill>
              <a:srgbClr val="D5DCE6"/>
            </a:solidFill>
            <a:prstDash val="solid"/>
          </a:ln>
        </p:spPr>
      </p:sp>
      <p:sp>
        <p:nvSpPr>
          <p:cNvPr id="27" name="Shape 24"/>
          <p:cNvSpPr/>
          <p:nvPr/>
        </p:nvSpPr>
        <p:spPr>
          <a:xfrm>
            <a:off x="2587752" y="1828800"/>
            <a:ext cx="329184" cy="329184"/>
          </a:xfrm>
          <a:prstGeom prst="rect">
            <a:avLst/>
          </a:prstGeom>
          <a:solidFill>
            <a:srgbClr val="B9C9E2"/>
          </a:solidFill>
          <a:ln w="6350">
            <a:solidFill>
              <a:srgbClr val="D5DCE6"/>
            </a:solidFill>
            <a:prstDash val="solid"/>
          </a:ln>
        </p:spPr>
      </p:sp>
      <p:sp>
        <p:nvSpPr>
          <p:cNvPr id="28" name="Shape 25"/>
          <p:cNvSpPr/>
          <p:nvPr/>
        </p:nvSpPr>
        <p:spPr>
          <a:xfrm>
            <a:off x="2916936" y="1828800"/>
            <a:ext cx="329184" cy="329184"/>
          </a:xfrm>
          <a:prstGeom prst="rect">
            <a:avLst/>
          </a:prstGeom>
          <a:solidFill>
            <a:srgbClr val="FFFFFF"/>
          </a:solidFill>
          <a:ln w="6350">
            <a:solidFill>
              <a:srgbClr val="D5DCE6"/>
            </a:solidFill>
            <a:prstDash val="solid"/>
          </a:ln>
        </p:spPr>
      </p:sp>
      <p:sp>
        <p:nvSpPr>
          <p:cNvPr id="29" name="Shape 26"/>
          <p:cNvSpPr/>
          <p:nvPr/>
        </p:nvSpPr>
        <p:spPr>
          <a:xfrm>
            <a:off x="3246120" y="1828800"/>
            <a:ext cx="329184" cy="329184"/>
          </a:xfrm>
          <a:prstGeom prst="rect">
            <a:avLst/>
          </a:prstGeom>
          <a:solidFill>
            <a:srgbClr val="FFFFFF"/>
          </a:solidFill>
          <a:ln w="6350">
            <a:solidFill>
              <a:srgbClr val="D5DCE6"/>
            </a:solidFill>
            <a:prstDash val="solid"/>
          </a:ln>
        </p:spPr>
      </p:sp>
      <p:sp>
        <p:nvSpPr>
          <p:cNvPr id="30" name="Shape 27"/>
          <p:cNvSpPr/>
          <p:nvPr/>
        </p:nvSpPr>
        <p:spPr>
          <a:xfrm>
            <a:off x="3575304" y="1828800"/>
            <a:ext cx="329184" cy="329184"/>
          </a:xfrm>
          <a:prstGeom prst="rect">
            <a:avLst/>
          </a:prstGeom>
          <a:solidFill>
            <a:srgbClr val="FFFFFF"/>
          </a:solidFill>
          <a:ln w="6350">
            <a:solidFill>
              <a:srgbClr val="D5DCE6"/>
            </a:solidFill>
            <a:prstDash val="solid"/>
          </a:ln>
        </p:spPr>
      </p:sp>
      <p:sp>
        <p:nvSpPr>
          <p:cNvPr id="31" name="Shape 28"/>
          <p:cNvSpPr/>
          <p:nvPr/>
        </p:nvSpPr>
        <p:spPr>
          <a:xfrm>
            <a:off x="3904488" y="1828800"/>
            <a:ext cx="329184" cy="329184"/>
          </a:xfrm>
          <a:prstGeom prst="rect">
            <a:avLst/>
          </a:prstGeom>
          <a:solidFill>
            <a:srgbClr val="FFFFFF"/>
          </a:solidFill>
          <a:ln w="6350">
            <a:solidFill>
              <a:srgbClr val="D5DCE6"/>
            </a:solidFill>
            <a:prstDash val="solid"/>
          </a:ln>
        </p:spPr>
      </p:sp>
      <p:sp>
        <p:nvSpPr>
          <p:cNvPr id="32" name="Shape 29"/>
          <p:cNvSpPr/>
          <p:nvPr/>
        </p:nvSpPr>
        <p:spPr>
          <a:xfrm>
            <a:off x="4233672" y="1828800"/>
            <a:ext cx="329184" cy="329184"/>
          </a:xfrm>
          <a:prstGeom prst="rect">
            <a:avLst/>
          </a:prstGeom>
          <a:solidFill>
            <a:srgbClr val="FFFFFF"/>
          </a:solidFill>
          <a:ln w="6350">
            <a:solidFill>
              <a:srgbClr val="D5DCE6"/>
            </a:solidFill>
            <a:prstDash val="solid"/>
          </a:ln>
        </p:spPr>
      </p:sp>
      <p:sp>
        <p:nvSpPr>
          <p:cNvPr id="33" name="Shape 30"/>
          <p:cNvSpPr/>
          <p:nvPr/>
        </p:nvSpPr>
        <p:spPr>
          <a:xfrm>
            <a:off x="4562856" y="1828800"/>
            <a:ext cx="329184" cy="329184"/>
          </a:xfrm>
          <a:prstGeom prst="rect">
            <a:avLst/>
          </a:prstGeom>
          <a:solidFill>
            <a:srgbClr val="FFFFFF"/>
          </a:solidFill>
          <a:ln w="6350">
            <a:solidFill>
              <a:srgbClr val="D5DCE6"/>
            </a:solidFill>
            <a:prstDash val="solid"/>
          </a:ln>
        </p:spPr>
      </p:sp>
      <p:sp>
        <p:nvSpPr>
          <p:cNvPr id="34" name="Shape 31"/>
          <p:cNvSpPr/>
          <p:nvPr/>
        </p:nvSpPr>
        <p:spPr>
          <a:xfrm>
            <a:off x="4892040" y="1828800"/>
            <a:ext cx="329184" cy="329184"/>
          </a:xfrm>
          <a:prstGeom prst="rect">
            <a:avLst/>
          </a:prstGeom>
          <a:solidFill>
            <a:srgbClr val="FFFFFF"/>
          </a:solidFill>
          <a:ln w="6350">
            <a:solidFill>
              <a:srgbClr val="D5DCE6"/>
            </a:solidFill>
            <a:prstDash val="solid"/>
          </a:ln>
        </p:spPr>
      </p:sp>
      <p:sp>
        <p:nvSpPr>
          <p:cNvPr id="35" name="Shape 32"/>
          <p:cNvSpPr/>
          <p:nvPr/>
        </p:nvSpPr>
        <p:spPr>
          <a:xfrm>
            <a:off x="5221224" y="1828800"/>
            <a:ext cx="329184" cy="329184"/>
          </a:xfrm>
          <a:prstGeom prst="rect">
            <a:avLst/>
          </a:prstGeom>
          <a:solidFill>
            <a:srgbClr val="FFFFFF"/>
          </a:solidFill>
          <a:ln w="6350">
            <a:solidFill>
              <a:srgbClr val="D5DCE6"/>
            </a:solidFill>
            <a:prstDash val="solid"/>
          </a:ln>
        </p:spPr>
      </p:sp>
      <p:sp>
        <p:nvSpPr>
          <p:cNvPr id="36" name="Shape 33"/>
          <p:cNvSpPr/>
          <p:nvPr/>
        </p:nvSpPr>
        <p:spPr>
          <a:xfrm>
            <a:off x="5550408" y="1828800"/>
            <a:ext cx="329184" cy="329184"/>
          </a:xfrm>
          <a:prstGeom prst="rect">
            <a:avLst/>
          </a:prstGeom>
          <a:solidFill>
            <a:srgbClr val="FFFFFF"/>
          </a:solidFill>
          <a:ln w="6350">
            <a:solidFill>
              <a:srgbClr val="D5DCE6"/>
            </a:solidFill>
            <a:prstDash val="solid"/>
          </a:ln>
        </p:spPr>
      </p:sp>
      <p:sp>
        <p:nvSpPr>
          <p:cNvPr id="37" name="Shape 34"/>
          <p:cNvSpPr/>
          <p:nvPr/>
        </p:nvSpPr>
        <p:spPr>
          <a:xfrm>
            <a:off x="5879592" y="1828800"/>
            <a:ext cx="329184" cy="329184"/>
          </a:xfrm>
          <a:prstGeom prst="rect">
            <a:avLst/>
          </a:prstGeom>
          <a:solidFill>
            <a:srgbClr val="FFFFFF"/>
          </a:solidFill>
          <a:ln w="6350">
            <a:solidFill>
              <a:srgbClr val="D5DCE6"/>
            </a:solidFill>
            <a:prstDash val="solid"/>
          </a:ln>
        </p:spPr>
      </p:sp>
      <p:sp>
        <p:nvSpPr>
          <p:cNvPr id="38" name="Shape 35"/>
          <p:cNvSpPr/>
          <p:nvPr/>
        </p:nvSpPr>
        <p:spPr>
          <a:xfrm>
            <a:off x="6208776" y="1828800"/>
            <a:ext cx="329184" cy="329184"/>
          </a:xfrm>
          <a:prstGeom prst="rect">
            <a:avLst/>
          </a:prstGeom>
          <a:solidFill>
            <a:srgbClr val="FFFFFF"/>
          </a:solidFill>
          <a:ln w="6350">
            <a:solidFill>
              <a:srgbClr val="D5DCE6"/>
            </a:solidFill>
            <a:prstDash val="solid"/>
          </a:ln>
        </p:spPr>
      </p:sp>
      <p:sp>
        <p:nvSpPr>
          <p:cNvPr id="39" name="Shape 36"/>
          <p:cNvSpPr/>
          <p:nvPr/>
        </p:nvSpPr>
        <p:spPr>
          <a:xfrm>
            <a:off x="6537960" y="1828800"/>
            <a:ext cx="329184" cy="329184"/>
          </a:xfrm>
          <a:prstGeom prst="rect">
            <a:avLst/>
          </a:prstGeom>
          <a:solidFill>
            <a:srgbClr val="FFFFFF"/>
          </a:solidFill>
          <a:ln w="6350">
            <a:solidFill>
              <a:srgbClr val="D5DCE6"/>
            </a:solidFill>
            <a:prstDash val="solid"/>
          </a:ln>
        </p:spPr>
      </p:sp>
      <p:sp>
        <p:nvSpPr>
          <p:cNvPr id="40" name="Shape 37"/>
          <p:cNvSpPr/>
          <p:nvPr/>
        </p:nvSpPr>
        <p:spPr>
          <a:xfrm>
            <a:off x="1600200" y="2157984"/>
            <a:ext cx="329184" cy="329184"/>
          </a:xfrm>
          <a:prstGeom prst="rect">
            <a:avLst/>
          </a:prstGeom>
          <a:solidFill>
            <a:srgbClr val="FFFFFF"/>
          </a:solidFill>
          <a:ln w="6350">
            <a:solidFill>
              <a:srgbClr val="D5DCE6"/>
            </a:solidFill>
            <a:prstDash val="solid"/>
          </a:ln>
        </p:spPr>
      </p:sp>
      <p:sp>
        <p:nvSpPr>
          <p:cNvPr id="41" name="Shape 38"/>
          <p:cNvSpPr/>
          <p:nvPr/>
        </p:nvSpPr>
        <p:spPr>
          <a:xfrm>
            <a:off x="1929384" y="2157984"/>
            <a:ext cx="329184" cy="329184"/>
          </a:xfrm>
          <a:prstGeom prst="rect">
            <a:avLst/>
          </a:prstGeom>
          <a:solidFill>
            <a:srgbClr val="FFFFFF"/>
          </a:solidFill>
          <a:ln w="6350">
            <a:solidFill>
              <a:srgbClr val="D5DCE6"/>
            </a:solidFill>
            <a:prstDash val="solid"/>
          </a:ln>
        </p:spPr>
      </p:sp>
      <p:sp>
        <p:nvSpPr>
          <p:cNvPr id="42" name="Shape 39"/>
          <p:cNvSpPr/>
          <p:nvPr/>
        </p:nvSpPr>
        <p:spPr>
          <a:xfrm>
            <a:off x="2258568" y="2157984"/>
            <a:ext cx="329184" cy="329184"/>
          </a:xfrm>
          <a:prstGeom prst="rect">
            <a:avLst/>
          </a:prstGeom>
          <a:solidFill>
            <a:srgbClr val="FFFFFF"/>
          </a:solidFill>
          <a:ln w="6350">
            <a:solidFill>
              <a:srgbClr val="D5DCE6"/>
            </a:solidFill>
            <a:prstDash val="solid"/>
          </a:ln>
        </p:spPr>
      </p:sp>
      <p:sp>
        <p:nvSpPr>
          <p:cNvPr id="43" name="Shape 40"/>
          <p:cNvSpPr/>
          <p:nvPr/>
        </p:nvSpPr>
        <p:spPr>
          <a:xfrm>
            <a:off x="2587752" y="2157984"/>
            <a:ext cx="329184" cy="329184"/>
          </a:xfrm>
          <a:prstGeom prst="rect">
            <a:avLst/>
          </a:prstGeom>
          <a:solidFill>
            <a:srgbClr val="FFFFFF"/>
          </a:solidFill>
          <a:ln w="6350">
            <a:solidFill>
              <a:srgbClr val="D5DCE6"/>
            </a:solidFill>
            <a:prstDash val="solid"/>
          </a:ln>
        </p:spPr>
      </p:sp>
      <p:sp>
        <p:nvSpPr>
          <p:cNvPr id="44" name="Shape 41"/>
          <p:cNvSpPr/>
          <p:nvPr/>
        </p:nvSpPr>
        <p:spPr>
          <a:xfrm>
            <a:off x="2916936" y="2157984"/>
            <a:ext cx="329184" cy="329184"/>
          </a:xfrm>
          <a:prstGeom prst="rect">
            <a:avLst/>
          </a:prstGeom>
          <a:solidFill>
            <a:srgbClr val="B9C9E2"/>
          </a:solidFill>
          <a:ln w="6350">
            <a:solidFill>
              <a:srgbClr val="D5DCE6"/>
            </a:solidFill>
            <a:prstDash val="solid"/>
          </a:ln>
        </p:spPr>
      </p:sp>
      <p:sp>
        <p:nvSpPr>
          <p:cNvPr id="45" name="Shape 42"/>
          <p:cNvSpPr/>
          <p:nvPr/>
        </p:nvSpPr>
        <p:spPr>
          <a:xfrm>
            <a:off x="3246120" y="2157984"/>
            <a:ext cx="329184" cy="329184"/>
          </a:xfrm>
          <a:prstGeom prst="rect">
            <a:avLst/>
          </a:prstGeom>
          <a:solidFill>
            <a:srgbClr val="B9C9E2"/>
          </a:solidFill>
          <a:ln w="6350">
            <a:solidFill>
              <a:srgbClr val="D5DCE6"/>
            </a:solidFill>
            <a:prstDash val="solid"/>
          </a:ln>
        </p:spPr>
      </p:sp>
      <p:sp>
        <p:nvSpPr>
          <p:cNvPr id="46" name="Shape 43"/>
          <p:cNvSpPr/>
          <p:nvPr/>
        </p:nvSpPr>
        <p:spPr>
          <a:xfrm>
            <a:off x="3575304" y="2157984"/>
            <a:ext cx="329184" cy="329184"/>
          </a:xfrm>
          <a:prstGeom prst="rect">
            <a:avLst/>
          </a:prstGeom>
          <a:solidFill>
            <a:srgbClr val="E6A58F"/>
          </a:solidFill>
          <a:ln w="6350">
            <a:solidFill>
              <a:srgbClr val="D5DCE6"/>
            </a:solidFill>
            <a:prstDash val="solid"/>
          </a:ln>
        </p:spPr>
      </p:sp>
      <p:sp>
        <p:nvSpPr>
          <p:cNvPr id="47" name="Shape 44"/>
          <p:cNvSpPr/>
          <p:nvPr/>
        </p:nvSpPr>
        <p:spPr>
          <a:xfrm>
            <a:off x="3904488" y="2157984"/>
            <a:ext cx="329184" cy="329184"/>
          </a:xfrm>
          <a:prstGeom prst="rect">
            <a:avLst/>
          </a:prstGeom>
          <a:solidFill>
            <a:srgbClr val="B9C9E2"/>
          </a:solidFill>
          <a:ln w="6350">
            <a:solidFill>
              <a:srgbClr val="D5DCE6"/>
            </a:solidFill>
            <a:prstDash val="solid"/>
          </a:ln>
        </p:spPr>
      </p:sp>
      <p:sp>
        <p:nvSpPr>
          <p:cNvPr id="48" name="Shape 45"/>
          <p:cNvSpPr/>
          <p:nvPr/>
        </p:nvSpPr>
        <p:spPr>
          <a:xfrm>
            <a:off x="4233672" y="2157984"/>
            <a:ext cx="329184" cy="329184"/>
          </a:xfrm>
          <a:prstGeom prst="rect">
            <a:avLst/>
          </a:prstGeom>
          <a:solidFill>
            <a:srgbClr val="FFFFFF"/>
          </a:solidFill>
          <a:ln w="6350">
            <a:solidFill>
              <a:srgbClr val="D5DCE6"/>
            </a:solidFill>
            <a:prstDash val="solid"/>
          </a:ln>
        </p:spPr>
      </p:sp>
      <p:sp>
        <p:nvSpPr>
          <p:cNvPr id="49" name="Shape 46"/>
          <p:cNvSpPr/>
          <p:nvPr/>
        </p:nvSpPr>
        <p:spPr>
          <a:xfrm>
            <a:off x="4562856" y="2157984"/>
            <a:ext cx="329184" cy="329184"/>
          </a:xfrm>
          <a:prstGeom prst="rect">
            <a:avLst/>
          </a:prstGeom>
          <a:solidFill>
            <a:srgbClr val="FFFFFF"/>
          </a:solidFill>
          <a:ln w="6350">
            <a:solidFill>
              <a:srgbClr val="D5DCE6"/>
            </a:solidFill>
            <a:prstDash val="solid"/>
          </a:ln>
        </p:spPr>
      </p:sp>
      <p:sp>
        <p:nvSpPr>
          <p:cNvPr id="50" name="Shape 47"/>
          <p:cNvSpPr/>
          <p:nvPr/>
        </p:nvSpPr>
        <p:spPr>
          <a:xfrm>
            <a:off x="4892040" y="2157984"/>
            <a:ext cx="329184" cy="329184"/>
          </a:xfrm>
          <a:prstGeom prst="rect">
            <a:avLst/>
          </a:prstGeom>
          <a:solidFill>
            <a:srgbClr val="FFFFFF"/>
          </a:solidFill>
          <a:ln w="6350">
            <a:solidFill>
              <a:srgbClr val="D5DCE6"/>
            </a:solidFill>
            <a:prstDash val="solid"/>
          </a:ln>
        </p:spPr>
      </p:sp>
      <p:sp>
        <p:nvSpPr>
          <p:cNvPr id="51" name="Shape 48"/>
          <p:cNvSpPr/>
          <p:nvPr/>
        </p:nvSpPr>
        <p:spPr>
          <a:xfrm>
            <a:off x="5221224" y="2157984"/>
            <a:ext cx="329184" cy="329184"/>
          </a:xfrm>
          <a:prstGeom prst="rect">
            <a:avLst/>
          </a:prstGeom>
          <a:solidFill>
            <a:srgbClr val="FFFFFF"/>
          </a:solidFill>
          <a:ln w="6350">
            <a:solidFill>
              <a:srgbClr val="D5DCE6"/>
            </a:solidFill>
            <a:prstDash val="solid"/>
          </a:ln>
        </p:spPr>
      </p:sp>
      <p:sp>
        <p:nvSpPr>
          <p:cNvPr id="52" name="Shape 49"/>
          <p:cNvSpPr/>
          <p:nvPr/>
        </p:nvSpPr>
        <p:spPr>
          <a:xfrm>
            <a:off x="5550408" y="2157984"/>
            <a:ext cx="329184" cy="329184"/>
          </a:xfrm>
          <a:prstGeom prst="rect">
            <a:avLst/>
          </a:prstGeom>
          <a:solidFill>
            <a:srgbClr val="FFFFFF"/>
          </a:solidFill>
          <a:ln w="6350">
            <a:solidFill>
              <a:srgbClr val="D5DCE6"/>
            </a:solidFill>
            <a:prstDash val="solid"/>
          </a:ln>
        </p:spPr>
      </p:sp>
      <p:sp>
        <p:nvSpPr>
          <p:cNvPr id="53" name="Shape 50"/>
          <p:cNvSpPr/>
          <p:nvPr/>
        </p:nvSpPr>
        <p:spPr>
          <a:xfrm>
            <a:off x="5879592" y="2157984"/>
            <a:ext cx="329184" cy="329184"/>
          </a:xfrm>
          <a:prstGeom prst="rect">
            <a:avLst/>
          </a:prstGeom>
          <a:solidFill>
            <a:srgbClr val="FFFFFF"/>
          </a:solidFill>
          <a:ln w="6350">
            <a:solidFill>
              <a:srgbClr val="D5DCE6"/>
            </a:solidFill>
            <a:prstDash val="solid"/>
          </a:ln>
        </p:spPr>
      </p:sp>
      <p:sp>
        <p:nvSpPr>
          <p:cNvPr id="54" name="Shape 51"/>
          <p:cNvSpPr/>
          <p:nvPr/>
        </p:nvSpPr>
        <p:spPr>
          <a:xfrm>
            <a:off x="6208776" y="2157984"/>
            <a:ext cx="329184" cy="329184"/>
          </a:xfrm>
          <a:prstGeom prst="rect">
            <a:avLst/>
          </a:prstGeom>
          <a:solidFill>
            <a:srgbClr val="FFFFFF"/>
          </a:solidFill>
          <a:ln w="6350">
            <a:solidFill>
              <a:srgbClr val="D5DCE6"/>
            </a:solidFill>
            <a:prstDash val="solid"/>
          </a:ln>
        </p:spPr>
      </p:sp>
      <p:sp>
        <p:nvSpPr>
          <p:cNvPr id="55" name="Shape 52"/>
          <p:cNvSpPr/>
          <p:nvPr/>
        </p:nvSpPr>
        <p:spPr>
          <a:xfrm>
            <a:off x="6537960" y="2157984"/>
            <a:ext cx="329184" cy="329184"/>
          </a:xfrm>
          <a:prstGeom prst="rect">
            <a:avLst/>
          </a:prstGeom>
          <a:solidFill>
            <a:srgbClr val="FFFFFF"/>
          </a:solidFill>
          <a:ln w="6350">
            <a:solidFill>
              <a:srgbClr val="D5DCE6"/>
            </a:solidFill>
            <a:prstDash val="solid"/>
          </a:ln>
        </p:spPr>
      </p:sp>
      <p:sp>
        <p:nvSpPr>
          <p:cNvPr id="56" name="Shape 53"/>
          <p:cNvSpPr/>
          <p:nvPr/>
        </p:nvSpPr>
        <p:spPr>
          <a:xfrm>
            <a:off x="1600200" y="2487168"/>
            <a:ext cx="329184" cy="329184"/>
          </a:xfrm>
          <a:prstGeom prst="rect">
            <a:avLst/>
          </a:prstGeom>
          <a:solidFill>
            <a:srgbClr val="FFFFFF"/>
          </a:solidFill>
          <a:ln w="6350">
            <a:solidFill>
              <a:srgbClr val="D5DCE6"/>
            </a:solidFill>
            <a:prstDash val="solid"/>
          </a:ln>
        </p:spPr>
      </p:sp>
      <p:sp>
        <p:nvSpPr>
          <p:cNvPr id="57" name="Shape 54"/>
          <p:cNvSpPr/>
          <p:nvPr/>
        </p:nvSpPr>
        <p:spPr>
          <a:xfrm>
            <a:off x="1929384" y="2487168"/>
            <a:ext cx="329184" cy="329184"/>
          </a:xfrm>
          <a:prstGeom prst="rect">
            <a:avLst/>
          </a:prstGeom>
          <a:solidFill>
            <a:srgbClr val="FFFFFF"/>
          </a:solidFill>
          <a:ln w="6350">
            <a:solidFill>
              <a:srgbClr val="D5DCE6"/>
            </a:solidFill>
            <a:prstDash val="solid"/>
          </a:ln>
        </p:spPr>
      </p:sp>
      <p:sp>
        <p:nvSpPr>
          <p:cNvPr id="58" name="Shape 55"/>
          <p:cNvSpPr/>
          <p:nvPr/>
        </p:nvSpPr>
        <p:spPr>
          <a:xfrm>
            <a:off x="2258568" y="2487168"/>
            <a:ext cx="329184" cy="329184"/>
          </a:xfrm>
          <a:prstGeom prst="rect">
            <a:avLst/>
          </a:prstGeom>
          <a:solidFill>
            <a:srgbClr val="FFFFFF"/>
          </a:solidFill>
          <a:ln w="6350">
            <a:solidFill>
              <a:srgbClr val="D5DCE6"/>
            </a:solidFill>
            <a:prstDash val="solid"/>
          </a:ln>
        </p:spPr>
      </p:sp>
      <p:sp>
        <p:nvSpPr>
          <p:cNvPr id="59" name="Shape 56"/>
          <p:cNvSpPr/>
          <p:nvPr/>
        </p:nvSpPr>
        <p:spPr>
          <a:xfrm>
            <a:off x="2587752" y="2487168"/>
            <a:ext cx="329184" cy="329184"/>
          </a:xfrm>
          <a:prstGeom prst="rect">
            <a:avLst/>
          </a:prstGeom>
          <a:solidFill>
            <a:srgbClr val="FFFFFF"/>
          </a:solidFill>
          <a:ln w="6350">
            <a:solidFill>
              <a:srgbClr val="D5DCE6"/>
            </a:solidFill>
            <a:prstDash val="solid"/>
          </a:ln>
        </p:spPr>
      </p:sp>
      <p:sp>
        <p:nvSpPr>
          <p:cNvPr id="60" name="Shape 57"/>
          <p:cNvSpPr/>
          <p:nvPr/>
        </p:nvSpPr>
        <p:spPr>
          <a:xfrm>
            <a:off x="2916936" y="2487168"/>
            <a:ext cx="329184" cy="329184"/>
          </a:xfrm>
          <a:prstGeom prst="rect">
            <a:avLst/>
          </a:prstGeom>
          <a:solidFill>
            <a:srgbClr val="FFFFFF"/>
          </a:solidFill>
          <a:ln w="6350">
            <a:solidFill>
              <a:srgbClr val="D5DCE6"/>
            </a:solidFill>
            <a:prstDash val="solid"/>
          </a:ln>
        </p:spPr>
      </p:sp>
      <p:sp>
        <p:nvSpPr>
          <p:cNvPr id="61" name="Shape 58"/>
          <p:cNvSpPr/>
          <p:nvPr/>
        </p:nvSpPr>
        <p:spPr>
          <a:xfrm>
            <a:off x="3246120" y="2487168"/>
            <a:ext cx="329184" cy="329184"/>
          </a:xfrm>
          <a:prstGeom prst="rect">
            <a:avLst/>
          </a:prstGeom>
          <a:solidFill>
            <a:srgbClr val="FFFFFF"/>
          </a:solidFill>
          <a:ln w="6350">
            <a:solidFill>
              <a:srgbClr val="D5DCE6"/>
            </a:solidFill>
            <a:prstDash val="solid"/>
          </a:ln>
        </p:spPr>
      </p:sp>
      <p:sp>
        <p:nvSpPr>
          <p:cNvPr id="62" name="Shape 59"/>
          <p:cNvSpPr/>
          <p:nvPr/>
        </p:nvSpPr>
        <p:spPr>
          <a:xfrm>
            <a:off x="3575304" y="2487168"/>
            <a:ext cx="329184" cy="329184"/>
          </a:xfrm>
          <a:prstGeom prst="rect">
            <a:avLst/>
          </a:prstGeom>
          <a:solidFill>
            <a:srgbClr val="FFFFFF"/>
          </a:solidFill>
          <a:ln w="6350">
            <a:solidFill>
              <a:srgbClr val="D5DCE6"/>
            </a:solidFill>
            <a:prstDash val="solid"/>
          </a:ln>
        </p:spPr>
      </p:sp>
      <p:sp>
        <p:nvSpPr>
          <p:cNvPr id="63" name="Shape 60"/>
          <p:cNvSpPr/>
          <p:nvPr/>
        </p:nvSpPr>
        <p:spPr>
          <a:xfrm>
            <a:off x="3904488" y="2487168"/>
            <a:ext cx="329184" cy="329184"/>
          </a:xfrm>
          <a:prstGeom prst="rect">
            <a:avLst/>
          </a:prstGeom>
          <a:solidFill>
            <a:srgbClr val="FFFFFF"/>
          </a:solidFill>
          <a:ln w="6350">
            <a:solidFill>
              <a:srgbClr val="D5DCE6"/>
            </a:solidFill>
            <a:prstDash val="solid"/>
          </a:ln>
        </p:spPr>
      </p:sp>
      <p:sp>
        <p:nvSpPr>
          <p:cNvPr id="64" name="Shape 61"/>
          <p:cNvSpPr/>
          <p:nvPr/>
        </p:nvSpPr>
        <p:spPr>
          <a:xfrm>
            <a:off x="4233672" y="2487168"/>
            <a:ext cx="329184" cy="329184"/>
          </a:xfrm>
          <a:prstGeom prst="rect">
            <a:avLst/>
          </a:prstGeom>
          <a:solidFill>
            <a:srgbClr val="B9C9E2"/>
          </a:solidFill>
          <a:ln w="6350">
            <a:solidFill>
              <a:srgbClr val="D5DCE6"/>
            </a:solidFill>
            <a:prstDash val="solid"/>
          </a:ln>
        </p:spPr>
      </p:sp>
      <p:sp>
        <p:nvSpPr>
          <p:cNvPr id="65" name="Shape 62"/>
          <p:cNvSpPr/>
          <p:nvPr/>
        </p:nvSpPr>
        <p:spPr>
          <a:xfrm>
            <a:off x="4562856" y="2487168"/>
            <a:ext cx="329184" cy="329184"/>
          </a:xfrm>
          <a:prstGeom prst="rect">
            <a:avLst/>
          </a:prstGeom>
          <a:solidFill>
            <a:srgbClr val="B9C9E2"/>
          </a:solidFill>
          <a:ln w="6350">
            <a:solidFill>
              <a:srgbClr val="D5DCE6"/>
            </a:solidFill>
            <a:prstDash val="solid"/>
          </a:ln>
        </p:spPr>
      </p:sp>
      <p:sp>
        <p:nvSpPr>
          <p:cNvPr id="66" name="Shape 63"/>
          <p:cNvSpPr/>
          <p:nvPr/>
        </p:nvSpPr>
        <p:spPr>
          <a:xfrm>
            <a:off x="4892040" y="2487168"/>
            <a:ext cx="329184" cy="329184"/>
          </a:xfrm>
          <a:prstGeom prst="rect">
            <a:avLst/>
          </a:prstGeom>
          <a:solidFill>
            <a:srgbClr val="E6A58F"/>
          </a:solidFill>
          <a:ln w="6350">
            <a:solidFill>
              <a:srgbClr val="D5DCE6"/>
            </a:solidFill>
            <a:prstDash val="solid"/>
          </a:ln>
        </p:spPr>
      </p:sp>
      <p:sp>
        <p:nvSpPr>
          <p:cNvPr id="67" name="Shape 64"/>
          <p:cNvSpPr/>
          <p:nvPr/>
        </p:nvSpPr>
        <p:spPr>
          <a:xfrm>
            <a:off x="5221224" y="2487168"/>
            <a:ext cx="329184" cy="329184"/>
          </a:xfrm>
          <a:prstGeom prst="rect">
            <a:avLst/>
          </a:prstGeom>
          <a:solidFill>
            <a:srgbClr val="B9C9E2"/>
          </a:solidFill>
          <a:ln w="6350">
            <a:solidFill>
              <a:srgbClr val="D5DCE6"/>
            </a:solidFill>
            <a:prstDash val="solid"/>
          </a:ln>
        </p:spPr>
      </p:sp>
      <p:sp>
        <p:nvSpPr>
          <p:cNvPr id="68" name="Shape 65"/>
          <p:cNvSpPr/>
          <p:nvPr/>
        </p:nvSpPr>
        <p:spPr>
          <a:xfrm>
            <a:off x="5550408" y="2487168"/>
            <a:ext cx="329184" cy="329184"/>
          </a:xfrm>
          <a:prstGeom prst="rect">
            <a:avLst/>
          </a:prstGeom>
          <a:solidFill>
            <a:srgbClr val="FFFFFF"/>
          </a:solidFill>
          <a:ln w="6350">
            <a:solidFill>
              <a:srgbClr val="D5DCE6"/>
            </a:solidFill>
            <a:prstDash val="solid"/>
          </a:ln>
        </p:spPr>
      </p:sp>
      <p:sp>
        <p:nvSpPr>
          <p:cNvPr id="69" name="Shape 66"/>
          <p:cNvSpPr/>
          <p:nvPr/>
        </p:nvSpPr>
        <p:spPr>
          <a:xfrm>
            <a:off x="5879592" y="2487168"/>
            <a:ext cx="329184" cy="329184"/>
          </a:xfrm>
          <a:prstGeom prst="rect">
            <a:avLst/>
          </a:prstGeom>
          <a:solidFill>
            <a:srgbClr val="FFFFFF"/>
          </a:solidFill>
          <a:ln w="6350">
            <a:solidFill>
              <a:srgbClr val="D5DCE6"/>
            </a:solidFill>
            <a:prstDash val="solid"/>
          </a:ln>
        </p:spPr>
      </p:sp>
      <p:sp>
        <p:nvSpPr>
          <p:cNvPr id="70" name="Shape 67"/>
          <p:cNvSpPr/>
          <p:nvPr/>
        </p:nvSpPr>
        <p:spPr>
          <a:xfrm>
            <a:off x="6208776" y="2487168"/>
            <a:ext cx="329184" cy="329184"/>
          </a:xfrm>
          <a:prstGeom prst="rect">
            <a:avLst/>
          </a:prstGeom>
          <a:solidFill>
            <a:srgbClr val="FFFFFF"/>
          </a:solidFill>
          <a:ln w="6350">
            <a:solidFill>
              <a:srgbClr val="D5DCE6"/>
            </a:solidFill>
            <a:prstDash val="solid"/>
          </a:ln>
        </p:spPr>
      </p:sp>
      <p:sp>
        <p:nvSpPr>
          <p:cNvPr id="71" name="Shape 68"/>
          <p:cNvSpPr/>
          <p:nvPr/>
        </p:nvSpPr>
        <p:spPr>
          <a:xfrm>
            <a:off x="6537960" y="2487168"/>
            <a:ext cx="329184" cy="329184"/>
          </a:xfrm>
          <a:prstGeom prst="rect">
            <a:avLst/>
          </a:prstGeom>
          <a:solidFill>
            <a:srgbClr val="FFFFFF"/>
          </a:solidFill>
          <a:ln w="6350">
            <a:solidFill>
              <a:srgbClr val="D5DCE6"/>
            </a:solidFill>
            <a:prstDash val="solid"/>
          </a:ln>
        </p:spPr>
      </p:sp>
      <p:sp>
        <p:nvSpPr>
          <p:cNvPr id="72" name="Shape 69"/>
          <p:cNvSpPr/>
          <p:nvPr/>
        </p:nvSpPr>
        <p:spPr>
          <a:xfrm>
            <a:off x="1600200" y="2816352"/>
            <a:ext cx="329184" cy="329184"/>
          </a:xfrm>
          <a:prstGeom prst="rect">
            <a:avLst/>
          </a:prstGeom>
          <a:solidFill>
            <a:srgbClr val="FFFFFF"/>
          </a:solidFill>
          <a:ln w="6350">
            <a:solidFill>
              <a:srgbClr val="D5DCE6"/>
            </a:solidFill>
            <a:prstDash val="solid"/>
          </a:ln>
        </p:spPr>
      </p:sp>
      <p:sp>
        <p:nvSpPr>
          <p:cNvPr id="73" name="Shape 70"/>
          <p:cNvSpPr/>
          <p:nvPr/>
        </p:nvSpPr>
        <p:spPr>
          <a:xfrm>
            <a:off x="1929384" y="2816352"/>
            <a:ext cx="329184" cy="329184"/>
          </a:xfrm>
          <a:prstGeom prst="rect">
            <a:avLst/>
          </a:prstGeom>
          <a:solidFill>
            <a:srgbClr val="FFFFFF"/>
          </a:solidFill>
          <a:ln w="6350">
            <a:solidFill>
              <a:srgbClr val="D5DCE6"/>
            </a:solidFill>
            <a:prstDash val="solid"/>
          </a:ln>
        </p:spPr>
      </p:sp>
      <p:sp>
        <p:nvSpPr>
          <p:cNvPr id="74" name="Shape 71"/>
          <p:cNvSpPr/>
          <p:nvPr/>
        </p:nvSpPr>
        <p:spPr>
          <a:xfrm>
            <a:off x="2258568" y="2816352"/>
            <a:ext cx="329184" cy="329184"/>
          </a:xfrm>
          <a:prstGeom prst="rect">
            <a:avLst/>
          </a:prstGeom>
          <a:solidFill>
            <a:srgbClr val="FFFFFF"/>
          </a:solidFill>
          <a:ln w="6350">
            <a:solidFill>
              <a:srgbClr val="D5DCE6"/>
            </a:solidFill>
            <a:prstDash val="solid"/>
          </a:ln>
        </p:spPr>
      </p:sp>
      <p:sp>
        <p:nvSpPr>
          <p:cNvPr id="75" name="Shape 72"/>
          <p:cNvSpPr/>
          <p:nvPr/>
        </p:nvSpPr>
        <p:spPr>
          <a:xfrm>
            <a:off x="2587752" y="2816352"/>
            <a:ext cx="329184" cy="329184"/>
          </a:xfrm>
          <a:prstGeom prst="rect">
            <a:avLst/>
          </a:prstGeom>
          <a:solidFill>
            <a:srgbClr val="FFFFFF"/>
          </a:solidFill>
          <a:ln w="6350">
            <a:solidFill>
              <a:srgbClr val="D5DCE6"/>
            </a:solidFill>
            <a:prstDash val="solid"/>
          </a:ln>
        </p:spPr>
      </p:sp>
      <p:sp>
        <p:nvSpPr>
          <p:cNvPr id="76" name="Shape 73"/>
          <p:cNvSpPr/>
          <p:nvPr/>
        </p:nvSpPr>
        <p:spPr>
          <a:xfrm>
            <a:off x="2916936" y="2816352"/>
            <a:ext cx="329184" cy="329184"/>
          </a:xfrm>
          <a:prstGeom prst="rect">
            <a:avLst/>
          </a:prstGeom>
          <a:solidFill>
            <a:srgbClr val="FFFFFF"/>
          </a:solidFill>
          <a:ln w="6350">
            <a:solidFill>
              <a:srgbClr val="D5DCE6"/>
            </a:solidFill>
            <a:prstDash val="solid"/>
          </a:ln>
        </p:spPr>
      </p:sp>
      <p:sp>
        <p:nvSpPr>
          <p:cNvPr id="77" name="Shape 74"/>
          <p:cNvSpPr/>
          <p:nvPr/>
        </p:nvSpPr>
        <p:spPr>
          <a:xfrm>
            <a:off x="3246120" y="2816352"/>
            <a:ext cx="329184" cy="329184"/>
          </a:xfrm>
          <a:prstGeom prst="rect">
            <a:avLst/>
          </a:prstGeom>
          <a:solidFill>
            <a:srgbClr val="FFFFFF"/>
          </a:solidFill>
          <a:ln w="6350">
            <a:solidFill>
              <a:srgbClr val="D5DCE6"/>
            </a:solidFill>
            <a:prstDash val="solid"/>
          </a:ln>
        </p:spPr>
      </p:sp>
      <p:sp>
        <p:nvSpPr>
          <p:cNvPr id="78" name="Shape 75"/>
          <p:cNvSpPr/>
          <p:nvPr/>
        </p:nvSpPr>
        <p:spPr>
          <a:xfrm>
            <a:off x="3575304" y="2816352"/>
            <a:ext cx="329184" cy="329184"/>
          </a:xfrm>
          <a:prstGeom prst="rect">
            <a:avLst/>
          </a:prstGeom>
          <a:solidFill>
            <a:srgbClr val="FFFFFF"/>
          </a:solidFill>
          <a:ln w="6350">
            <a:solidFill>
              <a:srgbClr val="D5DCE6"/>
            </a:solidFill>
            <a:prstDash val="solid"/>
          </a:ln>
        </p:spPr>
      </p:sp>
      <p:sp>
        <p:nvSpPr>
          <p:cNvPr id="79" name="Shape 76"/>
          <p:cNvSpPr/>
          <p:nvPr/>
        </p:nvSpPr>
        <p:spPr>
          <a:xfrm>
            <a:off x="3904488" y="2816352"/>
            <a:ext cx="329184" cy="329184"/>
          </a:xfrm>
          <a:prstGeom prst="rect">
            <a:avLst/>
          </a:prstGeom>
          <a:solidFill>
            <a:srgbClr val="FFFFFF"/>
          </a:solidFill>
          <a:ln w="6350">
            <a:solidFill>
              <a:srgbClr val="D5DCE6"/>
            </a:solidFill>
            <a:prstDash val="solid"/>
          </a:ln>
        </p:spPr>
      </p:sp>
      <p:sp>
        <p:nvSpPr>
          <p:cNvPr id="80" name="Shape 77"/>
          <p:cNvSpPr/>
          <p:nvPr/>
        </p:nvSpPr>
        <p:spPr>
          <a:xfrm>
            <a:off x="4233672" y="2816352"/>
            <a:ext cx="329184" cy="329184"/>
          </a:xfrm>
          <a:prstGeom prst="rect">
            <a:avLst/>
          </a:prstGeom>
          <a:solidFill>
            <a:srgbClr val="FFFFFF"/>
          </a:solidFill>
          <a:ln w="6350">
            <a:solidFill>
              <a:srgbClr val="D5DCE6"/>
            </a:solidFill>
            <a:prstDash val="solid"/>
          </a:ln>
        </p:spPr>
      </p:sp>
      <p:sp>
        <p:nvSpPr>
          <p:cNvPr id="81" name="Shape 78"/>
          <p:cNvSpPr/>
          <p:nvPr/>
        </p:nvSpPr>
        <p:spPr>
          <a:xfrm>
            <a:off x="4562856" y="2816352"/>
            <a:ext cx="329184" cy="329184"/>
          </a:xfrm>
          <a:prstGeom prst="rect">
            <a:avLst/>
          </a:prstGeom>
          <a:solidFill>
            <a:srgbClr val="FFFFFF"/>
          </a:solidFill>
          <a:ln w="6350">
            <a:solidFill>
              <a:srgbClr val="D5DCE6"/>
            </a:solidFill>
            <a:prstDash val="solid"/>
          </a:ln>
        </p:spPr>
      </p:sp>
      <p:sp>
        <p:nvSpPr>
          <p:cNvPr id="82" name="Shape 79"/>
          <p:cNvSpPr/>
          <p:nvPr/>
        </p:nvSpPr>
        <p:spPr>
          <a:xfrm>
            <a:off x="4892040" y="2816352"/>
            <a:ext cx="329184" cy="329184"/>
          </a:xfrm>
          <a:prstGeom prst="rect">
            <a:avLst/>
          </a:prstGeom>
          <a:solidFill>
            <a:srgbClr val="FFFFFF"/>
          </a:solidFill>
          <a:ln w="6350">
            <a:solidFill>
              <a:srgbClr val="D5DCE6"/>
            </a:solidFill>
            <a:prstDash val="solid"/>
          </a:ln>
        </p:spPr>
      </p:sp>
      <p:sp>
        <p:nvSpPr>
          <p:cNvPr id="83" name="Shape 80"/>
          <p:cNvSpPr/>
          <p:nvPr/>
        </p:nvSpPr>
        <p:spPr>
          <a:xfrm>
            <a:off x="5221224" y="2816352"/>
            <a:ext cx="329184" cy="329184"/>
          </a:xfrm>
          <a:prstGeom prst="rect">
            <a:avLst/>
          </a:prstGeom>
          <a:solidFill>
            <a:srgbClr val="FFFFFF"/>
          </a:solidFill>
          <a:ln w="6350">
            <a:solidFill>
              <a:srgbClr val="D5DCE6"/>
            </a:solidFill>
            <a:prstDash val="solid"/>
          </a:ln>
        </p:spPr>
      </p:sp>
      <p:sp>
        <p:nvSpPr>
          <p:cNvPr id="84" name="Shape 81"/>
          <p:cNvSpPr/>
          <p:nvPr/>
        </p:nvSpPr>
        <p:spPr>
          <a:xfrm>
            <a:off x="5550408" y="2816352"/>
            <a:ext cx="329184" cy="329184"/>
          </a:xfrm>
          <a:prstGeom prst="rect">
            <a:avLst/>
          </a:prstGeom>
          <a:solidFill>
            <a:srgbClr val="D3D9E2"/>
          </a:solidFill>
          <a:ln w="6350">
            <a:solidFill>
              <a:srgbClr val="D5DCE6"/>
            </a:solidFill>
            <a:prstDash val="solid"/>
          </a:ln>
        </p:spPr>
      </p:sp>
      <p:sp>
        <p:nvSpPr>
          <p:cNvPr id="85" name="Shape 82"/>
          <p:cNvSpPr/>
          <p:nvPr/>
        </p:nvSpPr>
        <p:spPr>
          <a:xfrm>
            <a:off x="5879592" y="2816352"/>
            <a:ext cx="329184" cy="329184"/>
          </a:xfrm>
          <a:prstGeom prst="rect">
            <a:avLst/>
          </a:prstGeom>
          <a:solidFill>
            <a:srgbClr val="E6A58F"/>
          </a:solidFill>
          <a:ln w="6350">
            <a:solidFill>
              <a:srgbClr val="D5DCE6"/>
            </a:solidFill>
            <a:prstDash val="solid"/>
          </a:ln>
        </p:spPr>
      </p:sp>
      <p:sp>
        <p:nvSpPr>
          <p:cNvPr id="86" name="Shape 83"/>
          <p:cNvSpPr/>
          <p:nvPr/>
        </p:nvSpPr>
        <p:spPr>
          <a:xfrm>
            <a:off x="6208776" y="2816352"/>
            <a:ext cx="329184" cy="329184"/>
          </a:xfrm>
          <a:prstGeom prst="rect">
            <a:avLst/>
          </a:prstGeom>
          <a:solidFill>
            <a:srgbClr val="E6A58F"/>
          </a:solidFill>
          <a:ln w="6350">
            <a:solidFill>
              <a:srgbClr val="D5DCE6"/>
            </a:solidFill>
            <a:prstDash val="solid"/>
          </a:ln>
        </p:spPr>
      </p:sp>
      <p:sp>
        <p:nvSpPr>
          <p:cNvPr id="87" name="Shape 84"/>
          <p:cNvSpPr/>
          <p:nvPr/>
        </p:nvSpPr>
        <p:spPr>
          <a:xfrm>
            <a:off x="6537960" y="2816352"/>
            <a:ext cx="329184" cy="329184"/>
          </a:xfrm>
          <a:prstGeom prst="rect">
            <a:avLst/>
          </a:prstGeom>
          <a:solidFill>
            <a:srgbClr val="D3D9E2"/>
          </a:solidFill>
          <a:ln w="6350">
            <a:solidFill>
              <a:srgbClr val="D5DCE6"/>
            </a:solidFill>
            <a:prstDash val="solid"/>
          </a:ln>
        </p:spPr>
      </p:sp>
      <p:sp>
        <p:nvSpPr>
          <p:cNvPr id="88" name="Shape 85"/>
          <p:cNvSpPr/>
          <p:nvPr/>
        </p:nvSpPr>
        <p:spPr>
          <a:xfrm>
            <a:off x="1600200" y="3145536"/>
            <a:ext cx="329184" cy="329184"/>
          </a:xfrm>
          <a:prstGeom prst="rect">
            <a:avLst/>
          </a:prstGeom>
          <a:solidFill>
            <a:srgbClr val="D3D9E2"/>
          </a:solidFill>
          <a:ln w="6350">
            <a:solidFill>
              <a:srgbClr val="D5DCE6"/>
            </a:solidFill>
            <a:prstDash val="solid"/>
          </a:ln>
        </p:spPr>
      </p:sp>
      <p:sp>
        <p:nvSpPr>
          <p:cNvPr id="89" name="Shape 86"/>
          <p:cNvSpPr/>
          <p:nvPr/>
        </p:nvSpPr>
        <p:spPr>
          <a:xfrm>
            <a:off x="1929384" y="3145536"/>
            <a:ext cx="329184" cy="329184"/>
          </a:xfrm>
          <a:prstGeom prst="rect">
            <a:avLst/>
          </a:prstGeom>
          <a:solidFill>
            <a:srgbClr val="D3D9E2"/>
          </a:solidFill>
          <a:ln w="6350">
            <a:solidFill>
              <a:srgbClr val="D5DCE6"/>
            </a:solidFill>
            <a:prstDash val="solid"/>
          </a:ln>
        </p:spPr>
      </p:sp>
      <p:sp>
        <p:nvSpPr>
          <p:cNvPr id="90" name="Shape 87"/>
          <p:cNvSpPr/>
          <p:nvPr/>
        </p:nvSpPr>
        <p:spPr>
          <a:xfrm>
            <a:off x="2258568" y="3145536"/>
            <a:ext cx="329184" cy="329184"/>
          </a:xfrm>
          <a:prstGeom prst="rect">
            <a:avLst/>
          </a:prstGeom>
          <a:solidFill>
            <a:srgbClr val="E6A58F"/>
          </a:solidFill>
          <a:ln w="6350">
            <a:solidFill>
              <a:srgbClr val="D5DCE6"/>
            </a:solidFill>
            <a:prstDash val="solid"/>
          </a:ln>
        </p:spPr>
      </p:sp>
      <p:sp>
        <p:nvSpPr>
          <p:cNvPr id="91" name="Shape 88"/>
          <p:cNvSpPr/>
          <p:nvPr/>
        </p:nvSpPr>
        <p:spPr>
          <a:xfrm>
            <a:off x="2587752" y="3145536"/>
            <a:ext cx="329184" cy="329184"/>
          </a:xfrm>
          <a:prstGeom prst="rect">
            <a:avLst/>
          </a:prstGeom>
          <a:solidFill>
            <a:srgbClr val="D3D9E2"/>
          </a:solidFill>
          <a:ln w="6350">
            <a:solidFill>
              <a:srgbClr val="D5DCE6"/>
            </a:solidFill>
            <a:prstDash val="solid"/>
          </a:ln>
        </p:spPr>
      </p:sp>
      <p:sp>
        <p:nvSpPr>
          <p:cNvPr id="92" name="Shape 89"/>
          <p:cNvSpPr/>
          <p:nvPr/>
        </p:nvSpPr>
        <p:spPr>
          <a:xfrm>
            <a:off x="2916936" y="3145536"/>
            <a:ext cx="329184" cy="329184"/>
          </a:xfrm>
          <a:prstGeom prst="rect">
            <a:avLst/>
          </a:prstGeom>
          <a:solidFill>
            <a:srgbClr val="D3D9E2"/>
          </a:solidFill>
          <a:ln w="6350">
            <a:solidFill>
              <a:srgbClr val="D5DCE6"/>
            </a:solidFill>
            <a:prstDash val="solid"/>
          </a:ln>
        </p:spPr>
      </p:sp>
      <p:sp>
        <p:nvSpPr>
          <p:cNvPr id="93" name="Shape 90"/>
          <p:cNvSpPr/>
          <p:nvPr/>
        </p:nvSpPr>
        <p:spPr>
          <a:xfrm>
            <a:off x="3246120" y="3145536"/>
            <a:ext cx="329184" cy="329184"/>
          </a:xfrm>
          <a:prstGeom prst="rect">
            <a:avLst/>
          </a:prstGeom>
          <a:solidFill>
            <a:srgbClr val="D3D9E2"/>
          </a:solidFill>
          <a:ln w="6350">
            <a:solidFill>
              <a:srgbClr val="D5DCE6"/>
            </a:solidFill>
            <a:prstDash val="solid"/>
          </a:ln>
        </p:spPr>
      </p:sp>
      <p:sp>
        <p:nvSpPr>
          <p:cNvPr id="94" name="Shape 91"/>
          <p:cNvSpPr/>
          <p:nvPr/>
        </p:nvSpPr>
        <p:spPr>
          <a:xfrm>
            <a:off x="3575304" y="3145536"/>
            <a:ext cx="329184" cy="329184"/>
          </a:xfrm>
          <a:prstGeom prst="rect">
            <a:avLst/>
          </a:prstGeom>
          <a:solidFill>
            <a:srgbClr val="E6A58F"/>
          </a:solidFill>
          <a:ln w="6350">
            <a:solidFill>
              <a:srgbClr val="D5DCE6"/>
            </a:solidFill>
            <a:prstDash val="solid"/>
          </a:ln>
        </p:spPr>
      </p:sp>
      <p:sp>
        <p:nvSpPr>
          <p:cNvPr id="95" name="Shape 92"/>
          <p:cNvSpPr/>
          <p:nvPr/>
        </p:nvSpPr>
        <p:spPr>
          <a:xfrm>
            <a:off x="3904488" y="3145536"/>
            <a:ext cx="329184" cy="329184"/>
          </a:xfrm>
          <a:prstGeom prst="rect">
            <a:avLst/>
          </a:prstGeom>
          <a:solidFill>
            <a:srgbClr val="D3D9E2"/>
          </a:solidFill>
          <a:ln w="6350">
            <a:solidFill>
              <a:srgbClr val="D5DCE6"/>
            </a:solidFill>
            <a:prstDash val="solid"/>
          </a:ln>
        </p:spPr>
      </p:sp>
      <p:sp>
        <p:nvSpPr>
          <p:cNvPr id="96" name="Shape 93"/>
          <p:cNvSpPr/>
          <p:nvPr/>
        </p:nvSpPr>
        <p:spPr>
          <a:xfrm>
            <a:off x="4233672" y="3145536"/>
            <a:ext cx="329184" cy="329184"/>
          </a:xfrm>
          <a:prstGeom prst="rect">
            <a:avLst/>
          </a:prstGeom>
          <a:solidFill>
            <a:srgbClr val="D3D9E2"/>
          </a:solidFill>
          <a:ln w="6350">
            <a:solidFill>
              <a:srgbClr val="D5DCE6"/>
            </a:solidFill>
            <a:prstDash val="solid"/>
          </a:ln>
        </p:spPr>
      </p:sp>
      <p:sp>
        <p:nvSpPr>
          <p:cNvPr id="97" name="Shape 94"/>
          <p:cNvSpPr/>
          <p:nvPr/>
        </p:nvSpPr>
        <p:spPr>
          <a:xfrm>
            <a:off x="4562856" y="3145536"/>
            <a:ext cx="329184" cy="329184"/>
          </a:xfrm>
          <a:prstGeom prst="rect">
            <a:avLst/>
          </a:prstGeom>
          <a:solidFill>
            <a:srgbClr val="D3D9E2"/>
          </a:solidFill>
          <a:ln w="6350">
            <a:solidFill>
              <a:srgbClr val="D5DCE6"/>
            </a:solidFill>
            <a:prstDash val="solid"/>
          </a:ln>
        </p:spPr>
      </p:sp>
      <p:sp>
        <p:nvSpPr>
          <p:cNvPr id="98" name="Shape 95"/>
          <p:cNvSpPr/>
          <p:nvPr/>
        </p:nvSpPr>
        <p:spPr>
          <a:xfrm>
            <a:off x="4892040" y="3145536"/>
            <a:ext cx="329184" cy="329184"/>
          </a:xfrm>
          <a:prstGeom prst="rect">
            <a:avLst/>
          </a:prstGeom>
          <a:solidFill>
            <a:srgbClr val="E6A58F"/>
          </a:solidFill>
          <a:ln w="6350">
            <a:solidFill>
              <a:srgbClr val="D5DCE6"/>
            </a:solidFill>
            <a:prstDash val="solid"/>
          </a:ln>
        </p:spPr>
      </p:sp>
      <p:sp>
        <p:nvSpPr>
          <p:cNvPr id="99" name="Shape 96"/>
          <p:cNvSpPr/>
          <p:nvPr/>
        </p:nvSpPr>
        <p:spPr>
          <a:xfrm>
            <a:off x="5221224" y="3145536"/>
            <a:ext cx="329184" cy="329184"/>
          </a:xfrm>
          <a:prstGeom prst="rect">
            <a:avLst/>
          </a:prstGeom>
          <a:solidFill>
            <a:srgbClr val="D3D9E2"/>
          </a:solidFill>
          <a:ln w="6350">
            <a:solidFill>
              <a:srgbClr val="D5DCE6"/>
            </a:solidFill>
            <a:prstDash val="solid"/>
          </a:ln>
        </p:spPr>
      </p:sp>
      <p:sp>
        <p:nvSpPr>
          <p:cNvPr id="100" name="Shape 97"/>
          <p:cNvSpPr/>
          <p:nvPr/>
        </p:nvSpPr>
        <p:spPr>
          <a:xfrm>
            <a:off x="5550408" y="3145536"/>
            <a:ext cx="329184" cy="329184"/>
          </a:xfrm>
          <a:prstGeom prst="rect">
            <a:avLst/>
          </a:prstGeom>
          <a:solidFill>
            <a:srgbClr val="D3D9E2"/>
          </a:solidFill>
          <a:ln w="6350">
            <a:solidFill>
              <a:srgbClr val="D5DCE6"/>
            </a:solidFill>
            <a:prstDash val="solid"/>
          </a:ln>
        </p:spPr>
      </p:sp>
      <p:sp>
        <p:nvSpPr>
          <p:cNvPr id="101" name="Shape 98"/>
          <p:cNvSpPr/>
          <p:nvPr/>
        </p:nvSpPr>
        <p:spPr>
          <a:xfrm>
            <a:off x="5879592" y="3145536"/>
            <a:ext cx="329184" cy="329184"/>
          </a:xfrm>
          <a:prstGeom prst="rect">
            <a:avLst/>
          </a:prstGeom>
          <a:solidFill>
            <a:srgbClr val="E6A58F"/>
          </a:solidFill>
          <a:ln w="6350">
            <a:solidFill>
              <a:srgbClr val="D5DCE6"/>
            </a:solidFill>
            <a:prstDash val="solid"/>
          </a:ln>
        </p:spPr>
      </p:sp>
      <p:sp>
        <p:nvSpPr>
          <p:cNvPr id="102" name="Shape 99"/>
          <p:cNvSpPr/>
          <p:nvPr/>
        </p:nvSpPr>
        <p:spPr>
          <a:xfrm>
            <a:off x="6208776" y="3145536"/>
            <a:ext cx="329184" cy="329184"/>
          </a:xfrm>
          <a:prstGeom prst="rect">
            <a:avLst/>
          </a:prstGeom>
          <a:solidFill>
            <a:srgbClr val="E6A58F"/>
          </a:solidFill>
          <a:ln w="6350">
            <a:solidFill>
              <a:srgbClr val="D5DCE6"/>
            </a:solidFill>
            <a:prstDash val="solid"/>
          </a:ln>
        </p:spPr>
      </p:sp>
      <p:sp>
        <p:nvSpPr>
          <p:cNvPr id="103" name="Shape 100"/>
          <p:cNvSpPr/>
          <p:nvPr/>
        </p:nvSpPr>
        <p:spPr>
          <a:xfrm>
            <a:off x="6537960" y="3145536"/>
            <a:ext cx="329184" cy="329184"/>
          </a:xfrm>
          <a:prstGeom prst="rect">
            <a:avLst/>
          </a:prstGeom>
          <a:solidFill>
            <a:srgbClr val="D3D9E2"/>
          </a:solidFill>
          <a:ln w="6350">
            <a:solidFill>
              <a:srgbClr val="D5DCE6"/>
            </a:solidFill>
            <a:prstDash val="solid"/>
          </a:ln>
        </p:spPr>
      </p:sp>
      <p:sp>
        <p:nvSpPr>
          <p:cNvPr id="104" name="Shape 101"/>
          <p:cNvSpPr/>
          <p:nvPr/>
        </p:nvSpPr>
        <p:spPr>
          <a:xfrm>
            <a:off x="2916936" y="1828800"/>
            <a:ext cx="0" cy="1645920"/>
          </a:xfrm>
          <a:prstGeom prst="line">
            <a:avLst/>
          </a:prstGeom>
          <a:noFill/>
          <a:ln w="12700">
            <a:solidFill>
              <a:srgbClr val="14284B"/>
            </a:solidFill>
            <a:prstDash val="solid"/>
          </a:ln>
        </p:spPr>
      </p:sp>
      <p:sp>
        <p:nvSpPr>
          <p:cNvPr id="105" name="Shape 102"/>
          <p:cNvSpPr/>
          <p:nvPr/>
        </p:nvSpPr>
        <p:spPr>
          <a:xfrm>
            <a:off x="4233672" y="1828800"/>
            <a:ext cx="0" cy="1645920"/>
          </a:xfrm>
          <a:prstGeom prst="line">
            <a:avLst/>
          </a:prstGeom>
          <a:noFill/>
          <a:ln w="12700">
            <a:solidFill>
              <a:srgbClr val="14284B"/>
            </a:solidFill>
            <a:prstDash val="solid"/>
          </a:ln>
        </p:spPr>
      </p:sp>
      <p:sp>
        <p:nvSpPr>
          <p:cNvPr id="106" name="Shape 103"/>
          <p:cNvSpPr/>
          <p:nvPr/>
        </p:nvSpPr>
        <p:spPr>
          <a:xfrm>
            <a:off x="5550408" y="1828800"/>
            <a:ext cx="0" cy="1645920"/>
          </a:xfrm>
          <a:prstGeom prst="line">
            <a:avLst/>
          </a:prstGeom>
          <a:noFill/>
          <a:ln w="12700">
            <a:solidFill>
              <a:srgbClr val="14284B"/>
            </a:solidFill>
            <a:prstDash val="solid"/>
          </a:ln>
        </p:spPr>
      </p:sp>
      <p:sp>
        <p:nvSpPr>
          <p:cNvPr id="107" name="Shape 104"/>
          <p:cNvSpPr/>
          <p:nvPr/>
        </p:nvSpPr>
        <p:spPr>
          <a:xfrm>
            <a:off x="1600200" y="3145536"/>
            <a:ext cx="5266944" cy="0"/>
          </a:xfrm>
          <a:prstGeom prst="line">
            <a:avLst/>
          </a:prstGeom>
          <a:noFill/>
          <a:ln w="12700">
            <a:solidFill>
              <a:srgbClr val="14284B"/>
            </a:solidFill>
            <a:prstDash val="solid"/>
          </a:ln>
        </p:spPr>
      </p:sp>
      <p:sp>
        <p:nvSpPr>
          <p:cNvPr id="108" name="Text 105"/>
          <p:cNvSpPr txBox="1"/>
          <p:nvPr/>
        </p:nvSpPr>
        <p:spPr>
          <a:xfrm>
            <a:off x="685800" y="1828800"/>
            <a:ext cx="822960" cy="329184"/>
          </a:xfrm>
          <a:prstGeom prst="rect">
            <a:avLst/>
          </a:prstGeom>
          <a:noFill/>
          <a:ln/>
        </p:spPr>
        <p:txBody>
          <a:bodyPr wrap="square" lIns="0" tIns="0" rIns="0" bIns="0" rtlCol="0" anchor="ctr"/>
          <a:lstStyle/>
          <a:p>
            <a:pPr algn="r" indent="0" marL="0">
              <a:buNone/>
            </a:pPr>
            <a:r>
              <a:rPr lang="en-US" sz="1300" b="1" dirty="0">
                <a:solidFill>
                  <a:srgbClr val="2F6DB5"/>
                </a:solidFill>
                <a:latin typeface="Cambria" pitchFamily="34" charset="0"/>
                <a:ea typeface="Cambria" pitchFamily="34" charset="-122"/>
                <a:cs typeface="Cambria" pitchFamily="34" charset="-120"/>
              </a:rPr>
              <a:t>H₀</a:t>
            </a:r>
            <a:endParaRPr lang="en-US" sz="1300" dirty="0"/>
          </a:p>
        </p:txBody>
      </p:sp>
      <p:sp>
        <p:nvSpPr>
          <p:cNvPr id="109" name="Text 106"/>
          <p:cNvSpPr txBox="1"/>
          <p:nvPr/>
        </p:nvSpPr>
        <p:spPr>
          <a:xfrm>
            <a:off x="685800" y="2157984"/>
            <a:ext cx="822960" cy="329184"/>
          </a:xfrm>
          <a:prstGeom prst="rect">
            <a:avLst/>
          </a:prstGeom>
          <a:noFill/>
          <a:ln/>
        </p:spPr>
        <p:txBody>
          <a:bodyPr wrap="square" lIns="0" tIns="0" rIns="0" bIns="0" rtlCol="0" anchor="ctr"/>
          <a:lstStyle/>
          <a:p>
            <a:pPr algn="r" indent="0" marL="0">
              <a:buNone/>
            </a:pPr>
            <a:r>
              <a:rPr lang="en-US" sz="1300" b="1" dirty="0">
                <a:solidFill>
                  <a:srgbClr val="2F6DB5"/>
                </a:solidFill>
                <a:latin typeface="Cambria" pitchFamily="34" charset="0"/>
                <a:ea typeface="Cambria" pitchFamily="34" charset="-122"/>
                <a:cs typeface="Cambria" pitchFamily="34" charset="-120"/>
              </a:rPr>
              <a:t>H₁</a:t>
            </a:r>
            <a:endParaRPr lang="en-US" sz="1300" dirty="0"/>
          </a:p>
        </p:txBody>
      </p:sp>
      <p:sp>
        <p:nvSpPr>
          <p:cNvPr id="110" name="Text 107"/>
          <p:cNvSpPr txBox="1"/>
          <p:nvPr/>
        </p:nvSpPr>
        <p:spPr>
          <a:xfrm>
            <a:off x="685800" y="2487168"/>
            <a:ext cx="822960" cy="329184"/>
          </a:xfrm>
          <a:prstGeom prst="rect">
            <a:avLst/>
          </a:prstGeom>
          <a:noFill/>
          <a:ln/>
        </p:spPr>
        <p:txBody>
          <a:bodyPr wrap="square" lIns="0" tIns="0" rIns="0" bIns="0" rtlCol="0" anchor="ctr"/>
          <a:lstStyle/>
          <a:p>
            <a:pPr algn="r" indent="0" marL="0">
              <a:buNone/>
            </a:pPr>
            <a:r>
              <a:rPr lang="en-US" sz="1300" b="1" dirty="0">
                <a:solidFill>
                  <a:srgbClr val="2F6DB5"/>
                </a:solidFill>
                <a:latin typeface="Cambria" pitchFamily="34" charset="0"/>
                <a:ea typeface="Cambria" pitchFamily="34" charset="-122"/>
                <a:cs typeface="Cambria" pitchFamily="34" charset="-120"/>
              </a:rPr>
              <a:t>H₂</a:t>
            </a:r>
            <a:endParaRPr lang="en-US" sz="1300" dirty="0"/>
          </a:p>
        </p:txBody>
      </p:sp>
      <p:sp>
        <p:nvSpPr>
          <p:cNvPr id="111" name="Shape 108"/>
          <p:cNvSpPr/>
          <p:nvPr/>
        </p:nvSpPr>
        <p:spPr>
          <a:xfrm>
            <a:off x="1545336" y="2788920"/>
            <a:ext cx="5376672" cy="713232"/>
          </a:xfrm>
          <a:prstGeom prst="rect">
            <a:avLst/>
          </a:prstGeom>
          <a:ln w="19050">
            <a:solidFill>
              <a:srgbClr val="B5472A"/>
            </a:solidFill>
            <a:prstDash val="dash"/>
          </a:ln>
        </p:spPr>
      </p:sp>
      <p:sp>
        <p:nvSpPr>
          <p:cNvPr id="112" name="Text 109"/>
          <p:cNvSpPr txBox="1"/>
          <p:nvPr/>
        </p:nvSpPr>
        <p:spPr>
          <a:xfrm>
            <a:off x="594360" y="2816352"/>
            <a:ext cx="914400" cy="658368"/>
          </a:xfrm>
          <a:prstGeom prst="rect">
            <a:avLst/>
          </a:prstGeom>
          <a:noFill/>
          <a:ln/>
        </p:spPr>
        <p:txBody>
          <a:bodyPr wrap="square" lIns="0" tIns="0" rIns="0" bIns="0" rtlCol="0" anchor="ctr"/>
          <a:lstStyle/>
          <a:p>
            <a:pPr algn="r" indent="0" marL="0">
              <a:buNone/>
            </a:pPr>
            <a:r>
              <a:rPr lang="en-US" sz="1300" b="1" dirty="0">
                <a:solidFill>
                  <a:srgbClr val="B5472A"/>
                </a:solidFill>
                <a:latin typeface="Cambria" pitchFamily="34" charset="0"/>
                <a:ea typeface="Cambria" pitchFamily="34" charset="-122"/>
                <a:cs typeface="Cambria" pitchFamily="34" charset="-120"/>
              </a:rPr>
              <a:t>H_rest</a:t>
            </a:r>
            <a:endParaRPr lang="en-US" sz="1300" dirty="0"/>
          </a:p>
        </p:txBody>
      </p:sp>
      <p:sp>
        <p:nvSpPr>
          <p:cNvPr id="113" name="Text 110"/>
          <p:cNvSpPr txBox="1"/>
          <p:nvPr/>
        </p:nvSpPr>
        <p:spPr>
          <a:xfrm>
            <a:off x="1600200" y="3566160"/>
            <a:ext cx="5669280" cy="457200"/>
          </a:xfrm>
          <a:prstGeom prst="rect">
            <a:avLst/>
          </a:prstGeom>
          <a:noFill/>
          <a:ln/>
        </p:spPr>
        <p:txBody>
          <a:bodyPr wrap="square" lIns="0" tIns="0" rIns="0" bIns="0" rtlCol="0" anchor="t"/>
          <a:lstStyle/>
          <a:p>
            <a:pPr indent="0" marL="0">
              <a:buNone/>
            </a:pPr>
            <a:r>
              <a:rPr lang="en-US" sz="1000" dirty="0">
                <a:solidFill>
                  <a:srgbClr val="5F6B7A"/>
                </a:solidFill>
                <a:latin typeface="Calibri" pitchFamily="34" charset="0"/>
                <a:ea typeface="Calibri" pitchFamily="34" charset="-122"/>
                <a:cs typeface="Calibri" pitchFamily="34" charset="-120"/>
              </a:rPr>
              <a:t>disk 2 lost (cols 2, 6, 10, 14) + extra sector b₁₃ · red = coefficient on a faulty sector</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206240"/>
          <a:ext cx="6309360" cy="914400"/>
        </p:xfrm>
        <a:graphic>
          <a:graphicData uri="http://schemas.openxmlformats.org/drawingml/2006/table">
            <a:tbl>
              <a:tblPr/>
              <a:tblGrid>
                <a:gridCol w="1234440"/>
                <a:gridCol w="2148840"/>
                <a:gridCol w="1325880"/>
                <a:gridCol w="1600200"/>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Group</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Equations used</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Faults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Sequence</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r>
              <a:tr h="384048">
                <a:tc>
                  <a:txBody>
                    <a:bodyPr/>
                    <a:lstStyle/>
                    <a:p>
                      <a:pPr algn="l" indent="0" marL="0">
                        <a:buNone/>
                      </a:pPr>
                      <a:r>
                        <a:rPr lang="en-US" sz="1200" b="1" dirty="0">
                          <a:solidFill>
                            <a:srgbClr val="2F6DB5"/>
                          </a:solidFill>
                          <a:latin typeface="Calibri" pitchFamily="34" charset="0"/>
                          <a:ea typeface="Calibri" pitchFamily="34" charset="-122"/>
                          <a:cs typeface="Calibri" pitchFamily="34" charset="-120"/>
                        </a:rPr>
                        <a:t>H₀ · H₁ · H₂</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row-local, own stripe row</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{2} · {6} · {10}</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matrix_first, parallel</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84048">
                <a:tc>
                  <a:txBody>
                    <a:bodyPr/>
                    <a:lstStyle/>
                    <a:p>
                      <a:pPr algn="l" indent="0" marL="0">
                        <a:buNone/>
                      </a:pPr>
                      <a:r>
                        <a:rPr lang="en-US" sz="1200" b="1" dirty="0">
                          <a:solidFill>
                            <a:srgbClr val="2F6DB5"/>
                          </a:solidFill>
                          <a:latin typeface="Calibri" pitchFamily="34" charset="0"/>
                          <a:ea typeface="Calibri" pitchFamily="34" charset="-122"/>
                          <a:cs typeface="Calibri" pitchFamily="34" charset="-120"/>
                        </a:rPr>
                        <a:t>H_rest</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row-local row 3 + dense row</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{13, 14}</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normal, after barrier</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bl>
          </a:graphicData>
        </a:graphic>
      </p:graphicFrame>
      <p:sp>
        <p:nvSpPr>
          <p:cNvPr id="115" name="Text 111"/>
          <p:cNvSpPr txBox="1"/>
          <p:nvPr/>
        </p:nvSpPr>
        <p:spPr>
          <a:xfrm>
            <a:off x="7269480" y="1298448"/>
            <a:ext cx="4370832" cy="274320"/>
          </a:xfrm>
          <a:prstGeom prst="rect">
            <a:avLst/>
          </a:prstGeom>
          <a:noFill/>
          <a:ln/>
        </p:spPr>
        <p:txBody>
          <a:bodyPr wrap="square" lIns="0" tIns="0" rIns="0" bIns="0" rtlCol="0" anchor="t"/>
          <a:lstStyle/>
          <a:p>
            <a:pPr indent="0" marL="0">
              <a:buNone/>
            </a:pPr>
            <a:r>
              <a:rPr lang="en-US" sz="1400" b="1" dirty="0">
                <a:solidFill>
                  <a:srgbClr val="14284B"/>
                </a:solidFill>
                <a:latin typeface="Calibri" pitchFamily="34" charset="0"/>
                <a:ea typeface="Calibri" pitchFamily="34" charset="-122"/>
                <a:cs typeface="Calibri" pitchFamily="34" charset="-120"/>
              </a:rPr>
              <a:t>Partition rule (per physical stripe row)</a:t>
            </a:r>
            <a:endParaRPr lang="en-US" sz="1400" dirty="0"/>
          </a:p>
        </p:txBody>
      </p:sp>
      <p:sp>
        <p:nvSpPr>
          <p:cNvPr id="116" name="Shape 112"/>
          <p:cNvSpPr/>
          <p:nvPr/>
        </p:nvSpPr>
        <p:spPr>
          <a:xfrm>
            <a:off x="7269480" y="1645920"/>
            <a:ext cx="4370832" cy="1097280"/>
          </a:xfrm>
          <a:prstGeom prst="rect">
            <a:avLst/>
          </a:prstGeom>
          <a:solidFill>
            <a:srgbClr val="EEF2F8"/>
          </a:solidFill>
          <a:ln/>
        </p:spPr>
      </p:sp>
      <p:sp>
        <p:nvSpPr>
          <p:cNvPr id="117" name="Text 113"/>
          <p:cNvSpPr txBox="1"/>
          <p:nvPr/>
        </p:nvSpPr>
        <p:spPr>
          <a:xfrm>
            <a:off x="7452360" y="1645920"/>
            <a:ext cx="4005072" cy="1097280"/>
          </a:xfrm>
          <a:prstGeom prst="rect">
            <a:avLst/>
          </a:prstGeom>
          <a:noFill/>
          <a:ln/>
        </p:spPr>
        <p:txBody>
          <a:bodyPr wrap="square" lIns="0" tIns="0" rIns="0" bIns="0" rtlCol="0" anchor="ctr"/>
          <a:lstStyle/>
          <a:p>
            <a:pPr indent="0" marL="0">
              <a:buNone/>
            </a:pPr>
            <a:r>
              <a:rPr lang="en-US" sz="1400" b="1" dirty="0">
                <a:solidFill>
                  <a:srgbClr val="2F6DB5"/>
                </a:solidFill>
                <a:latin typeface="Calibri" pitchFamily="34" charset="0"/>
                <a:ea typeface="Calibri" pitchFamily="34" charset="-122"/>
                <a:cs typeface="Calibri" pitchFamily="34" charset="-120"/>
              </a:rPr>
              <a:t>faults = m  </a:t>
            </a:r>
            <a:r>
              <a:rPr lang="en-US" sz="1400" dirty="0">
                <a:solidFill>
                  <a:srgbClr val="222222"/>
                </a:solidFill>
                <a:latin typeface="Calibri" pitchFamily="34" charset="0"/>
                <a:ea typeface="Calibri" pitchFamily="34" charset="-122"/>
                <a:cs typeface="Calibri" pitchFamily="34" charset="-120"/>
              </a:rPr>
              <a:t>→ independent group H_i</a:t>
            </a:r>
            <a:endParaRPr lang="en-US" sz="1400" dirty="0"/>
          </a:p>
          <a:p>
            <a:pPr indent="0" marL="0">
              <a:buNone/>
            </a:pPr>
            <a:r>
              <a:rPr lang="en-US" sz="1400" b="1" dirty="0">
                <a:solidFill>
                  <a:srgbClr val="B5472A"/>
                </a:solidFill>
                <a:latin typeface="Calibri" pitchFamily="34" charset="0"/>
                <a:ea typeface="Calibri" pitchFamily="34" charset="-122"/>
                <a:cs typeface="Calibri" pitchFamily="34" charset="-120"/>
              </a:rPr>
              <a:t>faults &gt; m  </a:t>
            </a:r>
            <a:r>
              <a:rPr lang="en-US" sz="1400" dirty="0">
                <a:solidFill>
                  <a:srgbClr val="222222"/>
                </a:solidFill>
                <a:latin typeface="Calibri" pitchFamily="34" charset="0"/>
                <a:ea typeface="Calibri" pitchFamily="34" charset="-122"/>
                <a:cs typeface="Calibri" pitchFamily="34" charset="-120"/>
              </a:rPr>
              <a:t>→ dependent remainder H_rest</a:t>
            </a:r>
            <a:endParaRPr lang="en-US" sz="1400" dirty="0"/>
          </a:p>
        </p:txBody>
      </p:sp>
      <p:sp>
        <p:nvSpPr>
          <p:cNvPr id="118" name="Shape 114"/>
          <p:cNvSpPr/>
          <p:nvPr/>
        </p:nvSpPr>
        <p:spPr>
          <a:xfrm>
            <a:off x="7269480" y="2926080"/>
            <a:ext cx="4370832" cy="1143000"/>
          </a:xfrm>
          <a:prstGeom prst="rect">
            <a:avLst/>
          </a:prstGeom>
          <a:solidFill>
            <a:srgbClr val="FFFFFF"/>
          </a:solidFill>
          <a:ln w="12700">
            <a:solidFill>
              <a:srgbClr val="C9D2DE"/>
            </a:solidFill>
            <a:prstDash val="solid"/>
          </a:ln>
        </p:spPr>
      </p:sp>
      <p:sp>
        <p:nvSpPr>
          <p:cNvPr id="119" name="Text 115"/>
          <p:cNvSpPr txBox="1"/>
          <p:nvPr/>
        </p:nvSpPr>
        <p:spPr>
          <a:xfrm>
            <a:off x="7452360" y="3017520"/>
            <a:ext cx="4096512" cy="960120"/>
          </a:xfrm>
          <a:prstGeom prst="rect">
            <a:avLst/>
          </a:prstGeom>
          <a:noFill/>
          <a:ln/>
        </p:spPr>
        <p:txBody>
          <a:bodyPr wrap="square" lIns="0" tIns="0" rIns="0" bIns="0" rtlCol="0" anchor="ctr"/>
          <a:lstStyle/>
          <a:p>
            <a:pPr indent="0" marL="0">
              <a:spcAft>
                <a:spcPts val="800"/>
              </a:spcAft>
              <a:buNone/>
            </a:pPr>
            <a:r>
              <a:rPr lang="en-US" sz="1600" dirty="0">
                <a:solidFill>
                  <a:srgbClr val="14284B"/>
                </a:solidFill>
                <a:latin typeface="Cambria" pitchFamily="34" charset="0"/>
                <a:ea typeface="Cambria" pitchFamily="34" charset="-122"/>
                <a:cs typeface="Cambria" pitchFamily="34" charset="-120"/>
              </a:rPr>
              <a:t>p = r − z</a:t>
            </a:r>
            <a:endParaRPr lang="en-US" sz="1600" dirty="0"/>
          </a:p>
          <a:p>
            <a:pPr indent="0" marL="0">
              <a:spcAft>
                <a:spcPts val="800"/>
              </a:spcAft>
              <a:buNone/>
            </a:pPr>
            <a:r>
              <a:rPr lang="en-US" sz="1600" dirty="0">
                <a:solidFill>
                  <a:srgbClr val="14284B"/>
                </a:solidFill>
                <a:latin typeface="Cambria" pitchFamily="34" charset="0"/>
                <a:ea typeface="Cambria" pitchFamily="34" charset="-122"/>
                <a:cs typeface="Cambria" pitchFamily="34" charset="-120"/>
              </a:rPr>
              <a:t>rows(H</a:t>
            </a:r>
            <a:r>
              <a:rPr lang="en-US" sz="1600" baseline="-40000" dirty="0">
                <a:solidFill>
                  <a:srgbClr val="14284B"/>
                </a:solidFill>
                <a:latin typeface="Cambria" pitchFamily="34" charset="0"/>
                <a:ea typeface="Cambria" pitchFamily="34" charset="-122"/>
                <a:cs typeface="Cambria" pitchFamily="34" charset="-120"/>
              </a:rPr>
              <a:t>rest</a:t>
            </a:r>
            <a:r>
              <a:rPr lang="en-US" sz="1600" dirty="0">
                <a:solidFill>
                  <a:srgbClr val="14284B"/>
                </a:solidFill>
                <a:latin typeface="Cambria" pitchFamily="34" charset="0"/>
                <a:ea typeface="Cambria" pitchFamily="34" charset="-122"/>
                <a:cs typeface="Cambria" pitchFamily="34" charset="-120"/>
              </a:rPr>
              <a:t>) = m·z + s = |dependent faults|</a:t>
            </a:r>
            <a:endParaRPr lang="en-US" sz="1600" dirty="0"/>
          </a:p>
        </p:txBody>
      </p:sp>
      <p:sp>
        <p:nvSpPr>
          <p:cNvPr id="120" name="Text 116"/>
          <p:cNvSpPr txBox="1"/>
          <p:nvPr/>
        </p:nvSpPr>
        <p:spPr>
          <a:xfrm>
            <a:off x="7269480" y="4224528"/>
            <a:ext cx="4370832" cy="274320"/>
          </a:xfrm>
          <a:prstGeom prst="rect">
            <a:avLst/>
          </a:prstGeom>
          <a:noFill/>
          <a:ln/>
        </p:spPr>
        <p:txBody>
          <a:bodyPr wrap="square" lIns="0" tIns="0" rIns="0" bIns="0" rtlCol="0" anchor="t"/>
          <a:lstStyle/>
          <a:p>
            <a:pPr indent="0" marL="0">
              <a:buNone/>
            </a:pPr>
            <a:r>
              <a:rPr lang="en-US" sz="1300" b="1" dirty="0">
                <a:solidFill>
                  <a:srgbClr val="14284B"/>
                </a:solidFill>
                <a:latin typeface="Calibri" pitchFamily="34" charset="0"/>
                <a:ea typeface="Calibri" pitchFamily="34" charset="-122"/>
                <a:cs typeface="Calibri" pitchFamily="34" charset="-120"/>
              </a:rPr>
              <a:t>Remainder depends on</a:t>
            </a:r>
            <a:endParaRPr lang="en-US" sz="1300" dirty="0"/>
          </a:p>
        </p:txBody>
      </p:sp>
      <p:sp>
        <p:nvSpPr>
          <p:cNvPr id="121" name="Text 117"/>
          <p:cNvSpPr txBox="1"/>
          <p:nvPr/>
        </p:nvSpPr>
        <p:spPr>
          <a:xfrm>
            <a:off x="7269480" y="4526280"/>
            <a:ext cx="4370832" cy="1188720"/>
          </a:xfrm>
          <a:prstGeom prst="rect">
            <a:avLst/>
          </a:prstGeom>
          <a:noFill/>
          <a:ln/>
        </p:spPr>
        <p:txBody>
          <a:bodyPr wrap="square" lIns="0" tIns="0" rIns="0" bIns="0" rtlCol="0" anchor="t"/>
          <a:lstStyle/>
          <a:p>
            <a:pPr marL="177800" indent="-177800">
              <a:spcAft>
                <a:spcPts val="300"/>
              </a:spcAft>
              <a:buSzPct val="100000"/>
              <a:buChar char="•"/>
            </a:pPr>
            <a:r>
              <a:rPr lang="en-US" sz="1250" dirty="0">
                <a:solidFill>
                  <a:srgbClr val="222222"/>
                </a:solidFill>
                <a:latin typeface="Calibri" pitchFamily="34" charset="0"/>
                <a:ea typeface="Calibri" pitchFamily="34" charset="-122"/>
                <a:cs typeface="Calibri" pitchFamily="34" charset="-120"/>
              </a:rPr>
              <a:t>the s dense equations spanning the stripe</a:t>
            </a:r>
            <a:endParaRPr lang="en-US" sz="1250" dirty="0"/>
          </a:p>
          <a:p>
            <a:pPr marL="177800" indent="-177800">
              <a:spcAft>
                <a:spcPts val="300"/>
              </a:spcAft>
              <a:buSzPct val="100000"/>
              <a:buChar char="•"/>
            </a:pPr>
            <a:r>
              <a:rPr lang="en-US" sz="1250" dirty="0">
                <a:solidFill>
                  <a:srgbClr val="222222"/>
                </a:solidFill>
                <a:latin typeface="Calibri" pitchFamily="34" charset="0"/>
                <a:ea typeface="Calibri" pitchFamily="34" charset="-122"/>
                <a:cs typeface="Calibri" pitchFamily="34" charset="-120"/>
              </a:rPr>
              <a:t>other dependent faults in the same system</a:t>
            </a:r>
            <a:endParaRPr lang="en-US" sz="1250" dirty="0"/>
          </a:p>
          <a:p>
            <a:pPr marL="177800" indent="-177800">
              <a:spcAft>
                <a:spcPts val="300"/>
              </a:spcAft>
              <a:buSzPct val="100000"/>
              <a:buChar char="•"/>
            </a:pPr>
            <a:r>
              <a:rPr lang="en-US" sz="1250" dirty="0">
                <a:solidFill>
                  <a:srgbClr val="222222"/>
                </a:solidFill>
                <a:latin typeface="Calibri" pitchFamily="34" charset="0"/>
                <a:ea typeface="Calibri" pitchFamily="34" charset="-122"/>
                <a:cs typeface="Calibri" pitchFamily="34" charset="-120"/>
              </a:rPr>
              <a:t>independently recovered sectors (now survivors)</a:t>
            </a:r>
            <a:endParaRPr lang="en-US" sz="1250" dirty="0"/>
          </a:p>
        </p:txBody>
      </p:sp>
      <p:sp>
        <p:nvSpPr>
          <p:cNvPr id="122" name="Text 118"/>
          <p:cNvSpPr txBox="1"/>
          <p:nvPr/>
        </p:nvSpPr>
        <p:spPr>
          <a:xfrm>
            <a:off x="7269480" y="5669280"/>
            <a:ext cx="4370832" cy="502920"/>
          </a:xfrm>
          <a:prstGeom prst="rect">
            <a:avLst/>
          </a:prstGeom>
          <a:noFill/>
          <a:ln/>
        </p:spPr>
        <p:txBody>
          <a:bodyPr wrap="square" lIns="0" tIns="0" rIns="0" bIns="0" rtlCol="0" anchor="t"/>
          <a:lstStyle/>
          <a:p>
            <a:pPr indent="0" marL="0">
              <a:buNone/>
            </a:pPr>
            <a:r>
              <a:rPr lang="en-US" sz="1150" i="1" dirty="0">
                <a:solidFill>
                  <a:srgbClr val="5F6B7A"/>
                </a:solidFill>
                <a:latin typeface="Calibri" pitchFamily="34" charset="0"/>
                <a:ea typeface="Calibri" pitchFamily="34" charset="-122"/>
                <a:cs typeface="Calibri" pitchFamily="34" charset="-120"/>
              </a:rPr>
              <a:t>Independent groups write disjoint sectors and never read each other's output → no locks needed.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ALGORITHM</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PPM Recovery: Prepare, Fork, Barrier, Remainder</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548640" y="2651760"/>
            <a:ext cx="1600200" cy="1143000"/>
          </a:xfrm>
          <a:prstGeom prst="rect">
            <a:avLst/>
          </a:prstGeom>
          <a:solidFill>
            <a:srgbClr val="EEF2F8"/>
          </a:solidFill>
          <a:ln/>
        </p:spPr>
      </p:sp>
      <p:sp>
        <p:nvSpPr>
          <p:cNvPr id="8" name="Text 5"/>
          <p:cNvSpPr txBox="1"/>
          <p:nvPr/>
        </p:nvSpPr>
        <p:spPr>
          <a:xfrm>
            <a:off x="658368" y="2761488"/>
            <a:ext cx="1380744" cy="365760"/>
          </a:xfrm>
          <a:prstGeom prst="rect">
            <a:avLst/>
          </a:prstGeom>
          <a:noFill/>
          <a:ln/>
        </p:spPr>
        <p:txBody>
          <a:bodyPr wrap="square" lIns="0" tIns="0" rIns="0" bIns="0" rtlCol="0" anchor="t"/>
          <a:lstStyle/>
          <a:p>
            <a:pPr indent="0" marL="0">
              <a:buNone/>
            </a:pPr>
            <a:r>
              <a:rPr lang="en-US" sz="1350" b="1" dirty="0">
                <a:solidFill>
                  <a:srgbClr val="14284B"/>
                </a:solidFill>
                <a:latin typeface="Calibri" pitchFamily="34" charset="0"/>
                <a:ea typeface="Calibri" pitchFamily="34" charset="-122"/>
                <a:cs typeface="Calibri" pitchFamily="34" charset="-120"/>
              </a:rPr>
              <a:t>1 Validate</a:t>
            </a:r>
            <a:endParaRPr lang="en-US" sz="1350" dirty="0"/>
          </a:p>
        </p:txBody>
      </p:sp>
      <p:sp>
        <p:nvSpPr>
          <p:cNvPr id="9" name="Text 6"/>
          <p:cNvSpPr txBox="1"/>
          <p:nvPr/>
        </p:nvSpPr>
        <p:spPr>
          <a:xfrm>
            <a:off x="658368" y="3127248"/>
            <a:ext cx="1380744" cy="64008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code, H dims, faults, sector alignment, threads</a:t>
            </a:r>
            <a:endParaRPr lang="en-US" sz="1100" dirty="0"/>
          </a:p>
        </p:txBody>
      </p:sp>
      <p:sp>
        <p:nvSpPr>
          <p:cNvPr id="10" name="Shape 7"/>
          <p:cNvSpPr/>
          <p:nvPr/>
        </p:nvSpPr>
        <p:spPr>
          <a:xfrm>
            <a:off x="2176272" y="3223260"/>
            <a:ext cx="219456" cy="0"/>
          </a:xfrm>
          <a:prstGeom prst="line">
            <a:avLst/>
          </a:prstGeom>
          <a:noFill/>
          <a:ln w="15875">
            <a:solidFill>
              <a:srgbClr val="14284B"/>
            </a:solidFill>
            <a:prstDash val="solid"/>
            <a:tailEnd type="triangle"/>
          </a:ln>
        </p:spPr>
      </p:sp>
      <p:sp>
        <p:nvSpPr>
          <p:cNvPr id="11" name="Shape 8"/>
          <p:cNvSpPr/>
          <p:nvPr/>
        </p:nvSpPr>
        <p:spPr>
          <a:xfrm>
            <a:off x="2423160" y="2651760"/>
            <a:ext cx="1737360" cy="1143000"/>
          </a:xfrm>
          <a:prstGeom prst="rect">
            <a:avLst/>
          </a:prstGeom>
          <a:solidFill>
            <a:srgbClr val="EEF2F8"/>
          </a:solidFill>
          <a:ln/>
        </p:spPr>
      </p:sp>
      <p:sp>
        <p:nvSpPr>
          <p:cNvPr id="12" name="Text 9"/>
          <p:cNvSpPr txBox="1"/>
          <p:nvPr/>
        </p:nvSpPr>
        <p:spPr>
          <a:xfrm>
            <a:off x="2532888" y="2761488"/>
            <a:ext cx="1517904" cy="365760"/>
          </a:xfrm>
          <a:prstGeom prst="rect">
            <a:avLst/>
          </a:prstGeom>
          <a:noFill/>
          <a:ln/>
        </p:spPr>
        <p:txBody>
          <a:bodyPr wrap="square" lIns="0" tIns="0" rIns="0" bIns="0" rtlCol="0" anchor="t"/>
          <a:lstStyle/>
          <a:p>
            <a:pPr indent="0" marL="0">
              <a:buNone/>
            </a:pPr>
            <a:r>
              <a:rPr lang="en-US" sz="1350" b="1" dirty="0">
                <a:solidFill>
                  <a:srgbClr val="14284B"/>
                </a:solidFill>
                <a:latin typeface="Calibri" pitchFamily="34" charset="0"/>
                <a:ea typeface="Calibri" pitchFamily="34" charset="-122"/>
                <a:cs typeface="Calibri" pitchFamily="34" charset="-120"/>
              </a:rPr>
              <a:t>2 Partition</a:t>
            </a:r>
            <a:endParaRPr lang="en-US" sz="1350" dirty="0"/>
          </a:p>
        </p:txBody>
      </p:sp>
      <p:sp>
        <p:nvSpPr>
          <p:cNvPr id="13" name="Text 10"/>
          <p:cNvSpPr txBox="1"/>
          <p:nvPr/>
        </p:nvSpPr>
        <p:spPr>
          <a:xfrm>
            <a:off x="2532888" y="3127248"/>
            <a:ext cx="1517904" cy="64008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count faults per stripe row → H_i, H_rest</a:t>
            </a:r>
            <a:endParaRPr lang="en-US" sz="1100" dirty="0"/>
          </a:p>
        </p:txBody>
      </p:sp>
      <p:sp>
        <p:nvSpPr>
          <p:cNvPr id="14" name="Shape 11"/>
          <p:cNvSpPr/>
          <p:nvPr/>
        </p:nvSpPr>
        <p:spPr>
          <a:xfrm>
            <a:off x="4187952" y="3223260"/>
            <a:ext cx="219456" cy="0"/>
          </a:xfrm>
          <a:prstGeom prst="line">
            <a:avLst/>
          </a:prstGeom>
          <a:noFill/>
          <a:ln w="15875">
            <a:solidFill>
              <a:srgbClr val="14284B"/>
            </a:solidFill>
            <a:prstDash val="solid"/>
            <a:tailEnd type="triangle"/>
          </a:ln>
        </p:spPr>
      </p:sp>
      <p:sp>
        <p:nvSpPr>
          <p:cNvPr id="15" name="Shape 12"/>
          <p:cNvSpPr/>
          <p:nvPr/>
        </p:nvSpPr>
        <p:spPr>
          <a:xfrm>
            <a:off x="4434840" y="2651760"/>
            <a:ext cx="1783080" cy="1143000"/>
          </a:xfrm>
          <a:prstGeom prst="rect">
            <a:avLst/>
          </a:prstGeom>
          <a:solidFill>
            <a:srgbClr val="EEF2F8"/>
          </a:solidFill>
          <a:ln/>
        </p:spPr>
      </p:sp>
      <p:sp>
        <p:nvSpPr>
          <p:cNvPr id="16" name="Text 13"/>
          <p:cNvSpPr txBox="1"/>
          <p:nvPr/>
        </p:nvSpPr>
        <p:spPr>
          <a:xfrm>
            <a:off x="4544568" y="2761488"/>
            <a:ext cx="1563624" cy="365760"/>
          </a:xfrm>
          <a:prstGeom prst="rect">
            <a:avLst/>
          </a:prstGeom>
          <a:noFill/>
          <a:ln/>
        </p:spPr>
        <p:txBody>
          <a:bodyPr wrap="square" lIns="0" tIns="0" rIns="0" bIns="0" rtlCol="0" anchor="t"/>
          <a:lstStyle/>
          <a:p>
            <a:pPr indent="0" marL="0">
              <a:buNone/>
            </a:pPr>
            <a:r>
              <a:rPr lang="en-US" sz="1350" b="1" dirty="0">
                <a:solidFill>
                  <a:srgbClr val="14284B"/>
                </a:solidFill>
                <a:latin typeface="Calibri" pitchFamily="34" charset="0"/>
                <a:ea typeface="Calibri" pitchFamily="34" charset="-122"/>
                <a:cs typeface="Calibri" pitchFamily="34" charset="-120"/>
              </a:rPr>
              <a:t>3 Prepare all</a:t>
            </a:r>
            <a:endParaRPr lang="en-US" sz="1350" dirty="0"/>
          </a:p>
        </p:txBody>
      </p:sp>
      <p:sp>
        <p:nvSpPr>
          <p:cNvPr id="17" name="Text 14"/>
          <p:cNvSpPr txBox="1"/>
          <p:nvPr/>
        </p:nvSpPr>
        <p:spPr>
          <a:xfrm>
            <a:off x="4544568" y="3127248"/>
            <a:ext cx="1563624" cy="64008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ec_split + mat_invert for every job before any write</a:t>
            </a:r>
            <a:endParaRPr lang="en-US" sz="1100" dirty="0"/>
          </a:p>
        </p:txBody>
      </p:sp>
      <p:sp>
        <p:nvSpPr>
          <p:cNvPr id="18" name="Shape 15"/>
          <p:cNvSpPr/>
          <p:nvPr/>
        </p:nvSpPr>
        <p:spPr>
          <a:xfrm>
            <a:off x="6629400" y="1417320"/>
            <a:ext cx="1600200" cy="685800"/>
          </a:xfrm>
          <a:prstGeom prst="rect">
            <a:avLst/>
          </a:prstGeom>
          <a:solidFill>
            <a:srgbClr val="FFFFFF"/>
          </a:solidFill>
          <a:ln w="12700">
            <a:solidFill>
              <a:srgbClr val="2F6DB5"/>
            </a:solidFill>
            <a:prstDash val="solid"/>
          </a:ln>
        </p:spPr>
      </p:sp>
      <p:sp>
        <p:nvSpPr>
          <p:cNvPr id="19" name="Text 16"/>
          <p:cNvSpPr txBox="1"/>
          <p:nvPr/>
        </p:nvSpPr>
        <p:spPr>
          <a:xfrm>
            <a:off x="6629400" y="1417320"/>
            <a:ext cx="1600200" cy="685800"/>
          </a:xfrm>
          <a:prstGeom prst="rect">
            <a:avLst/>
          </a:prstGeom>
          <a:noFill/>
          <a:ln/>
        </p:spPr>
        <p:txBody>
          <a:bodyPr wrap="square" lIns="0" tIns="0" rIns="0" bIns="0" rtlCol="0" anchor="ctr"/>
          <a:lstStyle/>
          <a:p>
            <a:pPr algn="ctr" indent="0" marL="0">
              <a:buNone/>
            </a:pPr>
            <a:r>
              <a:rPr lang="en-US" sz="1400" b="1" dirty="0">
                <a:solidFill>
                  <a:srgbClr val="2F6DB5"/>
                </a:solidFill>
                <a:latin typeface="Cambria" pitchFamily="34" charset="0"/>
                <a:ea typeface="Cambria" pitchFamily="34" charset="-122"/>
                <a:cs typeface="Cambria" pitchFamily="34" charset="-120"/>
              </a:rPr>
              <a:t>H₀</a:t>
            </a:r>
            <a:endParaRPr lang="en-US" sz="1400" dirty="0"/>
          </a:p>
          <a:p>
            <a:pPr algn="ctr" indent="0" marL="0">
              <a:buNone/>
            </a:pPr>
            <a:r>
              <a:rPr lang="en-US" sz="1000" dirty="0">
                <a:solidFill>
                  <a:srgbClr val="222222"/>
                </a:solidFill>
                <a:latin typeface="Courier New" pitchFamily="34" charset="0"/>
                <a:ea typeface="Courier New" pitchFamily="34" charset="-122"/>
                <a:cs typeface="Courier New" pitchFamily="34" charset="-120"/>
              </a:rPr>
              <a:t>matrix_first</a:t>
            </a:r>
            <a:endParaRPr lang="en-US" sz="1400" dirty="0"/>
          </a:p>
        </p:txBody>
      </p:sp>
      <p:sp>
        <p:nvSpPr>
          <p:cNvPr id="20" name="Shape 17"/>
          <p:cNvSpPr/>
          <p:nvPr/>
        </p:nvSpPr>
        <p:spPr>
          <a:xfrm flipV="1">
            <a:off x="6236208" y="3223260"/>
            <a:ext cx="365760" cy="-1463040"/>
          </a:xfrm>
          <a:prstGeom prst="line">
            <a:avLst/>
          </a:prstGeom>
          <a:noFill/>
          <a:ln w="15875">
            <a:solidFill>
              <a:srgbClr val="5F6B7A"/>
            </a:solidFill>
            <a:prstDash val="solid"/>
            <a:tailEnd type="triangle"/>
          </a:ln>
        </p:spPr>
      </p:sp>
      <p:sp>
        <p:nvSpPr>
          <p:cNvPr id="21" name="Shape 18"/>
          <p:cNvSpPr/>
          <p:nvPr/>
        </p:nvSpPr>
        <p:spPr>
          <a:xfrm>
            <a:off x="6629400" y="2331720"/>
            <a:ext cx="1600200" cy="685800"/>
          </a:xfrm>
          <a:prstGeom prst="rect">
            <a:avLst/>
          </a:prstGeom>
          <a:solidFill>
            <a:srgbClr val="FFFFFF"/>
          </a:solidFill>
          <a:ln w="12700">
            <a:solidFill>
              <a:srgbClr val="2F6DB5"/>
            </a:solidFill>
            <a:prstDash val="solid"/>
          </a:ln>
        </p:spPr>
      </p:sp>
      <p:sp>
        <p:nvSpPr>
          <p:cNvPr id="22" name="Text 19"/>
          <p:cNvSpPr txBox="1"/>
          <p:nvPr/>
        </p:nvSpPr>
        <p:spPr>
          <a:xfrm>
            <a:off x="6629400" y="2331720"/>
            <a:ext cx="1600200" cy="685800"/>
          </a:xfrm>
          <a:prstGeom prst="rect">
            <a:avLst/>
          </a:prstGeom>
          <a:noFill/>
          <a:ln/>
        </p:spPr>
        <p:txBody>
          <a:bodyPr wrap="square" lIns="0" tIns="0" rIns="0" bIns="0" rtlCol="0" anchor="ctr"/>
          <a:lstStyle/>
          <a:p>
            <a:pPr algn="ctr" indent="0" marL="0">
              <a:buNone/>
            </a:pPr>
            <a:r>
              <a:rPr lang="en-US" sz="1400" b="1" dirty="0">
                <a:solidFill>
                  <a:srgbClr val="2F6DB5"/>
                </a:solidFill>
                <a:latin typeface="Cambria" pitchFamily="34" charset="0"/>
                <a:ea typeface="Cambria" pitchFamily="34" charset="-122"/>
                <a:cs typeface="Cambria" pitchFamily="34" charset="-120"/>
              </a:rPr>
              <a:t>H₁</a:t>
            </a:r>
            <a:endParaRPr lang="en-US" sz="1400" dirty="0"/>
          </a:p>
          <a:p>
            <a:pPr algn="ctr" indent="0" marL="0">
              <a:buNone/>
            </a:pPr>
            <a:r>
              <a:rPr lang="en-US" sz="1000" dirty="0">
                <a:solidFill>
                  <a:srgbClr val="222222"/>
                </a:solidFill>
                <a:latin typeface="Courier New" pitchFamily="34" charset="0"/>
                <a:ea typeface="Courier New" pitchFamily="34" charset="-122"/>
                <a:cs typeface="Courier New" pitchFamily="34" charset="-120"/>
              </a:rPr>
              <a:t>matrix_first</a:t>
            </a:r>
            <a:endParaRPr lang="en-US" sz="1400" dirty="0"/>
          </a:p>
        </p:txBody>
      </p:sp>
      <p:sp>
        <p:nvSpPr>
          <p:cNvPr id="23" name="Shape 20"/>
          <p:cNvSpPr/>
          <p:nvPr/>
        </p:nvSpPr>
        <p:spPr>
          <a:xfrm flipV="1">
            <a:off x="6236208" y="3223260"/>
            <a:ext cx="365760" cy="-548640"/>
          </a:xfrm>
          <a:prstGeom prst="line">
            <a:avLst/>
          </a:prstGeom>
          <a:noFill/>
          <a:ln w="15875">
            <a:solidFill>
              <a:srgbClr val="5F6B7A"/>
            </a:solidFill>
            <a:prstDash val="solid"/>
            <a:tailEnd type="triangle"/>
          </a:ln>
        </p:spPr>
      </p:sp>
      <p:sp>
        <p:nvSpPr>
          <p:cNvPr id="24" name="Text 21"/>
          <p:cNvSpPr txBox="1"/>
          <p:nvPr/>
        </p:nvSpPr>
        <p:spPr>
          <a:xfrm>
            <a:off x="6629400" y="3063240"/>
            <a:ext cx="1600200" cy="457200"/>
          </a:xfrm>
          <a:prstGeom prst="rect">
            <a:avLst/>
          </a:prstGeom>
          <a:noFill/>
          <a:ln/>
        </p:spPr>
        <p:txBody>
          <a:bodyPr wrap="square" lIns="0" tIns="0" rIns="0" bIns="0" rtlCol="0" anchor="t"/>
          <a:lstStyle/>
          <a:p>
            <a:pPr algn="ctr" indent="0" marL="0">
              <a:buNone/>
            </a:pPr>
            <a:r>
              <a:rPr lang="en-US" sz="2000" dirty="0">
                <a:solidFill>
                  <a:srgbClr val="5F6B7A"/>
                </a:solidFill>
                <a:latin typeface="Calibri" pitchFamily="34" charset="0"/>
                <a:ea typeface="Calibri" pitchFamily="34" charset="-122"/>
                <a:cs typeface="Calibri" pitchFamily="34" charset="-120"/>
              </a:rPr>
              <a:t>⋮</a:t>
            </a:r>
            <a:endParaRPr lang="en-US" sz="2000" dirty="0"/>
          </a:p>
        </p:txBody>
      </p:sp>
      <p:sp>
        <p:nvSpPr>
          <p:cNvPr id="25" name="Shape 22"/>
          <p:cNvSpPr/>
          <p:nvPr/>
        </p:nvSpPr>
        <p:spPr>
          <a:xfrm>
            <a:off x="6629400" y="3977640"/>
            <a:ext cx="1600200" cy="685800"/>
          </a:xfrm>
          <a:prstGeom prst="rect">
            <a:avLst/>
          </a:prstGeom>
          <a:solidFill>
            <a:srgbClr val="FFFFFF"/>
          </a:solidFill>
          <a:ln w="12700">
            <a:solidFill>
              <a:srgbClr val="2F6DB5"/>
            </a:solidFill>
            <a:prstDash val="solid"/>
          </a:ln>
        </p:spPr>
      </p:sp>
      <p:sp>
        <p:nvSpPr>
          <p:cNvPr id="26" name="Text 23"/>
          <p:cNvSpPr txBox="1"/>
          <p:nvPr/>
        </p:nvSpPr>
        <p:spPr>
          <a:xfrm>
            <a:off x="6629400" y="3977640"/>
            <a:ext cx="1600200" cy="685800"/>
          </a:xfrm>
          <a:prstGeom prst="rect">
            <a:avLst/>
          </a:prstGeom>
          <a:noFill/>
          <a:ln/>
        </p:spPr>
        <p:txBody>
          <a:bodyPr wrap="square" lIns="0" tIns="0" rIns="0" bIns="0" rtlCol="0" anchor="ctr"/>
          <a:lstStyle/>
          <a:p>
            <a:pPr algn="ctr" indent="0" marL="0">
              <a:buNone/>
            </a:pPr>
            <a:r>
              <a:rPr lang="en-US" sz="1400" b="1" dirty="0">
                <a:solidFill>
                  <a:srgbClr val="2F6DB5"/>
                </a:solidFill>
                <a:latin typeface="Cambria" pitchFamily="34" charset="0"/>
                <a:ea typeface="Cambria" pitchFamily="34" charset="-122"/>
                <a:cs typeface="Cambria" pitchFamily="34" charset="-120"/>
              </a:rPr>
              <a:t>H</a:t>
            </a:r>
            <a:r>
              <a:rPr lang="en-US" sz="1400" b="1" baseline="-40000" dirty="0">
                <a:solidFill>
                  <a:srgbClr val="2F6DB5"/>
                </a:solidFill>
                <a:latin typeface="Cambria" pitchFamily="34" charset="0"/>
                <a:ea typeface="Cambria" pitchFamily="34" charset="-122"/>
                <a:cs typeface="Cambria" pitchFamily="34" charset="-120"/>
              </a:rPr>
              <a:t>p−1</a:t>
            </a:r>
            <a:endParaRPr lang="en-US" sz="1400" dirty="0"/>
          </a:p>
          <a:p>
            <a:pPr algn="ctr" indent="0" marL="0">
              <a:buNone/>
            </a:pPr>
            <a:r>
              <a:rPr lang="en-US" sz="1000" dirty="0">
                <a:solidFill>
                  <a:srgbClr val="222222"/>
                </a:solidFill>
                <a:latin typeface="Courier New" pitchFamily="34" charset="0"/>
                <a:ea typeface="Courier New" pitchFamily="34" charset="-122"/>
                <a:cs typeface="Courier New" pitchFamily="34" charset="-120"/>
              </a:rPr>
              <a:t>matrix_first</a:t>
            </a:r>
            <a:endParaRPr lang="en-US" sz="1400" dirty="0"/>
          </a:p>
        </p:txBody>
      </p:sp>
      <p:sp>
        <p:nvSpPr>
          <p:cNvPr id="27" name="Shape 24"/>
          <p:cNvSpPr/>
          <p:nvPr/>
        </p:nvSpPr>
        <p:spPr>
          <a:xfrm>
            <a:off x="6236208" y="3223260"/>
            <a:ext cx="365760" cy="1097280"/>
          </a:xfrm>
          <a:prstGeom prst="line">
            <a:avLst/>
          </a:prstGeom>
          <a:noFill/>
          <a:ln w="15875">
            <a:solidFill>
              <a:srgbClr val="5F6B7A"/>
            </a:solidFill>
            <a:prstDash val="solid"/>
            <a:tailEnd type="triangle"/>
          </a:ln>
        </p:spPr>
      </p:sp>
      <p:sp>
        <p:nvSpPr>
          <p:cNvPr id="28" name="Text 25"/>
          <p:cNvSpPr txBox="1"/>
          <p:nvPr/>
        </p:nvSpPr>
        <p:spPr>
          <a:xfrm>
            <a:off x="6309360" y="4846320"/>
            <a:ext cx="2240280" cy="274320"/>
          </a:xfrm>
          <a:prstGeom prst="rect">
            <a:avLst/>
          </a:prstGeom>
          <a:noFill/>
          <a:ln/>
        </p:spPr>
        <p:txBody>
          <a:bodyPr wrap="square" lIns="0" tIns="0" rIns="0" bIns="0" rtlCol="0" anchor="t"/>
          <a:lstStyle/>
          <a:p>
            <a:pPr algn="ctr" indent="0" marL="0">
              <a:buNone/>
            </a:pPr>
            <a:r>
              <a:rPr lang="en-US" sz="1000" dirty="0">
                <a:solidFill>
                  <a:srgbClr val="2F6DB5"/>
                </a:solidFill>
                <a:latin typeface="Courier New" pitchFamily="34" charset="0"/>
                <a:ea typeface="Courier New" pitchFamily="34" charset="-122"/>
                <a:cs typeface="Courier New" pitchFamily="34" charset="-120"/>
              </a:rPr>
              <a:t>omp for schedule(static)</a:t>
            </a:r>
            <a:endParaRPr lang="en-US" sz="1000" dirty="0"/>
          </a:p>
        </p:txBody>
      </p:sp>
      <p:sp>
        <p:nvSpPr>
          <p:cNvPr id="29" name="Text 26"/>
          <p:cNvSpPr txBox="1"/>
          <p:nvPr/>
        </p:nvSpPr>
        <p:spPr>
          <a:xfrm>
            <a:off x="6355080" y="5102352"/>
            <a:ext cx="2148840" cy="274320"/>
          </a:xfrm>
          <a:prstGeom prst="rect">
            <a:avLst/>
          </a:prstGeom>
          <a:noFill/>
          <a:ln/>
        </p:spPr>
        <p:txBody>
          <a:bodyPr wrap="square" lIns="0" tIns="0" rIns="0" bIns="0" rtlCol="0" anchor="t"/>
          <a:lstStyle/>
          <a:p>
            <a:pPr algn="ctr" indent="0" marL="0">
              <a:buNone/>
            </a:pPr>
            <a:r>
              <a:rPr lang="en-US" sz="1000" dirty="0">
                <a:solidFill>
                  <a:srgbClr val="5F6B7A"/>
                </a:solidFill>
                <a:latin typeface="Calibri" pitchFamily="34" charset="0"/>
                <a:ea typeface="Calibri" pitchFamily="34" charset="-122"/>
                <a:cs typeface="Calibri" pitchFamily="34" charset="-120"/>
              </a:rPr>
              <a:t>threads = min(T, p)</a:t>
            </a:r>
            <a:endParaRPr lang="en-US" sz="1000" dirty="0"/>
          </a:p>
        </p:txBody>
      </p:sp>
      <p:sp>
        <p:nvSpPr>
          <p:cNvPr id="30" name="Shape 27"/>
          <p:cNvSpPr/>
          <p:nvPr/>
        </p:nvSpPr>
        <p:spPr>
          <a:xfrm>
            <a:off x="8641080" y="1325880"/>
            <a:ext cx="201168" cy="3429000"/>
          </a:xfrm>
          <a:prstGeom prst="rect">
            <a:avLst/>
          </a:prstGeom>
          <a:solidFill>
            <a:srgbClr val="B5472A"/>
          </a:solidFill>
          <a:ln/>
        </p:spPr>
      </p:sp>
      <p:sp>
        <p:nvSpPr>
          <p:cNvPr id="31" name="Shape 28"/>
          <p:cNvSpPr/>
          <p:nvPr/>
        </p:nvSpPr>
        <p:spPr>
          <a:xfrm>
            <a:off x="8257032" y="1760220"/>
            <a:ext cx="356616" cy="0"/>
          </a:xfrm>
          <a:prstGeom prst="line">
            <a:avLst/>
          </a:prstGeom>
          <a:noFill/>
          <a:ln w="15875">
            <a:solidFill>
              <a:srgbClr val="5F6B7A"/>
            </a:solidFill>
            <a:prstDash val="solid"/>
            <a:tailEnd type="triangle"/>
          </a:ln>
        </p:spPr>
      </p:sp>
      <p:sp>
        <p:nvSpPr>
          <p:cNvPr id="32" name="Shape 29"/>
          <p:cNvSpPr/>
          <p:nvPr/>
        </p:nvSpPr>
        <p:spPr>
          <a:xfrm>
            <a:off x="8257032" y="2674620"/>
            <a:ext cx="356616" cy="0"/>
          </a:xfrm>
          <a:prstGeom prst="line">
            <a:avLst/>
          </a:prstGeom>
          <a:noFill/>
          <a:ln w="15875">
            <a:solidFill>
              <a:srgbClr val="5F6B7A"/>
            </a:solidFill>
            <a:prstDash val="solid"/>
            <a:tailEnd type="triangle"/>
          </a:ln>
        </p:spPr>
      </p:sp>
      <p:sp>
        <p:nvSpPr>
          <p:cNvPr id="33" name="Shape 30"/>
          <p:cNvSpPr/>
          <p:nvPr/>
        </p:nvSpPr>
        <p:spPr>
          <a:xfrm>
            <a:off x="8257032" y="4320540"/>
            <a:ext cx="356616" cy="0"/>
          </a:xfrm>
          <a:prstGeom prst="line">
            <a:avLst/>
          </a:prstGeom>
          <a:noFill/>
          <a:ln w="15875">
            <a:solidFill>
              <a:srgbClr val="5F6B7A"/>
            </a:solidFill>
            <a:prstDash val="solid"/>
            <a:tailEnd type="triangle"/>
          </a:ln>
        </p:spPr>
      </p:sp>
      <p:sp>
        <p:nvSpPr>
          <p:cNvPr id="34" name="Text 31"/>
          <p:cNvSpPr txBox="1"/>
          <p:nvPr/>
        </p:nvSpPr>
        <p:spPr>
          <a:xfrm>
            <a:off x="8138160" y="4846320"/>
            <a:ext cx="1188720" cy="274320"/>
          </a:xfrm>
          <a:prstGeom prst="rect">
            <a:avLst/>
          </a:prstGeom>
          <a:noFill/>
          <a:ln/>
        </p:spPr>
        <p:txBody>
          <a:bodyPr wrap="square" lIns="0" tIns="0" rIns="0" bIns="0" rtlCol="0" anchor="t"/>
          <a:lstStyle/>
          <a:p>
            <a:pPr algn="ctr" indent="0" marL="0">
              <a:buNone/>
            </a:pPr>
            <a:r>
              <a:rPr lang="en-US" sz="1100" b="1" dirty="0">
                <a:solidFill>
                  <a:srgbClr val="B5472A"/>
                </a:solidFill>
                <a:latin typeface="Calibri" pitchFamily="34" charset="0"/>
                <a:ea typeface="Calibri" pitchFamily="34" charset="-122"/>
                <a:cs typeface="Calibri" pitchFamily="34" charset="-120"/>
              </a:rPr>
              <a:t>barrier</a:t>
            </a:r>
            <a:endParaRPr lang="en-US" sz="1100" dirty="0"/>
          </a:p>
        </p:txBody>
      </p:sp>
      <p:sp>
        <p:nvSpPr>
          <p:cNvPr id="35" name="Shape 32"/>
          <p:cNvSpPr/>
          <p:nvPr/>
        </p:nvSpPr>
        <p:spPr>
          <a:xfrm>
            <a:off x="9144000" y="2148840"/>
            <a:ext cx="2499055" cy="1143000"/>
          </a:xfrm>
          <a:prstGeom prst="rect">
            <a:avLst/>
          </a:prstGeom>
          <a:solidFill>
            <a:srgbClr val="14284B"/>
          </a:solidFill>
          <a:ln/>
        </p:spPr>
      </p:sp>
      <p:sp>
        <p:nvSpPr>
          <p:cNvPr id="36" name="Text 33"/>
          <p:cNvSpPr txBox="1"/>
          <p:nvPr/>
        </p:nvSpPr>
        <p:spPr>
          <a:xfrm>
            <a:off x="9253728" y="2240280"/>
            <a:ext cx="2279599" cy="96012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H</a:t>
            </a:r>
            <a:r>
              <a:rPr lang="en-US" sz="1400" b="1" baseline="-40000" dirty="0">
                <a:solidFill>
                  <a:srgbClr val="FFFFFF"/>
                </a:solidFill>
                <a:latin typeface="Cambria" pitchFamily="34" charset="0"/>
                <a:ea typeface="Cambria" pitchFamily="34" charset="-122"/>
                <a:cs typeface="Cambria" pitchFamily="34" charset="-120"/>
              </a:rPr>
              <a:t>rest</a:t>
            </a:r>
            <a:r>
              <a:rPr lang="en-US" sz="1350" b="1" dirty="0">
                <a:solidFill>
                  <a:srgbClr val="FFFFFF"/>
                </a:solidFill>
                <a:latin typeface="Calibri" pitchFamily="34" charset="0"/>
                <a:ea typeface="Calibri" pitchFamily="34" charset="-122"/>
                <a:cs typeface="Calibri" pitchFamily="34" charset="-120"/>
              </a:rPr>
              <a:t>  normal decode</a:t>
            </a:r>
            <a:endParaRPr lang="en-US" sz="1400" dirty="0"/>
          </a:p>
          <a:p>
            <a:pPr indent="0" marL="0">
              <a:buNone/>
            </a:pPr>
            <a:r>
              <a:rPr lang="en-US" sz="1100" dirty="0">
                <a:solidFill>
                  <a:srgbClr val="D8E1EE"/>
                </a:solidFill>
                <a:latin typeface="Calibri" pitchFamily="34" charset="0"/>
                <a:ea typeface="Calibri" pitchFamily="34" charset="-122"/>
                <a:cs typeface="Calibri" pitchFamily="34" charset="-120"/>
              </a:rPr>
              <a:t>recovered sectors now act as survivors</a:t>
            </a:r>
            <a:endParaRPr lang="en-US" sz="1400" dirty="0"/>
          </a:p>
        </p:txBody>
      </p:sp>
      <p:sp>
        <p:nvSpPr>
          <p:cNvPr id="37" name="Shape 34"/>
          <p:cNvSpPr/>
          <p:nvPr/>
        </p:nvSpPr>
        <p:spPr>
          <a:xfrm>
            <a:off x="8869680" y="2715768"/>
            <a:ext cx="246888" cy="0"/>
          </a:xfrm>
          <a:prstGeom prst="line">
            <a:avLst/>
          </a:prstGeom>
          <a:noFill/>
          <a:ln w="15875">
            <a:solidFill>
              <a:srgbClr val="14284B"/>
            </a:solidFill>
            <a:prstDash val="solid"/>
            <a:tailEnd type="triangle"/>
          </a:ln>
        </p:spPr>
      </p:sp>
      <p:sp>
        <p:nvSpPr>
          <p:cNvPr id="38" name="Shape 35"/>
          <p:cNvSpPr/>
          <p:nvPr/>
        </p:nvSpPr>
        <p:spPr>
          <a:xfrm>
            <a:off x="10393528" y="3319272"/>
            <a:ext cx="0" cy="338328"/>
          </a:xfrm>
          <a:prstGeom prst="line">
            <a:avLst/>
          </a:prstGeom>
          <a:noFill/>
          <a:ln w="15875">
            <a:solidFill>
              <a:srgbClr val="14284B"/>
            </a:solidFill>
            <a:prstDash val="solid"/>
            <a:tailEnd type="triangle"/>
          </a:ln>
        </p:spPr>
      </p:sp>
      <p:sp>
        <p:nvSpPr>
          <p:cNvPr id="39" name="Shape 36"/>
          <p:cNvSpPr/>
          <p:nvPr/>
        </p:nvSpPr>
        <p:spPr>
          <a:xfrm>
            <a:off x="9144000" y="3685032"/>
            <a:ext cx="2499055" cy="914400"/>
          </a:xfrm>
          <a:prstGeom prst="rect">
            <a:avLst/>
          </a:prstGeom>
          <a:solidFill>
            <a:srgbClr val="EEF2F8"/>
          </a:solidFill>
          <a:ln/>
        </p:spPr>
      </p:sp>
      <p:sp>
        <p:nvSpPr>
          <p:cNvPr id="40" name="Text 37"/>
          <p:cNvSpPr txBox="1"/>
          <p:nvPr/>
        </p:nvSpPr>
        <p:spPr>
          <a:xfrm>
            <a:off x="9253728" y="3749040"/>
            <a:ext cx="2279599" cy="320040"/>
          </a:xfrm>
          <a:prstGeom prst="rect">
            <a:avLst/>
          </a:prstGeom>
          <a:noFill/>
          <a:ln/>
        </p:spPr>
        <p:txBody>
          <a:bodyPr wrap="square" lIns="0" tIns="0" rIns="0" bIns="0" rtlCol="0" anchor="t"/>
          <a:lstStyle/>
          <a:p>
            <a:pPr indent="0" marL="0">
              <a:buNone/>
            </a:pPr>
            <a:r>
              <a:rPr lang="en-US" sz="1350" b="1" dirty="0">
                <a:solidFill>
                  <a:srgbClr val="14284B"/>
                </a:solidFill>
                <a:latin typeface="Calibri" pitchFamily="34" charset="0"/>
                <a:ea typeface="Calibri" pitchFamily="34" charset="-122"/>
                <a:cs typeface="Calibri" pitchFamily="34" charset="-120"/>
              </a:rPr>
              <a:t>Aggregate counts</a:t>
            </a:r>
            <a:endParaRPr lang="en-US" sz="1350" dirty="0"/>
          </a:p>
        </p:txBody>
      </p:sp>
      <p:sp>
        <p:nvSpPr>
          <p:cNvPr id="41" name="Text 38"/>
          <p:cNvSpPr txBox="1"/>
          <p:nvPr/>
        </p:nvSpPr>
        <p:spPr>
          <a:xfrm>
            <a:off x="9253728" y="4069080"/>
            <a:ext cx="2279599" cy="50292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Σ job counts + remainder → ppm_stats_t</a:t>
            </a:r>
            <a:endParaRPr lang="en-US" sz="1100" dirty="0"/>
          </a:p>
        </p:txBody>
      </p:sp>
      <p:sp>
        <p:nvSpPr>
          <p:cNvPr id="42" name="Shape 39"/>
          <p:cNvSpPr/>
          <p:nvPr/>
        </p:nvSpPr>
        <p:spPr>
          <a:xfrm>
            <a:off x="548640" y="5486400"/>
            <a:ext cx="11091672" cy="713232"/>
          </a:xfrm>
          <a:prstGeom prst="rect">
            <a:avLst/>
          </a:prstGeom>
          <a:solidFill>
            <a:srgbClr val="F6F7F9"/>
          </a:solidFill>
          <a:ln/>
        </p:spPr>
      </p:sp>
      <p:sp>
        <p:nvSpPr>
          <p:cNvPr id="43" name="Text 40"/>
          <p:cNvSpPr txBox="1"/>
          <p:nvPr/>
        </p:nvSpPr>
        <p:spPr>
          <a:xfrm>
            <a:off x="731520" y="5486400"/>
            <a:ext cx="10725912" cy="713232"/>
          </a:xfrm>
          <a:prstGeom prst="rect">
            <a:avLst/>
          </a:prstGeom>
          <a:noFill/>
          <a:ln/>
        </p:spPr>
        <p:txBody>
          <a:bodyPr wrap="square" lIns="0" tIns="0" rIns="0" bIns="0" rtlCol="0" anchor="ctr"/>
          <a:lstStyle/>
          <a:p>
            <a:pPr indent="0" marL="0">
              <a:buNone/>
            </a:pPr>
            <a:r>
              <a:rPr lang="en-US" sz="1200" b="1" dirty="0">
                <a:solidFill>
                  <a:srgbClr val="14284B"/>
                </a:solidFill>
                <a:latin typeface="Calibri" pitchFamily="34" charset="0"/>
                <a:ea typeface="Calibri" pitchFamily="34" charset="-122"/>
                <a:cs typeface="Calibri" pitchFamily="34" charset="-120"/>
              </a:rPr>
              <a:t>Entry point   </a:t>
            </a:r>
            <a:r>
              <a:rPr lang="en-US" sz="1200" dirty="0">
                <a:solidFill>
                  <a:srgbClr val="2F6DB5"/>
                </a:solidFill>
                <a:latin typeface="Courier New" pitchFamily="34" charset="0"/>
                <a:ea typeface="Courier New" pitchFamily="34" charset="-122"/>
                <a:cs typeface="Courier New" pitchFamily="34" charset="-120"/>
              </a:rPr>
              <a:t>ppm_recover_sd()</a:t>
            </a:r>
            <a:r>
              <a:rPr lang="en-US" sz="1200" dirty="0">
                <a:solidFill>
                  <a:srgbClr val="222222"/>
                </a:solidFill>
                <a:latin typeface="Calibri" pitchFamily="34" charset="0"/>
                <a:ea typeface="Calibri" pitchFamily="34" charset="-122"/>
                <a:cs typeface="Calibri" pitchFamily="34" charset="-120"/>
              </a:rPr>
              <a:t>  — separate from the baseline ec_recover(); returns −1 on invalid input, allocation failure, singular submatrix or worker failure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RESULT · ALGORITHMIC CHECK</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Figure 3 Reproduced: 35 → 29 Operations</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7</a:t>
            </a:r>
            <a:endParaRPr lang="en-US" sz="900" dirty="0"/>
          </a:p>
        </p:txBody>
      </p:sp>
      <p:sp>
        <p:nvSpPr>
          <p:cNvPr id="7" name="Text 4"/>
          <p:cNvSpPr txBox="1"/>
          <p:nvPr/>
        </p:nvSpPr>
        <p:spPr>
          <a:xfrm>
            <a:off x="548640" y="1581912"/>
            <a:ext cx="6766560" cy="320040"/>
          </a:xfrm>
          <a:prstGeom prst="rect">
            <a:avLst/>
          </a:prstGeom>
          <a:noFill/>
          <a:ln/>
        </p:spPr>
        <p:txBody>
          <a:bodyPr wrap="square" lIns="0" tIns="0" rIns="0" bIns="0" rtlCol="0" anchor="t"/>
          <a:lstStyle/>
          <a:p>
            <a:pPr indent="0" marL="0">
              <a:buNone/>
            </a:pPr>
            <a:r>
              <a:rPr lang="en-US" sz="1400" b="1" dirty="0">
                <a:solidFill>
                  <a:srgbClr val="14284B"/>
                </a:solidFill>
                <a:latin typeface="Calibri" pitchFamily="34" charset="0"/>
                <a:ea typeface="Calibri" pitchFamily="34" charset="-122"/>
                <a:cs typeface="Calibri" pitchFamily="34" charset="-120"/>
              </a:rPr>
              <a:t>Baseline — normal sequence, one coupled system</a:t>
            </a:r>
            <a:endParaRPr lang="en-US" sz="1400" dirty="0"/>
          </a:p>
        </p:txBody>
      </p:sp>
      <p:sp>
        <p:nvSpPr>
          <p:cNvPr id="8" name="Shape 5"/>
          <p:cNvSpPr/>
          <p:nvPr/>
        </p:nvSpPr>
        <p:spPr>
          <a:xfrm>
            <a:off x="548640" y="1965960"/>
            <a:ext cx="4253266" cy="685800"/>
          </a:xfrm>
          <a:prstGeom prst="rect">
            <a:avLst/>
          </a:prstGeom>
          <a:solidFill>
            <a:srgbClr val="B9C9E2"/>
          </a:solidFill>
          <a:ln/>
        </p:spPr>
      </p:sp>
      <p:sp>
        <p:nvSpPr>
          <p:cNvPr id="9" name="Shape 6"/>
          <p:cNvSpPr/>
          <p:nvPr/>
        </p:nvSpPr>
        <p:spPr>
          <a:xfrm>
            <a:off x="4801906" y="1965960"/>
            <a:ext cx="2513294" cy="685800"/>
          </a:xfrm>
          <a:prstGeom prst="rect">
            <a:avLst/>
          </a:prstGeom>
          <a:solidFill>
            <a:srgbClr val="8FA8CC"/>
          </a:solidFill>
          <a:ln/>
        </p:spPr>
      </p:sp>
      <p:sp>
        <p:nvSpPr>
          <p:cNvPr id="10" name="Text 7"/>
          <p:cNvSpPr txBox="1"/>
          <p:nvPr/>
        </p:nvSpPr>
        <p:spPr>
          <a:xfrm>
            <a:off x="548640" y="1965960"/>
            <a:ext cx="4253266" cy="685800"/>
          </a:xfrm>
          <a:prstGeom prst="rect">
            <a:avLst/>
          </a:prstGeom>
          <a:noFill/>
          <a:ln/>
        </p:spPr>
        <p:txBody>
          <a:bodyPr wrap="square" lIns="0" tIns="0" rIns="0" bIns="0" rtlCol="0" anchor="ctr"/>
          <a:lstStyle/>
          <a:p>
            <a:pPr algn="ctr" indent="0" marL="0">
              <a:buNone/>
            </a:pPr>
            <a:r>
              <a:rPr lang="en-US" sz="1400" b="1" dirty="0">
                <a:solidFill>
                  <a:srgbClr val="14284B"/>
                </a:solidFill>
                <a:latin typeface="Calibri" pitchFamily="34" charset="0"/>
                <a:ea typeface="Calibri" pitchFamily="34" charset="-122"/>
                <a:cs typeface="Calibri" pitchFamily="34" charset="-120"/>
              </a:rPr>
              <a:t>u(S) = 22</a:t>
            </a:r>
            <a:endParaRPr lang="en-US" sz="1400" dirty="0"/>
          </a:p>
        </p:txBody>
      </p:sp>
      <p:sp>
        <p:nvSpPr>
          <p:cNvPr id="11" name="Text 8"/>
          <p:cNvSpPr txBox="1"/>
          <p:nvPr/>
        </p:nvSpPr>
        <p:spPr>
          <a:xfrm>
            <a:off x="4801906" y="1965960"/>
            <a:ext cx="2513294" cy="685800"/>
          </a:xfrm>
          <a:prstGeom prst="rect">
            <a:avLst/>
          </a:prstGeom>
          <a:noFill/>
          <a:ln/>
        </p:spPr>
        <p:txBody>
          <a:bodyPr wrap="square" lIns="0" tIns="0" rIns="0" bIns="0" rtlCol="0" anchor="ctr"/>
          <a:lstStyle/>
          <a:p>
            <a:pPr algn="ctr" indent="0" marL="0">
              <a:buNone/>
            </a:pPr>
            <a:r>
              <a:rPr lang="en-US" sz="1400" b="1" dirty="0">
                <a:solidFill>
                  <a:srgbClr val="14284B"/>
                </a:solidFill>
                <a:latin typeface="Calibri" pitchFamily="34" charset="0"/>
                <a:ea typeface="Calibri" pitchFamily="34" charset="-122"/>
                <a:cs typeface="Calibri" pitchFamily="34" charset="-120"/>
              </a:rPr>
              <a:t>u(F⁻¹) = 13</a:t>
            </a:r>
            <a:endParaRPr lang="en-US" sz="1400" dirty="0"/>
          </a:p>
        </p:txBody>
      </p:sp>
      <p:sp>
        <p:nvSpPr>
          <p:cNvPr id="12" name="Text 9"/>
          <p:cNvSpPr txBox="1"/>
          <p:nvPr/>
        </p:nvSpPr>
        <p:spPr>
          <a:xfrm>
            <a:off x="7498080" y="1965960"/>
            <a:ext cx="1097280" cy="685800"/>
          </a:xfrm>
          <a:prstGeom prst="rect">
            <a:avLst/>
          </a:prstGeom>
          <a:noFill/>
          <a:ln/>
        </p:spPr>
        <p:txBody>
          <a:bodyPr wrap="square" lIns="0" tIns="0" rIns="0" bIns="0" rtlCol="0" anchor="ctr"/>
          <a:lstStyle/>
          <a:p>
            <a:pPr indent="0" marL="0">
              <a:buNone/>
            </a:pPr>
            <a:r>
              <a:rPr lang="en-US" sz="3200" b="1" dirty="0">
                <a:solidFill>
                  <a:srgbClr val="14284B"/>
                </a:solidFill>
                <a:latin typeface="Calibri" pitchFamily="34" charset="0"/>
                <a:ea typeface="Calibri" pitchFamily="34" charset="-122"/>
                <a:cs typeface="Calibri" pitchFamily="34" charset="-120"/>
              </a:rPr>
              <a:t>35</a:t>
            </a:r>
            <a:endParaRPr lang="en-US" sz="3200" dirty="0"/>
          </a:p>
        </p:txBody>
      </p:sp>
      <p:sp>
        <p:nvSpPr>
          <p:cNvPr id="13" name="Text 10"/>
          <p:cNvSpPr txBox="1"/>
          <p:nvPr/>
        </p:nvSpPr>
        <p:spPr>
          <a:xfrm>
            <a:off x="548640" y="3227832"/>
            <a:ext cx="6766560" cy="320040"/>
          </a:xfrm>
          <a:prstGeom prst="rect">
            <a:avLst/>
          </a:prstGeom>
          <a:noFill/>
          <a:ln/>
        </p:spPr>
        <p:txBody>
          <a:bodyPr wrap="square" lIns="0" tIns="0" rIns="0" bIns="0" rtlCol="0" anchor="t"/>
          <a:lstStyle/>
          <a:p>
            <a:pPr indent="0" marL="0">
              <a:buNone/>
            </a:pPr>
            <a:r>
              <a:rPr lang="en-US" sz="1400" b="1" dirty="0">
                <a:solidFill>
                  <a:srgbClr val="2F6DB5"/>
                </a:solidFill>
                <a:latin typeface="Calibri" pitchFamily="34" charset="0"/>
                <a:ea typeface="Calibri" pitchFamily="34" charset="-122"/>
                <a:cs typeface="Calibri" pitchFamily="34" charset="-120"/>
              </a:rPr>
              <a:t>PPM — partitioned, fixed sequences</a:t>
            </a:r>
            <a:endParaRPr lang="en-US" sz="1400" dirty="0"/>
          </a:p>
        </p:txBody>
      </p:sp>
      <p:sp>
        <p:nvSpPr>
          <p:cNvPr id="14" name="Shape 11"/>
          <p:cNvSpPr/>
          <p:nvPr/>
        </p:nvSpPr>
        <p:spPr>
          <a:xfrm>
            <a:off x="548640" y="3611880"/>
            <a:ext cx="552559" cy="685800"/>
          </a:xfrm>
          <a:prstGeom prst="rect">
            <a:avLst/>
          </a:prstGeom>
          <a:solidFill>
            <a:srgbClr val="2F6DB5"/>
          </a:solidFill>
          <a:ln/>
        </p:spPr>
      </p:sp>
      <p:sp>
        <p:nvSpPr>
          <p:cNvPr id="15" name="Text 12"/>
          <p:cNvSpPr txBox="1"/>
          <p:nvPr/>
        </p:nvSpPr>
        <p:spPr>
          <a:xfrm>
            <a:off x="548640" y="3611880"/>
            <a:ext cx="579991"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t>
            </a:r>
            <a:r>
              <a:rPr lang="en-US" sz="1200" b="1" baseline="-40000" dirty="0">
                <a:solidFill>
                  <a:srgbClr val="FFFFFF"/>
                </a:solidFill>
                <a:latin typeface="Cambria" pitchFamily="34" charset="0"/>
                <a:ea typeface="Cambria" pitchFamily="34" charset="-122"/>
                <a:cs typeface="Cambria" pitchFamily="34" charset="-120"/>
              </a:rPr>
              <a:t>0</a:t>
            </a:r>
            <a:r>
              <a:rPr lang="en-US" sz="1200" b="1" dirty="0">
                <a:solidFill>
                  <a:srgbClr val="FFFFFF"/>
                </a:solidFill>
                <a:latin typeface="Cambria" pitchFamily="34" charset="0"/>
                <a:ea typeface="Cambria" pitchFamily="34" charset="-122"/>
                <a:cs typeface="Cambria" pitchFamily="34" charset="-120"/>
              </a:rPr>
              <a:t>: 3</a:t>
            </a:r>
            <a:endParaRPr lang="en-US" sz="1200" dirty="0"/>
          </a:p>
        </p:txBody>
      </p:sp>
      <p:sp>
        <p:nvSpPr>
          <p:cNvPr id="16" name="Shape 13"/>
          <p:cNvSpPr/>
          <p:nvPr/>
        </p:nvSpPr>
        <p:spPr>
          <a:xfrm>
            <a:off x="1128631" y="3611880"/>
            <a:ext cx="552559" cy="685800"/>
          </a:xfrm>
          <a:prstGeom prst="rect">
            <a:avLst/>
          </a:prstGeom>
          <a:solidFill>
            <a:srgbClr val="2F6DB5"/>
          </a:solidFill>
          <a:ln/>
        </p:spPr>
      </p:sp>
      <p:sp>
        <p:nvSpPr>
          <p:cNvPr id="17" name="Text 14"/>
          <p:cNvSpPr txBox="1"/>
          <p:nvPr/>
        </p:nvSpPr>
        <p:spPr>
          <a:xfrm>
            <a:off x="1128631" y="3611880"/>
            <a:ext cx="579991"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t>
            </a:r>
            <a:r>
              <a:rPr lang="en-US" sz="1200" b="1" baseline="-40000" dirty="0">
                <a:solidFill>
                  <a:srgbClr val="FFFFFF"/>
                </a:solidFill>
                <a:latin typeface="Cambria" pitchFamily="34" charset="0"/>
                <a:ea typeface="Cambria" pitchFamily="34" charset="-122"/>
                <a:cs typeface="Cambria" pitchFamily="34" charset="-120"/>
              </a:rPr>
              <a:t>1</a:t>
            </a:r>
            <a:r>
              <a:rPr lang="en-US" sz="1200" b="1" dirty="0">
                <a:solidFill>
                  <a:srgbClr val="FFFFFF"/>
                </a:solidFill>
                <a:latin typeface="Cambria" pitchFamily="34" charset="0"/>
                <a:ea typeface="Cambria" pitchFamily="34" charset="-122"/>
                <a:cs typeface="Cambria" pitchFamily="34" charset="-120"/>
              </a:rPr>
              <a:t>: 3</a:t>
            </a:r>
            <a:endParaRPr lang="en-US" sz="1200" dirty="0"/>
          </a:p>
        </p:txBody>
      </p:sp>
      <p:sp>
        <p:nvSpPr>
          <p:cNvPr id="18" name="Shape 15"/>
          <p:cNvSpPr/>
          <p:nvPr/>
        </p:nvSpPr>
        <p:spPr>
          <a:xfrm>
            <a:off x="1708622" y="3611880"/>
            <a:ext cx="552559" cy="685800"/>
          </a:xfrm>
          <a:prstGeom prst="rect">
            <a:avLst/>
          </a:prstGeom>
          <a:solidFill>
            <a:srgbClr val="2F6DB5"/>
          </a:solidFill>
          <a:ln/>
        </p:spPr>
      </p:sp>
      <p:sp>
        <p:nvSpPr>
          <p:cNvPr id="19" name="Text 16"/>
          <p:cNvSpPr txBox="1"/>
          <p:nvPr/>
        </p:nvSpPr>
        <p:spPr>
          <a:xfrm>
            <a:off x="1708622" y="3611880"/>
            <a:ext cx="579991"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t>
            </a:r>
            <a:r>
              <a:rPr lang="en-US" sz="1200" b="1" baseline="-40000" dirty="0">
                <a:solidFill>
                  <a:srgbClr val="FFFFFF"/>
                </a:solidFill>
                <a:latin typeface="Cambria" pitchFamily="34" charset="0"/>
                <a:ea typeface="Cambria" pitchFamily="34" charset="-122"/>
                <a:cs typeface="Cambria" pitchFamily="34" charset="-120"/>
              </a:rPr>
              <a:t>2</a:t>
            </a:r>
            <a:r>
              <a:rPr lang="en-US" sz="1200" b="1" dirty="0">
                <a:solidFill>
                  <a:srgbClr val="FFFFFF"/>
                </a:solidFill>
                <a:latin typeface="Cambria" pitchFamily="34" charset="0"/>
                <a:ea typeface="Cambria" pitchFamily="34" charset="-122"/>
                <a:cs typeface="Cambria" pitchFamily="34" charset="-120"/>
              </a:rPr>
              <a:t>: 3</a:t>
            </a:r>
            <a:endParaRPr lang="en-US" sz="1200" dirty="0"/>
          </a:p>
        </p:txBody>
      </p:sp>
      <p:sp>
        <p:nvSpPr>
          <p:cNvPr id="20" name="Shape 17"/>
          <p:cNvSpPr/>
          <p:nvPr/>
        </p:nvSpPr>
        <p:spPr>
          <a:xfrm>
            <a:off x="2288613" y="3611880"/>
            <a:ext cx="3866606" cy="685800"/>
          </a:xfrm>
          <a:prstGeom prst="rect">
            <a:avLst/>
          </a:prstGeom>
          <a:solidFill>
            <a:srgbClr val="14284B"/>
          </a:solidFill>
          <a:ln/>
        </p:spPr>
      </p:sp>
      <p:sp>
        <p:nvSpPr>
          <p:cNvPr id="21" name="Text 18"/>
          <p:cNvSpPr txBox="1"/>
          <p:nvPr/>
        </p:nvSpPr>
        <p:spPr>
          <a:xfrm>
            <a:off x="2288613" y="3611880"/>
            <a:ext cx="3866606"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H</a:t>
            </a:r>
            <a:r>
              <a:rPr lang="en-US" sz="1400" b="1" baseline="-40000" dirty="0">
                <a:solidFill>
                  <a:srgbClr val="FFFFFF"/>
                </a:solidFill>
                <a:latin typeface="Cambria" pitchFamily="34" charset="0"/>
                <a:ea typeface="Cambria" pitchFamily="34" charset="-122"/>
                <a:cs typeface="Cambria" pitchFamily="34" charset="-120"/>
              </a:rPr>
              <a:t>rest</a:t>
            </a:r>
            <a:r>
              <a:rPr lang="en-US" sz="1400" b="1" dirty="0">
                <a:solidFill>
                  <a:srgbClr val="FFFFFF"/>
                </a:solidFill>
                <a:latin typeface="Cambria" pitchFamily="34" charset="0"/>
                <a:ea typeface="Cambria" pitchFamily="34" charset="-122"/>
                <a:cs typeface="Cambria" pitchFamily="34" charset="-120"/>
              </a:rPr>
              <a:t> (normal): 20</a:t>
            </a:r>
            <a:endParaRPr lang="en-US" sz="1400" dirty="0"/>
          </a:p>
        </p:txBody>
      </p:sp>
      <p:sp>
        <p:nvSpPr>
          <p:cNvPr id="22" name="Shape 19"/>
          <p:cNvSpPr/>
          <p:nvPr/>
        </p:nvSpPr>
        <p:spPr>
          <a:xfrm>
            <a:off x="6155218" y="3611880"/>
            <a:ext cx="1159982" cy="685800"/>
          </a:xfrm>
          <a:prstGeom prst="rect">
            <a:avLst/>
          </a:prstGeom>
          <a:ln w="12700">
            <a:solidFill>
              <a:srgbClr val="B5472A"/>
            </a:solidFill>
            <a:prstDash val="dash"/>
          </a:ln>
        </p:spPr>
      </p:sp>
      <p:sp>
        <p:nvSpPr>
          <p:cNvPr id="23" name="Text 20"/>
          <p:cNvSpPr txBox="1"/>
          <p:nvPr/>
        </p:nvSpPr>
        <p:spPr>
          <a:xfrm>
            <a:off x="6155218" y="3611880"/>
            <a:ext cx="1159982" cy="685800"/>
          </a:xfrm>
          <a:prstGeom prst="rect">
            <a:avLst/>
          </a:prstGeom>
          <a:noFill/>
          <a:ln/>
        </p:spPr>
        <p:txBody>
          <a:bodyPr wrap="square" lIns="0" tIns="0" rIns="0" bIns="0" rtlCol="0" anchor="ctr"/>
          <a:lstStyle/>
          <a:p>
            <a:pPr algn="ctr" indent="0" marL="0">
              <a:buNone/>
            </a:pPr>
            <a:r>
              <a:rPr lang="en-US" sz="1400" b="1" dirty="0">
                <a:solidFill>
                  <a:srgbClr val="B5472A"/>
                </a:solidFill>
                <a:latin typeface="Calibri" pitchFamily="34" charset="0"/>
                <a:ea typeface="Calibri" pitchFamily="34" charset="-122"/>
                <a:cs typeface="Calibri" pitchFamily="34" charset="-120"/>
              </a:rPr>
              <a:t>−6</a:t>
            </a:r>
            <a:endParaRPr lang="en-US" sz="1400" dirty="0"/>
          </a:p>
        </p:txBody>
      </p:sp>
      <p:sp>
        <p:nvSpPr>
          <p:cNvPr id="24" name="Text 21"/>
          <p:cNvSpPr txBox="1"/>
          <p:nvPr/>
        </p:nvSpPr>
        <p:spPr>
          <a:xfrm>
            <a:off x="7498080" y="3611880"/>
            <a:ext cx="1097280" cy="685800"/>
          </a:xfrm>
          <a:prstGeom prst="rect">
            <a:avLst/>
          </a:prstGeom>
          <a:noFill/>
          <a:ln/>
        </p:spPr>
        <p:txBody>
          <a:bodyPr wrap="square" lIns="0" tIns="0" rIns="0" bIns="0" rtlCol="0" anchor="ctr"/>
          <a:lstStyle/>
          <a:p>
            <a:pPr indent="0" marL="0">
              <a:buNone/>
            </a:pPr>
            <a:r>
              <a:rPr lang="en-US" sz="3200" b="1" dirty="0">
                <a:solidFill>
                  <a:srgbClr val="2F6DB5"/>
                </a:solidFill>
                <a:latin typeface="Calibri" pitchFamily="34" charset="0"/>
                <a:ea typeface="Calibri" pitchFamily="34" charset="-122"/>
                <a:cs typeface="Calibri" pitchFamily="34" charset="-120"/>
              </a:rPr>
              <a:t>29</a:t>
            </a:r>
            <a:endParaRPr lang="en-US" sz="3200" dirty="0"/>
          </a:p>
        </p:txBody>
      </p:sp>
      <p:sp>
        <p:nvSpPr>
          <p:cNvPr id="25" name="Text 22"/>
          <p:cNvSpPr txBox="1"/>
          <p:nvPr/>
        </p:nvSpPr>
        <p:spPr>
          <a:xfrm>
            <a:off x="548640" y="4370832"/>
            <a:ext cx="6766560" cy="27432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independent: 3 groups × u(G) = 3 → 9 (matrix_first, parallel)</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412480" y="1554480"/>
          <a:ext cx="3227832" cy="914400"/>
        </p:xfrm>
        <a:graphic>
          <a:graphicData uri="http://schemas.openxmlformats.org/drawingml/2006/table">
            <a:tbl>
              <a:tblPr/>
              <a:tblGrid>
                <a:gridCol w="1508760"/>
                <a:gridCol w="731520"/>
                <a:gridCol w="987552"/>
              </a:tblGrid>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Check</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Baseline</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PPM</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r>
              <a:tr h="384048">
                <a:tc>
                  <a:txBody>
                    <a:bodyPr/>
                    <a:lstStyle/>
                    <a:p>
                      <a:pPr algn="l" indent="0" marL="0">
                        <a:buNone/>
                      </a:pPr>
                      <a:r>
                        <a:rPr lang="en-US" sz="1100" dirty="0">
                          <a:solidFill>
                            <a:srgbClr val="222222"/>
                          </a:solidFill>
                          <a:latin typeface="Calibri" pitchFamily="34" charset="0"/>
                          <a:ea typeface="Calibri" pitchFamily="34" charset="-122"/>
                          <a:cs typeface="Calibri" pitchFamily="34" charset="-120"/>
                        </a:rPr>
                        <a:t>Operations C</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100" dirty="0">
                          <a:solidFill>
                            <a:srgbClr val="222222"/>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100" b="1" dirty="0">
                          <a:solidFill>
                            <a:srgbClr val="2F6DB5"/>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84048">
                <a:tc>
                  <a:txBody>
                    <a:bodyPr/>
                    <a:lstStyle/>
                    <a:p>
                      <a:pPr algn="l" indent="0" marL="0">
                        <a:buNone/>
                      </a:pPr>
                      <a:r>
                        <a:rPr lang="en-US" sz="1100" dirty="0">
                          <a:solidFill>
                            <a:srgbClr val="222222"/>
                          </a:solidFill>
                          <a:latin typeface="Calibri" pitchFamily="34" charset="0"/>
                          <a:ea typeface="Calibri" pitchFamily="34" charset="-122"/>
                          <a:cs typeface="Calibri" pitchFamily="34" charset="-120"/>
                        </a:rPr>
                        <a:t>Independent groups p</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100" dirty="0">
                          <a:solidFill>
                            <a:srgbClr val="22222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100" dirty="0">
                          <a:solidFill>
                            <a:srgbClr val="222222"/>
                          </a:solidFill>
                          <a:latin typeface="Calibri" pitchFamily="34" charset="0"/>
                          <a:ea typeface="Calibri" pitchFamily="34" charset="-122"/>
                          <a:cs typeface="Calibri" pitchFamily="34" charset="-120"/>
                        </a:rPr>
                        <a:t>3  ({2}, {6}, {10})</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84048">
                <a:tc>
                  <a:txBody>
                    <a:bodyPr/>
                    <a:lstStyle/>
                    <a:p>
                      <a:pPr algn="l" indent="0" marL="0">
                        <a:buNone/>
                      </a:pPr>
                      <a:r>
                        <a:rPr lang="en-US" sz="1100" dirty="0">
                          <a:solidFill>
                            <a:srgbClr val="222222"/>
                          </a:solidFill>
                          <a:latin typeface="Calibri" pitchFamily="34" charset="0"/>
                          <a:ea typeface="Calibri" pitchFamily="34" charset="-122"/>
                          <a:cs typeface="Calibri" pitchFamily="34" charset="-120"/>
                        </a:rPr>
                        <a:t>Dependent faults</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100" dirty="0">
                          <a:solidFill>
                            <a:srgbClr val="22222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100" dirty="0">
                          <a:solidFill>
                            <a:srgbClr val="222222"/>
                          </a:solidFill>
                          <a:latin typeface="Calibri" pitchFamily="34" charset="0"/>
                          <a:ea typeface="Calibri" pitchFamily="34" charset="-122"/>
                          <a:cs typeface="Calibri" pitchFamily="34" charset="-120"/>
                        </a:rPr>
                        <a:t>2  ({13, 14})</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84048">
                <a:tc>
                  <a:txBody>
                    <a:bodyPr/>
                    <a:lstStyle/>
                    <a:p>
                      <a:pPr algn="l" indent="0" marL="0">
                        <a:buNone/>
                      </a:pPr>
                      <a:r>
                        <a:rPr lang="en-US" sz="1100" dirty="0">
                          <a:solidFill>
                            <a:srgbClr val="222222"/>
                          </a:solidFill>
                          <a:latin typeface="Calibri" pitchFamily="34" charset="0"/>
                          <a:ea typeface="Calibri" pitchFamily="34" charset="-122"/>
                          <a:cs typeface="Calibri" pitchFamily="34" charset="-120"/>
                        </a:rPr>
                        <a:t>Recovered bytes = original</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100" dirty="0">
                          <a:solidFill>
                            <a:srgbClr val="222222"/>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100" dirty="0">
                          <a:solidFill>
                            <a:srgbClr val="222222"/>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84048">
                <a:tc>
                  <a:txBody>
                    <a:bodyPr/>
                    <a:lstStyle/>
                    <a:p>
                      <a:pPr algn="l" indent="0" marL="0">
                        <a:buNone/>
                      </a:pPr>
                      <a:r>
                        <a:rPr lang="en-US" sz="1100" dirty="0">
                          <a:solidFill>
                            <a:srgbClr val="222222"/>
                          </a:solidFill>
                          <a:latin typeface="Calibri" pitchFamily="34" charset="0"/>
                          <a:ea typeface="Calibri" pitchFamily="34" charset="-122"/>
                          <a:cs typeface="Calibri" pitchFamily="34" charset="-120"/>
                        </a:rPr>
                        <a:t>Syndrome H·B = 0</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100" dirty="0">
                          <a:solidFill>
                            <a:srgbClr val="222222"/>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100" dirty="0">
                          <a:solidFill>
                            <a:srgbClr val="222222"/>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bl>
          </a:graphicData>
        </a:graphic>
      </p:graphicFrame>
      <p:sp>
        <p:nvSpPr>
          <p:cNvPr id="27" name="Shape 23"/>
          <p:cNvSpPr/>
          <p:nvPr/>
        </p:nvSpPr>
        <p:spPr>
          <a:xfrm>
            <a:off x="548640" y="5074920"/>
            <a:ext cx="11091672" cy="1051560"/>
          </a:xfrm>
          <a:prstGeom prst="rect">
            <a:avLst/>
          </a:prstGeom>
          <a:solidFill>
            <a:srgbClr val="EEF2F8"/>
          </a:solidFill>
          <a:ln/>
        </p:spPr>
      </p:sp>
      <p:sp>
        <p:nvSpPr>
          <p:cNvPr id="28" name="Text 24"/>
          <p:cNvSpPr txBox="1"/>
          <p:nvPr/>
        </p:nvSpPr>
        <p:spPr>
          <a:xfrm>
            <a:off x="777240" y="5074920"/>
            <a:ext cx="10634472" cy="1051560"/>
          </a:xfrm>
          <a:prstGeom prst="rect">
            <a:avLst/>
          </a:prstGeom>
          <a:noFill/>
          <a:ln/>
        </p:spPr>
        <p:txBody>
          <a:bodyPr wrap="square" lIns="0" tIns="0" rIns="0" bIns="0" rtlCol="0" anchor="ctr"/>
          <a:lstStyle/>
          <a:p>
            <a:pPr indent="0" marL="0">
              <a:buNone/>
            </a:pPr>
            <a:r>
              <a:rPr lang="en-US" sz="2600" b="1" dirty="0">
                <a:solidFill>
                  <a:srgbClr val="2F6DB5"/>
                </a:solidFill>
                <a:latin typeface="Calibri" pitchFamily="34" charset="0"/>
                <a:ea typeface="Calibri" pitchFamily="34" charset="-122"/>
                <a:cs typeface="Calibri" pitchFamily="34" charset="-120"/>
              </a:rPr>
              <a:t>−17.1 %</a:t>
            </a:r>
            <a:r>
              <a:rPr lang="en-US" sz="1400" dirty="0">
                <a:solidFill>
                  <a:srgbClr val="222222"/>
                </a:solidFill>
                <a:latin typeface="Calibri" pitchFamily="34" charset="0"/>
                <a:ea typeface="Calibri" pitchFamily="34" charset="-122"/>
                <a:cs typeface="Calibri" pitchFamily="34" charset="-120"/>
              </a:rPr>
              <a:t>    region operations on the paper's own example — the implementation matches the paper's expected partition and count before any threading is involved.</a:t>
            </a:r>
            <a:endParaRPr lang="en-US"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IMPLEMENTATION</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What Changed in the Code Base</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108960"/>
                <a:gridCol w="7982712"/>
              </a:tblGrid>
              <a:tr h="42976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File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Milestone 2 change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r>
              <a:tr h="429768">
                <a:tc>
                  <a:txBody>
                    <a:bodyPr/>
                    <a:lstStyle/>
                    <a:p>
                      <a:pPr algn="l" indent="0" marL="0">
                        <a:buNone/>
                      </a:pPr>
                      <a:r>
                        <a:rPr lang="en-US" sz="1150" dirty="0">
                          <a:solidFill>
                            <a:srgbClr val="14284B"/>
                          </a:solidFill>
                          <a:latin typeface="Courier New" pitchFamily="34" charset="0"/>
                          <a:ea typeface="Courier New" pitchFamily="34" charset="-122"/>
                          <a:cs typeface="Courier New" pitchFamily="34" charset="-120"/>
                        </a:rPr>
                        <a:t>gf.h / gf.c</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operation counter becomes C11 _Thread_local; scalar arithmetic unchanged</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429768">
                <a:tc>
                  <a:txBody>
                    <a:bodyPr/>
                    <a:lstStyle/>
                    <a:p>
                      <a:pPr algn="l" indent="0" marL="0">
                        <a:buNone/>
                      </a:pPr>
                      <a:r>
                        <a:rPr lang="en-US" sz="1150" dirty="0">
                          <a:solidFill>
                            <a:srgbClr val="14284B"/>
                          </a:solidFill>
                          <a:latin typeface="Courier New" pitchFamily="34" charset="0"/>
                          <a:ea typeface="Courier New" pitchFamily="34" charset="-122"/>
                          <a:cs typeface="Courier New" pitchFamily="34" charset="-120"/>
                        </a:rPr>
                        <a:t>matrix.c</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mat_mul(): small GF coefficient-matrix product, not counted in C</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429768">
                <a:tc>
                  <a:txBody>
                    <a:bodyPr/>
                    <a:lstStyle/>
                    <a:p>
                      <a:pPr algn="l" indent="0" marL="0">
                        <a:buNone/>
                      </a:pPr>
                      <a:r>
                        <a:rPr lang="en-US" sz="1150" dirty="0">
                          <a:solidFill>
                            <a:srgbClr val="14284B"/>
                          </a:solidFill>
                          <a:latin typeface="Courier New" pitchFamily="34" charset="0"/>
                          <a:ea typeface="Courier New" pitchFamily="34" charset="-122"/>
                          <a:cs typeface="Courier New" pitchFamily="34" charset="-120"/>
                        </a:rPr>
                        <a:t>codec.c</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ec_decode_matrix_first(): G = F⁻¹·S, then B_F = G·B_S; ec_recover() untouched</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429768">
                <a:tc>
                  <a:txBody>
                    <a:bodyPr/>
                    <a:lstStyle/>
                    <a:p>
                      <a:pPr algn="l" indent="0" marL="0">
                        <a:buNone/>
                      </a:pPr>
                      <a:r>
                        <a:rPr lang="en-US" sz="1150" dirty="0">
                          <a:solidFill>
                            <a:srgbClr val="14284B"/>
                          </a:solidFill>
                          <a:latin typeface="Courier New" pitchFamily="34" charset="0"/>
                          <a:ea typeface="Courier New" pitchFamily="34" charset="-122"/>
                          <a:cs typeface="Courier New" pitchFamily="34" charset="-120"/>
                        </a:rPr>
                        <a:t>ppm.h / ppm.c  (new)</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validation, SD partition, job preparation, OpenMP loop, barrier, remainder, ppm_stats_t</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429768">
                <a:tc>
                  <a:txBody>
                    <a:bodyPr/>
                    <a:lstStyle/>
                    <a:p>
                      <a:pPr algn="l" indent="0" marL="0">
                        <a:buNone/>
                      </a:pPr>
                      <a:r>
                        <a:rPr lang="en-US" sz="1150" dirty="0">
                          <a:solidFill>
                            <a:srgbClr val="14284B"/>
                          </a:solidFill>
                          <a:latin typeface="Courier New" pitchFamily="34" charset="0"/>
                          <a:ea typeface="Courier New" pitchFamily="34" charset="-122"/>
                          <a:cs typeface="Courier New" pitchFamily="34" charset="-120"/>
                        </a:rPr>
                        <a:t>ppm_sweep.c  (new)</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full-grid PPM correctness at T = 1 and T = 4</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429768">
                <a:tc>
                  <a:txBody>
                    <a:bodyPr/>
                    <a:lstStyle/>
                    <a:p>
                      <a:pPr algn="l" indent="0" marL="0">
                        <a:buNone/>
                      </a:pPr>
                      <a:r>
                        <a:rPr lang="en-US" sz="1150" dirty="0">
                          <a:solidFill>
                            <a:srgbClr val="14284B"/>
                          </a:solidFill>
                          <a:latin typeface="Courier New" pitchFamily="34" charset="0"/>
                          <a:ea typeface="Courier New" pitchFamily="34" charset="-122"/>
                          <a:cs typeface="Courier New" pitchFamily="34" charset="-120"/>
                        </a:rPr>
                        <a:t>ppm_benchmark.c  (new)</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baseline vs PPM, T = 1, 2, 4, 8, 32 MiB codeword</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429768">
                <a:tc>
                  <a:txBody>
                    <a:bodyPr/>
                    <a:lstStyle/>
                    <a:p>
                      <a:pPr algn="l" indent="0" marL="0">
                        <a:buNone/>
                      </a:pPr>
                      <a:r>
                        <a:rPr lang="en-US" sz="1150" dirty="0">
                          <a:solidFill>
                            <a:srgbClr val="14284B"/>
                          </a:solidFill>
                          <a:latin typeface="Courier New" pitchFamily="34" charset="0"/>
                          <a:ea typeface="Courier New" pitchFamily="34" charset="-122"/>
                          <a:cs typeface="Courier New" pitchFamily="34" charset="-120"/>
                        </a:rPr>
                        <a:t>test_ppm.c  (new)</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mat_mul, Figure 3, three fields at T = 1, 2, 4, invalid inputs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429768">
                <a:tc>
                  <a:txBody>
                    <a:bodyPr/>
                    <a:lstStyle/>
                    <a:p>
                      <a:pPr algn="l" indent="0" marL="0">
                        <a:buNone/>
                      </a:pPr>
                      <a:r>
                        <a:rPr lang="en-US" sz="1150" dirty="0">
                          <a:solidFill>
                            <a:srgbClr val="14284B"/>
                          </a:solidFill>
                          <a:latin typeface="Courier New" pitchFamily="34" charset="0"/>
                          <a:ea typeface="Courier New" pitchFamily="34" charset="-122"/>
                          <a:cs typeface="Courier New" pitchFamily="34" charset="-120"/>
                        </a:rPr>
                        <a:t>plot_milestone2.py  (new)</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PNG / SVG result plots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429768">
                <a:tc>
                  <a:txBody>
                    <a:bodyPr/>
                    <a:lstStyle/>
                    <a:p>
                      <a:pPr algn="l" indent="0" marL="0">
                        <a:buNone/>
                      </a:pPr>
                      <a:r>
                        <a:rPr lang="en-US" sz="1150" dirty="0">
                          <a:solidFill>
                            <a:srgbClr val="14284B"/>
                          </a:solidFill>
                          <a:latin typeface="Courier New" pitchFamily="34" charset="0"/>
                          <a:ea typeface="Courier New" pitchFamily="34" charset="-122"/>
                          <a:cs typeface="Courier New" pitchFamily="34" charset="-120"/>
                        </a:rPr>
                        <a:t>Makefile</a:t>
                      </a:r>
                      <a:endParaRPr lang="en-US" sz="1150" dirty="0">
                        <a:latin typeface="Courier New" charset="0"/>
                        <a:ea typeface="Courier New" charset="0"/>
                        <a:cs typeface="Courier New"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OMPFLAGS ?= -fopenmp; targets ppm-test, ppm-sweep, ppm-benchmark, plots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bl>
          </a:graphicData>
        </a:graphic>
      </p:graphicFrame>
      <p:sp>
        <p:nvSpPr>
          <p:cNvPr id="8" name="Text 4"/>
          <p:cNvSpPr txBox="1"/>
          <p:nvPr/>
        </p:nvSpPr>
        <p:spPr>
          <a:xfrm>
            <a:off x="548640" y="5806440"/>
            <a:ext cx="11091672" cy="320040"/>
          </a:xfrm>
          <a:prstGeom prst="rect">
            <a:avLst/>
          </a:prstGeom>
          <a:noFill/>
          <a:ln/>
        </p:spPr>
        <p:txBody>
          <a:bodyPr wrap="square" lIns="0" tIns="0" rIns="0" bIns="0" rtlCol="0" anchor="t"/>
          <a:lstStyle/>
          <a:p>
            <a:pPr indent="0" marL="0">
              <a:buNone/>
            </a:pPr>
            <a:r>
              <a:rPr lang="en-US" sz="1200" i="1" dirty="0">
                <a:solidFill>
                  <a:srgbClr val="5F6B7A"/>
                </a:solidFill>
                <a:latin typeface="Calibri" pitchFamily="34" charset="0"/>
                <a:ea typeface="Calibri" pitchFamily="34" charset="-122"/>
                <a:cs typeface="Calibri" pitchFamily="34" charset="-120"/>
              </a:rPr>
              <a:t>Unchanged: sd_code.c / sd_code.h already expose the row-local + dense structure PPM needs.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IMPLEMENTATION</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OpenMP Region and Thread-Local Counting</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9</a:t>
            </a:r>
            <a:endParaRPr lang="en-US" sz="900" dirty="0"/>
          </a:p>
        </p:txBody>
      </p:sp>
      <p:sp>
        <p:nvSpPr>
          <p:cNvPr id="7" name="Text 4"/>
          <p:cNvSpPr txBox="1"/>
          <p:nvPr/>
        </p:nvSpPr>
        <p:spPr>
          <a:xfrm>
            <a:off x="548640" y="1325880"/>
            <a:ext cx="6720840" cy="292608"/>
          </a:xfrm>
          <a:prstGeom prst="rect">
            <a:avLst/>
          </a:prstGeom>
          <a:noFill/>
          <a:ln/>
        </p:spPr>
        <p:txBody>
          <a:bodyPr wrap="square" lIns="0" tIns="0" rIns="0" bIns="0" rtlCol="0" anchor="t"/>
          <a:lstStyle/>
          <a:p>
            <a:pPr indent="0" marL="0">
              <a:buNone/>
            </a:pPr>
            <a:r>
              <a:rPr lang="en-US" sz="1400" b="1" dirty="0">
                <a:solidFill>
                  <a:srgbClr val="14284B"/>
                </a:solidFill>
                <a:latin typeface="Calibri" pitchFamily="34" charset="0"/>
                <a:ea typeface="Calibri" pitchFamily="34" charset="-122"/>
                <a:cs typeface="Calibri" pitchFamily="34" charset="-120"/>
              </a:rPr>
              <a:t>src/ppm.c — independent jobs, then remainder</a:t>
            </a:r>
            <a:endParaRPr lang="en-US" sz="1400" dirty="0"/>
          </a:p>
        </p:txBody>
      </p:sp>
      <p:sp>
        <p:nvSpPr>
          <p:cNvPr id="8" name="Shape 5"/>
          <p:cNvSpPr/>
          <p:nvPr/>
        </p:nvSpPr>
        <p:spPr>
          <a:xfrm>
            <a:off x="548640" y="1664208"/>
            <a:ext cx="6720840" cy="3749040"/>
          </a:xfrm>
          <a:prstGeom prst="rect">
            <a:avLst/>
          </a:prstGeom>
          <a:solidFill>
            <a:srgbClr val="F4F6F9"/>
          </a:solidFill>
          <a:ln w="12700">
            <a:solidFill>
              <a:srgbClr val="C9D2DE"/>
            </a:solidFill>
            <a:prstDash val="solid"/>
          </a:ln>
        </p:spPr>
      </p:sp>
      <p:sp>
        <p:nvSpPr>
          <p:cNvPr id="9" name="Text 6"/>
          <p:cNvSpPr txBox="1"/>
          <p:nvPr/>
        </p:nvSpPr>
        <p:spPr>
          <a:xfrm>
            <a:off x="731520" y="1801368"/>
            <a:ext cx="6355080" cy="3474720"/>
          </a:xfrm>
          <a:prstGeom prst="rect">
            <a:avLst/>
          </a:prstGeom>
          <a:noFill/>
          <a:ln/>
        </p:spPr>
        <p:txBody>
          <a:bodyPr wrap="square" lIns="0" tIns="0" rIns="0" bIns="0" rtlCol="0" anchor="t"/>
          <a:lstStyle/>
          <a:p>
            <a:pPr indent="0" marL="0">
              <a:buNone/>
            </a:pPr>
            <a:r>
              <a:rPr lang="en-US" sz="1050" dirty="0">
                <a:solidFill>
                  <a:srgbClr val="1C2B45"/>
                </a:solidFill>
                <a:latin typeface="Courier New" pitchFamily="34" charset="0"/>
                <a:ea typeface="Courier New" pitchFamily="34" charset="-122"/>
                <a:cs typeface="Courier New" pitchFamily="34" charset="-120"/>
              </a:rPr>
              <a:t>effective_threads = requested_threads &lt; p ? requested_threads : p;</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#pragma omp parallel num_threads(effective_threads)</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  #pragma omp single</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  actual_threads = omp_get_num_threads();</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  #pragma omp for schedule(static)</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  for (i = 0; i &lt; p; i++) {</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    gf_count_reset();                 /* this worker's TLS */</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    jobs[i].rc = ec_decode_matrix_first(&amp;jobs[i].Finv, &amp;jobs[i].S,</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        jobs[i].faulty, jobs[i].surviving, stripe, sector_bytes, gf);</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    jobs[i].mult_xors = gf_count_get();</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  }                                    /* implicit barrier */</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for (i = 0; i &lt; p; i++) { if (jobs[i].rc) goto done;</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                          independent_count += jobs[i].mult_xors; }</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gf_count_reset();</a:t>
            </a:r>
            <a:endParaRPr lang="en-US" sz="1050" dirty="0"/>
          </a:p>
          <a:p>
            <a:pPr indent="0" marL="0">
              <a:buNone/>
            </a:pPr>
            <a:r>
              <a:rPr lang="en-US" sz="1050" dirty="0">
                <a:solidFill>
                  <a:srgbClr val="1C2B45"/>
                </a:solidFill>
                <a:latin typeface="Courier New" pitchFamily="34" charset="0"/>
                <a:ea typeface="Courier New" pitchFamily="34" charset="-122"/>
                <a:cs typeface="Courier New" pitchFamily="34" charset="-120"/>
              </a:rPr>
              <a:t>ec_decode_normal(&amp;remainder.Finv, &amp;remainder.S, ...);   /* H_rest */</a:t>
            </a:r>
            <a:endParaRPr lang="en-US" sz="1050" dirty="0"/>
          </a:p>
        </p:txBody>
      </p:sp>
      <p:sp>
        <p:nvSpPr>
          <p:cNvPr id="10" name="Text 7"/>
          <p:cNvSpPr txBox="1"/>
          <p:nvPr/>
        </p:nvSpPr>
        <p:spPr>
          <a:xfrm>
            <a:off x="548640" y="5532120"/>
            <a:ext cx="1828800" cy="274320"/>
          </a:xfrm>
          <a:prstGeom prst="rect">
            <a:avLst/>
          </a:prstGeom>
          <a:noFill/>
          <a:ln/>
        </p:spPr>
        <p:txBody>
          <a:bodyPr wrap="square" lIns="0" tIns="0" rIns="0" bIns="0" rtlCol="0" anchor="t"/>
          <a:lstStyle/>
          <a:p>
            <a:pPr indent="0" marL="0">
              <a:buNone/>
            </a:pPr>
            <a:r>
              <a:rPr lang="en-US" sz="1200" b="1" dirty="0">
                <a:solidFill>
                  <a:srgbClr val="14284B"/>
                </a:solidFill>
                <a:latin typeface="Calibri" pitchFamily="34" charset="0"/>
                <a:ea typeface="Calibri" pitchFamily="34" charset="-122"/>
                <a:cs typeface="Calibri" pitchFamily="34" charset="-120"/>
              </a:rPr>
              <a:t>src/gf.h</a:t>
            </a:r>
            <a:endParaRPr lang="en-US" sz="1200" dirty="0"/>
          </a:p>
        </p:txBody>
      </p:sp>
      <p:sp>
        <p:nvSpPr>
          <p:cNvPr id="11" name="Shape 8"/>
          <p:cNvSpPr/>
          <p:nvPr/>
        </p:nvSpPr>
        <p:spPr>
          <a:xfrm>
            <a:off x="548640" y="5806440"/>
            <a:ext cx="6720840" cy="457200"/>
          </a:xfrm>
          <a:prstGeom prst="rect">
            <a:avLst/>
          </a:prstGeom>
          <a:solidFill>
            <a:srgbClr val="F4F6F9"/>
          </a:solidFill>
          <a:ln w="12700">
            <a:solidFill>
              <a:srgbClr val="C9D2DE"/>
            </a:solidFill>
            <a:prstDash val="solid"/>
          </a:ln>
        </p:spPr>
      </p:sp>
      <p:sp>
        <p:nvSpPr>
          <p:cNvPr id="12" name="Text 9"/>
          <p:cNvSpPr txBox="1"/>
          <p:nvPr/>
        </p:nvSpPr>
        <p:spPr>
          <a:xfrm>
            <a:off x="731520" y="5943600"/>
            <a:ext cx="6355080" cy="182880"/>
          </a:xfrm>
          <a:prstGeom prst="rect">
            <a:avLst/>
          </a:prstGeom>
          <a:noFill/>
          <a:ln/>
        </p:spPr>
        <p:txBody>
          <a:bodyPr wrap="square" lIns="0" tIns="0" rIns="0" bIns="0" rtlCol="0" anchor="t"/>
          <a:lstStyle/>
          <a:p>
            <a:pPr indent="0" marL="0">
              <a:buNone/>
            </a:pPr>
            <a:r>
              <a:rPr lang="en-US" sz="1100" dirty="0">
                <a:solidFill>
                  <a:srgbClr val="1C2B45"/>
                </a:solidFill>
                <a:latin typeface="Courier New" pitchFamily="34" charset="0"/>
                <a:ea typeface="Courier New" pitchFamily="34" charset="-122"/>
                <a:cs typeface="Courier New" pitchFamily="34" charset="-120"/>
              </a:rPr>
              <a:t>extern _Thread_local uint64_t gf_mult_xors_count;</a:t>
            </a:r>
            <a:endParaRPr lang="en-US" sz="1100" dirty="0"/>
          </a:p>
        </p:txBody>
      </p:sp>
      <p:sp>
        <p:nvSpPr>
          <p:cNvPr id="13" name="Shape 10"/>
          <p:cNvSpPr/>
          <p:nvPr/>
        </p:nvSpPr>
        <p:spPr>
          <a:xfrm>
            <a:off x="7498080" y="1325880"/>
            <a:ext cx="4142232" cy="2926080"/>
          </a:xfrm>
          <a:prstGeom prst="rect">
            <a:avLst/>
          </a:prstGeom>
          <a:solidFill>
            <a:srgbClr val="EEF2F8"/>
          </a:solidFill>
          <a:ln/>
        </p:spPr>
      </p:sp>
      <p:sp>
        <p:nvSpPr>
          <p:cNvPr id="14" name="Text 11"/>
          <p:cNvSpPr txBox="1"/>
          <p:nvPr/>
        </p:nvSpPr>
        <p:spPr>
          <a:xfrm>
            <a:off x="7680960" y="1463040"/>
            <a:ext cx="3776472"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Worker rules</a:t>
            </a:r>
            <a:endParaRPr lang="en-US" sz="1500" dirty="0"/>
          </a:p>
        </p:txBody>
      </p:sp>
      <p:sp>
        <p:nvSpPr>
          <p:cNvPr id="15" name="Text 12"/>
          <p:cNvSpPr txBox="1"/>
          <p:nvPr/>
        </p:nvSpPr>
        <p:spPr>
          <a:xfrm>
            <a:off x="7680960" y="1783080"/>
            <a:ext cx="3776472" cy="237744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222222"/>
                </a:solidFill>
                <a:latin typeface="Calibri" pitchFamily="34" charset="0"/>
                <a:ea typeface="Calibri" pitchFamily="34" charset="-122"/>
                <a:cs typeface="Calibri" pitchFamily="34" charset="-120"/>
              </a:rPr>
              <a:t>Writes only its own group's faulty sectors</a:t>
            </a:r>
            <a:endParaRPr lang="en-US" sz="1300" dirty="0"/>
          </a:p>
          <a:p>
            <a:pPr marL="177800" indent="-177800">
              <a:spcAft>
                <a:spcPts val="400"/>
              </a:spcAft>
              <a:buSzPct val="100000"/>
              <a:buChar char="•"/>
            </a:pPr>
            <a:r>
              <a:rPr lang="en-US" sz="1300" dirty="0">
                <a:solidFill>
                  <a:srgbClr val="222222"/>
                </a:solidFill>
                <a:latin typeface="Calibri" pitchFamily="34" charset="0"/>
                <a:ea typeface="Calibri" pitchFamily="34" charset="-122"/>
                <a:cs typeface="Calibri" pitchFamily="34" charset="-120"/>
              </a:rPr>
              <a:t>Matrices, return code, count held per job</a:t>
            </a:r>
            <a:endParaRPr lang="en-US" sz="1300" dirty="0"/>
          </a:p>
          <a:p>
            <a:pPr marL="177800" indent="-177800">
              <a:spcAft>
                <a:spcPts val="400"/>
              </a:spcAft>
              <a:buSzPct val="100000"/>
              <a:buChar char="•"/>
            </a:pPr>
            <a:r>
              <a:rPr lang="en-US" sz="1300" dirty="0">
                <a:solidFill>
                  <a:srgbClr val="222222"/>
                </a:solidFill>
                <a:latin typeface="Calibri" pitchFamily="34" charset="0"/>
                <a:ea typeface="Calibri" pitchFamily="34" charset="-122"/>
                <a:cs typeface="Calibri" pitchFamily="34" charset="-120"/>
              </a:rPr>
              <a:t>No return from inside the parallel region</a:t>
            </a:r>
            <a:endParaRPr lang="en-US" sz="1300" dirty="0"/>
          </a:p>
          <a:p>
            <a:pPr marL="177800" indent="-177800">
              <a:spcAft>
                <a:spcPts val="400"/>
              </a:spcAft>
              <a:buSzPct val="100000"/>
              <a:buChar char="•"/>
            </a:pPr>
            <a:r>
              <a:rPr lang="en-US" sz="1300" dirty="0">
                <a:solidFill>
                  <a:srgbClr val="222222"/>
                </a:solidFill>
                <a:latin typeface="Calibri" pitchFamily="34" charset="0"/>
                <a:ea typeface="Calibri" pitchFamily="34" charset="-122"/>
                <a:cs typeface="Calibri" pitchFamily="34" charset="-120"/>
              </a:rPr>
              <a:t>No critical section around region arithmetic</a:t>
            </a:r>
            <a:endParaRPr lang="en-US" sz="1300" dirty="0"/>
          </a:p>
          <a:p>
            <a:pPr marL="177800" indent="-177800">
              <a:spcAft>
                <a:spcPts val="400"/>
              </a:spcAft>
              <a:buSzPct val="100000"/>
              <a:buChar char="•"/>
            </a:pPr>
            <a:r>
              <a:rPr lang="en-US" sz="1300" dirty="0">
                <a:solidFill>
                  <a:srgbClr val="222222"/>
                </a:solidFill>
                <a:latin typeface="Calibri" pitchFamily="34" charset="0"/>
                <a:ea typeface="Calibri" pitchFamily="34" charset="-122"/>
                <a:cs typeface="Calibri" pitchFamily="34" charset="-120"/>
              </a:rPr>
              <a:t>Shared gf_t tables read-only</a:t>
            </a:r>
            <a:endParaRPr lang="en-US" sz="1300" dirty="0"/>
          </a:p>
        </p:txBody>
      </p:sp>
      <p:sp>
        <p:nvSpPr>
          <p:cNvPr id="16" name="Shape 13"/>
          <p:cNvSpPr/>
          <p:nvPr/>
        </p:nvSpPr>
        <p:spPr>
          <a:xfrm>
            <a:off x="7498080" y="4434840"/>
            <a:ext cx="4142232" cy="1828800"/>
          </a:xfrm>
          <a:prstGeom prst="rect">
            <a:avLst/>
          </a:prstGeom>
          <a:solidFill>
            <a:srgbClr val="EEF2F8"/>
          </a:solidFill>
          <a:ln/>
        </p:spPr>
      </p:sp>
      <p:sp>
        <p:nvSpPr>
          <p:cNvPr id="17" name="Text 14"/>
          <p:cNvSpPr txBox="1"/>
          <p:nvPr/>
        </p:nvSpPr>
        <p:spPr>
          <a:xfrm>
            <a:off x="7680960" y="4572000"/>
            <a:ext cx="3776472"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Recorded statistics</a:t>
            </a:r>
            <a:endParaRPr lang="en-US" sz="1500" dirty="0"/>
          </a:p>
        </p:txBody>
      </p:sp>
      <p:sp>
        <p:nvSpPr>
          <p:cNvPr id="18" name="Text 15"/>
          <p:cNvSpPr txBox="1"/>
          <p:nvPr/>
        </p:nvSpPr>
        <p:spPr>
          <a:xfrm>
            <a:off x="7680960" y="4873752"/>
            <a:ext cx="3776472" cy="1280160"/>
          </a:xfrm>
          <a:prstGeom prst="rect">
            <a:avLst/>
          </a:prstGeom>
          <a:noFill/>
          <a:ln/>
        </p:spPr>
        <p:txBody>
          <a:bodyPr wrap="square" lIns="0" tIns="0" rIns="0" bIns="0" rtlCol="0" anchor="t"/>
          <a:lstStyle/>
          <a:p>
            <a:pPr indent="0" marL="0">
              <a:buNone/>
            </a:pPr>
            <a:r>
              <a:rPr lang="en-US" sz="1250" dirty="0">
                <a:solidFill>
                  <a:srgbClr val="222222"/>
                </a:solidFill>
                <a:latin typeface="Calibri" pitchFamily="34" charset="0"/>
                <a:ea typeface="Calibri" pitchFamily="34" charset="-122"/>
                <a:cs typeface="Calibri" pitchFamily="34" charset="-120"/>
              </a:rPr>
              <a:t>requested vs effective threads · p · dependent faults · independent, remainder and total mult_XORs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CORRECTNESS BY DESIGN</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Why the Parallel Version Is Race-Free</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10</a:t>
            </a:r>
            <a:endParaRPr lang="en-US" sz="900" dirty="0"/>
          </a:p>
        </p:txBody>
      </p:sp>
      <p:sp>
        <p:nvSpPr>
          <p:cNvPr id="7" name="Shape 4"/>
          <p:cNvSpPr/>
          <p:nvPr/>
        </p:nvSpPr>
        <p:spPr>
          <a:xfrm>
            <a:off x="548640" y="1417320"/>
            <a:ext cx="5440680" cy="1783080"/>
          </a:xfrm>
          <a:prstGeom prst="rect">
            <a:avLst/>
          </a:prstGeom>
          <a:solidFill>
            <a:srgbClr val="EEF2F8"/>
          </a:solidFill>
          <a:ln/>
        </p:spPr>
      </p:sp>
      <p:sp>
        <p:nvSpPr>
          <p:cNvPr id="8" name="Shape 5"/>
          <p:cNvSpPr/>
          <p:nvPr/>
        </p:nvSpPr>
        <p:spPr>
          <a:xfrm>
            <a:off x="777240" y="1645920"/>
            <a:ext cx="457200" cy="457200"/>
          </a:xfrm>
          <a:prstGeom prst="ellipse">
            <a:avLst/>
          </a:prstGeom>
          <a:solidFill>
            <a:srgbClr val="14284B"/>
          </a:solidFill>
          <a:ln/>
        </p:spPr>
      </p:sp>
      <p:sp>
        <p:nvSpPr>
          <p:cNvPr id="9" name="Text 6"/>
          <p:cNvSpPr txBox="1"/>
          <p:nvPr/>
        </p:nvSpPr>
        <p:spPr>
          <a:xfrm>
            <a:off x="777240" y="1645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1417320" y="1673352"/>
            <a:ext cx="4389120" cy="411480"/>
          </a:xfrm>
          <a:prstGeom prst="rect">
            <a:avLst/>
          </a:prstGeom>
          <a:noFill/>
          <a:ln/>
        </p:spPr>
        <p:txBody>
          <a:bodyPr wrap="square" lIns="0" tIns="0" rIns="0" bIns="0" rtlCol="0" anchor="ctr"/>
          <a:lstStyle/>
          <a:p>
            <a:pPr indent="0" marL="0">
              <a:buNone/>
            </a:pPr>
            <a:r>
              <a:rPr lang="en-US" sz="1600" b="1" dirty="0">
                <a:solidFill>
                  <a:srgbClr val="14284B"/>
                </a:solidFill>
                <a:latin typeface="Calibri" pitchFamily="34" charset="0"/>
                <a:ea typeface="Calibri" pitchFamily="34" charset="-122"/>
                <a:cs typeface="Calibri" pitchFamily="34" charset="-120"/>
              </a:rPr>
              <a:t>Disjoint writes</a:t>
            </a:r>
            <a:endParaRPr lang="en-US" sz="1600" dirty="0"/>
          </a:p>
        </p:txBody>
      </p:sp>
      <p:sp>
        <p:nvSpPr>
          <p:cNvPr id="11" name="Text 8"/>
          <p:cNvSpPr txBox="1"/>
          <p:nvPr/>
        </p:nvSpPr>
        <p:spPr>
          <a:xfrm>
            <a:off x="1417320" y="2194560"/>
            <a:ext cx="4389120" cy="91440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Each H_i writes only its own m faulty sectors and reads only survivors in its own row — no locks around data.</a:t>
            </a:r>
            <a:endParaRPr lang="en-US" sz="1300" dirty="0"/>
          </a:p>
        </p:txBody>
      </p:sp>
      <p:sp>
        <p:nvSpPr>
          <p:cNvPr id="12" name="Shape 9"/>
          <p:cNvSpPr/>
          <p:nvPr/>
        </p:nvSpPr>
        <p:spPr>
          <a:xfrm>
            <a:off x="6199632" y="1417320"/>
            <a:ext cx="5440680" cy="1783080"/>
          </a:xfrm>
          <a:prstGeom prst="rect">
            <a:avLst/>
          </a:prstGeom>
          <a:solidFill>
            <a:srgbClr val="EEF2F8"/>
          </a:solidFill>
          <a:ln/>
        </p:spPr>
      </p:sp>
      <p:sp>
        <p:nvSpPr>
          <p:cNvPr id="13" name="Shape 10"/>
          <p:cNvSpPr/>
          <p:nvPr/>
        </p:nvSpPr>
        <p:spPr>
          <a:xfrm>
            <a:off x="6428232" y="1645920"/>
            <a:ext cx="457200" cy="457200"/>
          </a:xfrm>
          <a:prstGeom prst="ellipse">
            <a:avLst/>
          </a:prstGeom>
          <a:solidFill>
            <a:srgbClr val="B5472A"/>
          </a:solidFill>
          <a:ln/>
        </p:spPr>
      </p:sp>
      <p:sp>
        <p:nvSpPr>
          <p:cNvPr id="14" name="Text 11"/>
          <p:cNvSpPr txBox="1"/>
          <p:nvPr/>
        </p:nvSpPr>
        <p:spPr>
          <a:xfrm>
            <a:off x="6428232" y="1645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txBox="1"/>
          <p:nvPr/>
        </p:nvSpPr>
        <p:spPr>
          <a:xfrm>
            <a:off x="7068312" y="1673352"/>
            <a:ext cx="4389120" cy="411480"/>
          </a:xfrm>
          <a:prstGeom prst="rect">
            <a:avLst/>
          </a:prstGeom>
          <a:noFill/>
          <a:ln/>
        </p:spPr>
        <p:txBody>
          <a:bodyPr wrap="square" lIns="0" tIns="0" rIns="0" bIns="0" rtlCol="0" anchor="ctr"/>
          <a:lstStyle/>
          <a:p>
            <a:pPr indent="0" marL="0">
              <a:buNone/>
            </a:pPr>
            <a:r>
              <a:rPr lang="en-US" sz="1600" b="1" dirty="0">
                <a:solidFill>
                  <a:srgbClr val="B5472A"/>
                </a:solidFill>
                <a:latin typeface="Calibri" pitchFamily="34" charset="0"/>
                <a:ea typeface="Calibri" pitchFamily="34" charset="-122"/>
                <a:cs typeface="Calibri" pitchFamily="34" charset="-120"/>
              </a:rPr>
              <a:t>Mandatory barrier</a:t>
            </a:r>
            <a:endParaRPr lang="en-US" sz="1600" dirty="0"/>
          </a:p>
        </p:txBody>
      </p:sp>
      <p:sp>
        <p:nvSpPr>
          <p:cNvPr id="16" name="Text 13"/>
          <p:cNvSpPr txBox="1"/>
          <p:nvPr/>
        </p:nvSpPr>
        <p:spPr>
          <a:xfrm>
            <a:off x="7068312" y="2194560"/>
            <a:ext cx="4389120" cy="91440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H_rest reads the independently recovered sectors; starting it early could read missing or partially written data.</a:t>
            </a:r>
            <a:endParaRPr lang="en-US" sz="1300" dirty="0"/>
          </a:p>
        </p:txBody>
      </p:sp>
      <p:sp>
        <p:nvSpPr>
          <p:cNvPr id="17" name="Shape 14"/>
          <p:cNvSpPr/>
          <p:nvPr/>
        </p:nvSpPr>
        <p:spPr>
          <a:xfrm>
            <a:off x="548640" y="3429000"/>
            <a:ext cx="5440680" cy="1783080"/>
          </a:xfrm>
          <a:prstGeom prst="rect">
            <a:avLst/>
          </a:prstGeom>
          <a:solidFill>
            <a:srgbClr val="EEF2F8"/>
          </a:solidFill>
          <a:ln/>
        </p:spPr>
      </p:sp>
      <p:sp>
        <p:nvSpPr>
          <p:cNvPr id="18" name="Shape 15"/>
          <p:cNvSpPr/>
          <p:nvPr/>
        </p:nvSpPr>
        <p:spPr>
          <a:xfrm>
            <a:off x="777240" y="3657600"/>
            <a:ext cx="457200" cy="457200"/>
          </a:xfrm>
          <a:prstGeom prst="ellipse">
            <a:avLst/>
          </a:prstGeom>
          <a:solidFill>
            <a:srgbClr val="14284B"/>
          </a:solidFill>
          <a:ln/>
        </p:spPr>
      </p:sp>
      <p:sp>
        <p:nvSpPr>
          <p:cNvPr id="19" name="Text 16"/>
          <p:cNvSpPr txBox="1"/>
          <p:nvPr/>
        </p:nvSpPr>
        <p:spPr>
          <a:xfrm>
            <a:off x="777240" y="3657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1417320" y="3685032"/>
            <a:ext cx="4389120" cy="411480"/>
          </a:xfrm>
          <a:prstGeom prst="rect">
            <a:avLst/>
          </a:prstGeom>
          <a:noFill/>
          <a:ln/>
        </p:spPr>
        <p:txBody>
          <a:bodyPr wrap="square" lIns="0" tIns="0" rIns="0" bIns="0" rtlCol="0" anchor="ctr"/>
          <a:lstStyle/>
          <a:p>
            <a:pPr indent="0" marL="0">
              <a:buNone/>
            </a:pPr>
            <a:r>
              <a:rPr lang="en-US" sz="1600" b="1" dirty="0">
                <a:solidFill>
                  <a:srgbClr val="14284B"/>
                </a:solidFill>
                <a:latin typeface="Calibri" pitchFamily="34" charset="0"/>
                <a:ea typeface="Calibri" pitchFamily="34" charset="-122"/>
                <a:cs typeface="Calibri" pitchFamily="34" charset="-120"/>
              </a:rPr>
              <a:t>Thread-local counter</a:t>
            </a:r>
            <a:endParaRPr lang="en-US" sz="1600" dirty="0"/>
          </a:p>
        </p:txBody>
      </p:sp>
      <p:sp>
        <p:nvSpPr>
          <p:cNvPr id="21" name="Text 18"/>
          <p:cNvSpPr txBox="1"/>
          <p:nvPr/>
        </p:nvSpPr>
        <p:spPr>
          <a:xfrm>
            <a:off x="1417320" y="4206240"/>
            <a:ext cx="4389120" cy="91440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A global counter is a C data race; an atomic would serialise the hot path. Per-thread counts are summed after the loop.</a:t>
            </a:r>
            <a:endParaRPr lang="en-US" sz="1300" dirty="0"/>
          </a:p>
        </p:txBody>
      </p:sp>
      <p:sp>
        <p:nvSpPr>
          <p:cNvPr id="22" name="Shape 19"/>
          <p:cNvSpPr/>
          <p:nvPr/>
        </p:nvSpPr>
        <p:spPr>
          <a:xfrm>
            <a:off x="6199632" y="3429000"/>
            <a:ext cx="5440680" cy="1783080"/>
          </a:xfrm>
          <a:prstGeom prst="rect">
            <a:avLst/>
          </a:prstGeom>
          <a:solidFill>
            <a:srgbClr val="EEF2F8"/>
          </a:solidFill>
          <a:ln/>
        </p:spPr>
      </p:sp>
      <p:sp>
        <p:nvSpPr>
          <p:cNvPr id="23" name="Shape 20"/>
          <p:cNvSpPr/>
          <p:nvPr/>
        </p:nvSpPr>
        <p:spPr>
          <a:xfrm>
            <a:off x="6428232" y="3657600"/>
            <a:ext cx="457200" cy="457200"/>
          </a:xfrm>
          <a:prstGeom prst="ellipse">
            <a:avLst/>
          </a:prstGeom>
          <a:solidFill>
            <a:srgbClr val="14284B"/>
          </a:solidFill>
          <a:ln/>
        </p:spPr>
      </p:sp>
      <p:sp>
        <p:nvSpPr>
          <p:cNvPr id="24" name="Text 21"/>
          <p:cNvSpPr txBox="1"/>
          <p:nvPr/>
        </p:nvSpPr>
        <p:spPr>
          <a:xfrm>
            <a:off x="6428232" y="3657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2"/>
          <p:cNvSpPr txBox="1"/>
          <p:nvPr/>
        </p:nvSpPr>
        <p:spPr>
          <a:xfrm>
            <a:off x="7068312" y="3685032"/>
            <a:ext cx="4389120" cy="411480"/>
          </a:xfrm>
          <a:prstGeom prst="rect">
            <a:avLst/>
          </a:prstGeom>
          <a:noFill/>
          <a:ln/>
        </p:spPr>
        <p:txBody>
          <a:bodyPr wrap="square" lIns="0" tIns="0" rIns="0" bIns="0" rtlCol="0" anchor="ctr"/>
          <a:lstStyle/>
          <a:p>
            <a:pPr indent="0" marL="0">
              <a:buNone/>
            </a:pPr>
            <a:r>
              <a:rPr lang="en-US" sz="1600" b="1" dirty="0">
                <a:solidFill>
                  <a:srgbClr val="14284B"/>
                </a:solidFill>
                <a:latin typeface="Calibri" pitchFamily="34" charset="0"/>
                <a:ea typeface="Calibri" pitchFamily="34" charset="-122"/>
                <a:cs typeface="Calibri" pitchFamily="34" charset="-120"/>
              </a:rPr>
              <a:t>Prepare before write</a:t>
            </a:r>
            <a:endParaRPr lang="en-US" sz="1600" dirty="0"/>
          </a:p>
        </p:txBody>
      </p:sp>
      <p:sp>
        <p:nvSpPr>
          <p:cNvPr id="26" name="Text 23"/>
          <p:cNvSpPr txBox="1"/>
          <p:nvPr/>
        </p:nvSpPr>
        <p:spPr>
          <a:xfrm>
            <a:off x="7068312" y="4206240"/>
            <a:ext cx="4389120" cy="91440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All splits and inversions finish before the parallel loop; worker errors are stored and checked after it.</a:t>
            </a:r>
            <a:endParaRPr lang="en-US" sz="1300" dirty="0"/>
          </a:p>
        </p:txBody>
      </p:sp>
      <p:sp>
        <p:nvSpPr>
          <p:cNvPr id="27" name="Shape 24"/>
          <p:cNvSpPr/>
          <p:nvPr/>
        </p:nvSpPr>
        <p:spPr>
          <a:xfrm>
            <a:off x="548640" y="5532120"/>
            <a:ext cx="11091672" cy="640080"/>
          </a:xfrm>
          <a:prstGeom prst="rect">
            <a:avLst/>
          </a:prstGeom>
          <a:solidFill>
            <a:srgbClr val="F6F7F9"/>
          </a:solidFill>
          <a:ln/>
        </p:spPr>
      </p:sp>
      <p:sp>
        <p:nvSpPr>
          <p:cNvPr id="28" name="Text 25"/>
          <p:cNvSpPr txBox="1"/>
          <p:nvPr/>
        </p:nvSpPr>
        <p:spPr>
          <a:xfrm>
            <a:off x="731520" y="5532120"/>
            <a:ext cx="10725912" cy="640080"/>
          </a:xfrm>
          <a:prstGeom prst="rect">
            <a:avLst/>
          </a:prstGeom>
          <a:noFill/>
          <a:ln/>
        </p:spPr>
        <p:txBody>
          <a:bodyPr wrap="square" lIns="0" tIns="0" rIns="0" bIns="0" rtlCol="0" anchor="ctr"/>
          <a:lstStyle/>
          <a:p>
            <a:pPr indent="0" marL="0">
              <a:buNone/>
            </a:pPr>
            <a:r>
              <a:rPr lang="en-US" sz="1200" b="1" dirty="0">
                <a:solidFill>
                  <a:srgbClr val="14284B"/>
                </a:solidFill>
                <a:latin typeface="Calibri" pitchFamily="34" charset="0"/>
                <a:ea typeface="Calibri" pitchFamily="34" charset="-122"/>
                <a:cs typeface="Calibri" pitchFamily="34" charset="-120"/>
              </a:rPr>
              <a:t>Also  </a:t>
            </a:r>
            <a:r>
              <a:rPr lang="en-US" sz="1200" dirty="0">
                <a:solidFill>
                  <a:srgbClr val="222222"/>
                </a:solidFill>
                <a:latin typeface="Calibri" pitchFamily="34" charset="0"/>
                <a:ea typeface="Calibri" pitchFamily="34" charset="-122"/>
                <a:cs typeface="Calibri" pitchFamily="34" charset="-120"/>
              </a:rPr>
              <a:t>threads capped at p (no oversubscription) · global column indices kept in every H_i (no local↔global remapping) · counts captured before syndrome validation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EVALUATION METHOD</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Three Layers of Evidence</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548640" y="1417320"/>
            <a:ext cx="3566160" cy="2514600"/>
          </a:xfrm>
          <a:prstGeom prst="rect">
            <a:avLst/>
          </a:prstGeom>
          <a:solidFill>
            <a:srgbClr val="EEF2F8"/>
          </a:solidFill>
          <a:ln/>
        </p:spPr>
      </p:sp>
      <p:sp>
        <p:nvSpPr>
          <p:cNvPr id="8" name="Text 5"/>
          <p:cNvSpPr txBox="1"/>
          <p:nvPr/>
        </p:nvSpPr>
        <p:spPr>
          <a:xfrm>
            <a:off x="731520" y="1554480"/>
            <a:ext cx="320040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make ppm-test</a:t>
            </a:r>
            <a:endParaRPr lang="en-US" sz="1500" dirty="0"/>
          </a:p>
        </p:txBody>
      </p:sp>
      <p:sp>
        <p:nvSpPr>
          <p:cNvPr id="9" name="Text 6"/>
          <p:cNvSpPr txBox="1"/>
          <p:nvPr/>
        </p:nvSpPr>
        <p:spPr>
          <a:xfrm>
            <a:off x="731520" y="1874520"/>
            <a:ext cx="3200400" cy="20116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mat_mul known answers</a:t>
            </a:r>
            <a:endParaRPr lang="en-US" sz="1300" dirty="0"/>
          </a:p>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Figure 3: p = 3, C = 35 → 29</a:t>
            </a:r>
            <a:endParaRPr lang="en-US" sz="1300" dirty="0"/>
          </a:p>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n = r = 16 configs in GF(2⁸), GF(2¹⁶), GF(2³²) at T = 1, 2, 4</a:t>
            </a:r>
            <a:endParaRPr lang="en-US" sz="1300" dirty="0"/>
          </a:p>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Rejects duplicate faults and invalid input</a:t>
            </a:r>
            <a:endParaRPr lang="en-US" sz="1300" dirty="0"/>
          </a:p>
        </p:txBody>
      </p:sp>
      <p:sp>
        <p:nvSpPr>
          <p:cNvPr id="10" name="Shape 7"/>
          <p:cNvSpPr/>
          <p:nvPr/>
        </p:nvSpPr>
        <p:spPr>
          <a:xfrm>
            <a:off x="4311396" y="1417320"/>
            <a:ext cx="3566160" cy="2514600"/>
          </a:xfrm>
          <a:prstGeom prst="rect">
            <a:avLst/>
          </a:prstGeom>
          <a:solidFill>
            <a:srgbClr val="EEF2F8"/>
          </a:solidFill>
          <a:ln/>
        </p:spPr>
      </p:sp>
      <p:sp>
        <p:nvSpPr>
          <p:cNvPr id="11" name="Text 8"/>
          <p:cNvSpPr txBox="1"/>
          <p:nvPr/>
        </p:nvSpPr>
        <p:spPr>
          <a:xfrm>
            <a:off x="4494276" y="1554480"/>
            <a:ext cx="320040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make ppm-sweep</a:t>
            </a:r>
            <a:endParaRPr lang="en-US" sz="1500" dirty="0"/>
          </a:p>
        </p:txBody>
      </p:sp>
      <p:sp>
        <p:nvSpPr>
          <p:cNvPr id="12" name="Text 9"/>
          <p:cNvSpPr txBox="1"/>
          <p:nvPr/>
        </p:nvSpPr>
        <p:spPr>
          <a:xfrm>
            <a:off x="4494276" y="1874520"/>
            <a:ext cx="3200400" cy="20116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All 7,833 feasible (configuration, z) points</a:t>
            </a:r>
            <a:endParaRPr lang="en-US" sz="1300" dirty="0"/>
          </a:p>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Recover at T = 1 and T = 4</a:t>
            </a:r>
            <a:endParaRPr lang="en-US" sz="1300" dirty="0"/>
          </a:p>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Bytes, syndrome, partition p = r − z</a:t>
            </a:r>
            <a:endParaRPr lang="en-US" sz="1300" dirty="0"/>
          </a:p>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C at T = 1 must equal C at T = 4</a:t>
            </a:r>
            <a:endParaRPr lang="en-US" sz="1300" dirty="0"/>
          </a:p>
        </p:txBody>
      </p:sp>
      <p:sp>
        <p:nvSpPr>
          <p:cNvPr id="13" name="Shape 10"/>
          <p:cNvSpPr/>
          <p:nvPr/>
        </p:nvSpPr>
        <p:spPr>
          <a:xfrm>
            <a:off x="8074152" y="1417320"/>
            <a:ext cx="3566160" cy="2514600"/>
          </a:xfrm>
          <a:prstGeom prst="rect">
            <a:avLst/>
          </a:prstGeom>
          <a:solidFill>
            <a:srgbClr val="EEF2F8"/>
          </a:solidFill>
          <a:ln/>
        </p:spPr>
      </p:sp>
      <p:sp>
        <p:nvSpPr>
          <p:cNvPr id="14" name="Text 11"/>
          <p:cNvSpPr txBox="1"/>
          <p:nvPr/>
        </p:nvSpPr>
        <p:spPr>
          <a:xfrm>
            <a:off x="8257032" y="1554480"/>
            <a:ext cx="320040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make ppm-benchmark</a:t>
            </a:r>
            <a:endParaRPr lang="en-US" sz="1500" dirty="0"/>
          </a:p>
        </p:txBody>
      </p:sp>
      <p:sp>
        <p:nvSpPr>
          <p:cNvPr id="15" name="Text 12"/>
          <p:cNvSpPr txBox="1"/>
          <p:nvPr/>
        </p:nvSpPr>
        <p:spPr>
          <a:xfrm>
            <a:off x="8257032" y="1874520"/>
            <a:ext cx="3200400" cy="20116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n = r = 16, z = 1, m, s ∈ {1, 2, 3}</a:t>
            </a:r>
            <a:endParaRPr lang="en-US" sz="1300" dirty="0"/>
          </a:p>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Exact 32 MiB codeword</a:t>
            </a:r>
            <a:endParaRPr lang="en-US" sz="1300" dirty="0"/>
          </a:p>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Baseline + PPM at T = 1, 2, 4, 8</a:t>
            </a:r>
            <a:endParaRPr lang="en-US" sz="1300" dirty="0"/>
          </a:p>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1 warm-up, 10 measured trials each</a:t>
            </a:r>
            <a:endParaRPr lang="en-US" sz="1300" dirty="0"/>
          </a:p>
        </p:txBody>
      </p:sp>
      <p:sp>
        <p:nvSpPr>
          <p:cNvPr id="16" name="Text 13"/>
          <p:cNvSpPr txBox="1"/>
          <p:nvPr/>
        </p:nvSpPr>
        <p:spPr>
          <a:xfrm>
            <a:off x="548640" y="4206240"/>
            <a:ext cx="5486400" cy="320040"/>
          </a:xfrm>
          <a:prstGeom prst="rect">
            <a:avLst/>
          </a:prstGeom>
          <a:noFill/>
          <a:ln/>
        </p:spPr>
        <p:txBody>
          <a:bodyPr wrap="square" lIns="0" tIns="0" rIns="0" bIns="0" rtlCol="0" anchor="t"/>
          <a:lstStyle/>
          <a:p>
            <a:pPr indent="0" marL="0">
              <a:buNone/>
            </a:pPr>
            <a:r>
              <a:rPr lang="en-US" sz="1400" b="1" dirty="0">
                <a:solidFill>
                  <a:srgbClr val="14284B"/>
                </a:solidFill>
                <a:latin typeface="Calibri" pitchFamily="34" charset="0"/>
                <a:ea typeface="Calibri" pitchFamily="34" charset="-122"/>
                <a:cs typeface="Calibri" pitchFamily="34" charset="-120"/>
              </a:rPr>
              <a:t>Where the data comes from</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572000"/>
          <a:ext cx="11091672" cy="914400"/>
        </p:xfrm>
        <a:graphic>
          <a:graphicData uri="http://schemas.openxmlformats.org/drawingml/2006/table">
            <a:tbl>
              <a:tblPr/>
              <a:tblGrid>
                <a:gridCol w="2103120"/>
                <a:gridCol w="8988552"/>
              </a:tblGrid>
              <a:tr h="38404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Input</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r>
              <a:tr h="38404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SD coefficients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Plank's published FAST table: n, r = 4–24; m, s = 1–3 → 3,969 configurations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8404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Sector contents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deterministic pseudo-random bytes (content-independent decoder; exact comparison)</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8404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Failure layouts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leftmost m disks + s sectors over exactly z rows; one layout per point</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RESULTS · CORRECTNESS</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PPM Correctness over the Complete Published Grid</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12</a:t>
            </a:r>
            <a:endParaRPr lang="en-US" sz="900" dirty="0"/>
          </a:p>
        </p:txBody>
      </p:sp>
      <p:sp>
        <p:nvSpPr>
          <p:cNvPr id="7" name="Text 4"/>
          <p:cNvSpPr txBox="1"/>
          <p:nvPr/>
        </p:nvSpPr>
        <p:spPr>
          <a:xfrm>
            <a:off x="548640" y="1371600"/>
            <a:ext cx="3566160" cy="777240"/>
          </a:xfrm>
          <a:prstGeom prst="rect">
            <a:avLst/>
          </a:prstGeom>
          <a:noFill/>
          <a:ln/>
        </p:spPr>
        <p:txBody>
          <a:bodyPr wrap="square" lIns="0" tIns="0" rIns="0" bIns="0" rtlCol="0" anchor="t"/>
          <a:lstStyle/>
          <a:p>
            <a:pPr indent="0" marL="0">
              <a:buNone/>
            </a:pPr>
            <a:r>
              <a:rPr lang="en-US" sz="4000" b="1" dirty="0">
                <a:solidFill>
                  <a:srgbClr val="2F6DB5"/>
                </a:solidFill>
                <a:latin typeface="Calibri" pitchFamily="34" charset="0"/>
                <a:ea typeface="Calibri" pitchFamily="34" charset="-122"/>
                <a:cs typeface="Calibri" pitchFamily="34" charset="-120"/>
              </a:rPr>
              <a:t>7,833 / 7,833</a:t>
            </a:r>
            <a:endParaRPr lang="en-US" sz="4000" dirty="0"/>
          </a:p>
        </p:txBody>
      </p:sp>
      <p:sp>
        <p:nvSpPr>
          <p:cNvPr id="8" name="Text 5"/>
          <p:cNvSpPr txBox="1"/>
          <p:nvPr/>
        </p:nvSpPr>
        <p:spPr>
          <a:xfrm>
            <a:off x="548640" y="2148840"/>
            <a:ext cx="3566160" cy="594360"/>
          </a:xfrm>
          <a:prstGeom prst="rect">
            <a:avLst/>
          </a:prstGeom>
          <a:noFill/>
          <a:ln/>
        </p:spPr>
        <p:txBody>
          <a:bodyPr wrap="square" lIns="0" tIns="0" rIns="0" bIns="0" rtlCol="0" anchor="t"/>
          <a:lstStyle/>
          <a:p>
            <a:pPr indent="0" marL="0">
              <a:buNone/>
            </a:pPr>
            <a:r>
              <a:rPr lang="en-US" sz="1300" dirty="0">
                <a:solidFill>
                  <a:srgbClr val="5F6B7A"/>
                </a:solidFill>
                <a:latin typeface="Calibri" pitchFamily="34" charset="0"/>
                <a:ea typeface="Calibri" pitchFamily="34" charset="-122"/>
                <a:cs typeface="Calibri" pitchFamily="34" charset="-120"/>
              </a:rPr>
              <a:t>layouts PASS at T = 1 and T = 4</a:t>
            </a:r>
            <a:endParaRPr lang="en-US" sz="1300" dirty="0"/>
          </a:p>
        </p:txBody>
      </p:sp>
      <p:sp>
        <p:nvSpPr>
          <p:cNvPr id="9" name="Text 6"/>
          <p:cNvSpPr txBox="1"/>
          <p:nvPr/>
        </p:nvSpPr>
        <p:spPr>
          <a:xfrm>
            <a:off x="4297680" y="1371600"/>
            <a:ext cx="3566160" cy="777240"/>
          </a:xfrm>
          <a:prstGeom prst="rect">
            <a:avLst/>
          </a:prstGeom>
          <a:noFill/>
          <a:ln/>
        </p:spPr>
        <p:txBody>
          <a:bodyPr wrap="square" lIns="0" tIns="0" rIns="0" bIns="0" rtlCol="0" anchor="t"/>
          <a:lstStyle/>
          <a:p>
            <a:pPr indent="0" marL="0">
              <a:buNone/>
            </a:pPr>
            <a:r>
              <a:rPr lang="en-US" sz="4000" b="1" dirty="0">
                <a:solidFill>
                  <a:srgbClr val="14284B"/>
                </a:solidFill>
                <a:latin typeface="Calibri" pitchFamily="34" charset="0"/>
                <a:ea typeface="Calibri" pitchFamily="34" charset="-122"/>
                <a:cs typeface="Calibri" pitchFamily="34" charset="-120"/>
              </a:rPr>
              <a:t>0 / 0 / 0</a:t>
            </a:r>
            <a:endParaRPr lang="en-US" sz="4000" dirty="0"/>
          </a:p>
        </p:txBody>
      </p:sp>
      <p:sp>
        <p:nvSpPr>
          <p:cNvPr id="10" name="Text 7"/>
          <p:cNvSpPr txBox="1"/>
          <p:nvPr/>
        </p:nvSpPr>
        <p:spPr>
          <a:xfrm>
            <a:off x="4297680" y="2148840"/>
            <a:ext cx="3566160" cy="594360"/>
          </a:xfrm>
          <a:prstGeom prst="rect">
            <a:avLst/>
          </a:prstGeom>
          <a:noFill/>
          <a:ln/>
        </p:spPr>
        <p:txBody>
          <a:bodyPr wrap="square" lIns="0" tIns="0" rIns="0" bIns="0" rtlCol="0" anchor="t"/>
          <a:lstStyle/>
          <a:p>
            <a:pPr indent="0" marL="0">
              <a:buNone/>
            </a:pPr>
            <a:r>
              <a:rPr lang="en-US" sz="1300" dirty="0">
                <a:solidFill>
                  <a:srgbClr val="5F6B7A"/>
                </a:solidFill>
                <a:latin typeface="Calibri" pitchFamily="34" charset="0"/>
                <a:ea typeface="Calibri" pitchFamily="34" charset="-122"/>
                <a:cs typeface="Calibri" pitchFamily="34" charset="-120"/>
              </a:rPr>
              <a:t>byte / syndrome / thread-count</a:t>
            </a:r>
            <a:endParaRPr lang="en-US" sz="1300" dirty="0"/>
          </a:p>
          <a:p>
            <a:pPr indent="0" marL="0">
              <a:buNone/>
            </a:pPr>
            <a:r>
              <a:rPr lang="en-US" sz="1300" dirty="0">
                <a:solidFill>
                  <a:srgbClr val="5F6B7A"/>
                </a:solidFill>
                <a:latin typeface="Calibri" pitchFamily="34" charset="0"/>
                <a:ea typeface="Calibri" pitchFamily="34" charset="-122"/>
                <a:cs typeface="Calibri" pitchFamily="34" charset="-120"/>
              </a:rPr>
              <a:t>count mismatches</a:t>
            </a:r>
            <a:endParaRPr lang="en-US" sz="1300" dirty="0"/>
          </a:p>
        </p:txBody>
      </p:sp>
      <p:sp>
        <p:nvSpPr>
          <p:cNvPr id="11" name="Text 8"/>
          <p:cNvSpPr txBox="1"/>
          <p:nvPr/>
        </p:nvSpPr>
        <p:spPr>
          <a:xfrm>
            <a:off x="8046720" y="1371600"/>
            <a:ext cx="3566160" cy="777240"/>
          </a:xfrm>
          <a:prstGeom prst="rect">
            <a:avLst/>
          </a:prstGeom>
          <a:noFill/>
          <a:ln/>
        </p:spPr>
        <p:txBody>
          <a:bodyPr wrap="square" lIns="0" tIns="0" rIns="0" bIns="0" rtlCol="0" anchor="t"/>
          <a:lstStyle/>
          <a:p>
            <a:pPr indent="0" marL="0">
              <a:buNone/>
            </a:pPr>
            <a:r>
              <a:rPr lang="en-US" sz="4000" b="1" dirty="0">
                <a:solidFill>
                  <a:srgbClr val="14284B"/>
                </a:solidFill>
                <a:latin typeface="Calibri" pitchFamily="34" charset="0"/>
                <a:ea typeface="Calibri" pitchFamily="34" charset="-122"/>
                <a:cs typeface="Calibri" pitchFamily="34" charset="-120"/>
              </a:rPr>
              <a:t>100 %</a:t>
            </a:r>
            <a:endParaRPr lang="en-US" sz="4000" dirty="0"/>
          </a:p>
        </p:txBody>
      </p:sp>
      <p:sp>
        <p:nvSpPr>
          <p:cNvPr id="12" name="Text 9"/>
          <p:cNvSpPr txBox="1"/>
          <p:nvPr/>
        </p:nvSpPr>
        <p:spPr>
          <a:xfrm>
            <a:off x="8046720" y="2148840"/>
            <a:ext cx="3566160" cy="594360"/>
          </a:xfrm>
          <a:prstGeom prst="rect">
            <a:avLst/>
          </a:prstGeom>
          <a:noFill/>
          <a:ln/>
        </p:spPr>
        <p:txBody>
          <a:bodyPr wrap="square" lIns="0" tIns="0" rIns="0" bIns="0" rtlCol="0" anchor="t"/>
          <a:lstStyle/>
          <a:p>
            <a:pPr indent="0" marL="0">
              <a:buNone/>
            </a:pPr>
            <a:r>
              <a:rPr lang="en-US" sz="1300" dirty="0">
                <a:solidFill>
                  <a:srgbClr val="5F6B7A"/>
                </a:solidFill>
                <a:latin typeface="Calibri" pitchFamily="34" charset="0"/>
                <a:ea typeface="Calibri" pitchFamily="34" charset="-122"/>
                <a:cs typeface="Calibri" pitchFamily="34" charset="-120"/>
              </a:rPr>
              <a:t>layouts with p = r − z</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6400800" cy="914400"/>
        </p:xfrm>
        <a:graphic>
          <a:graphicData uri="http://schemas.openxmlformats.org/drawingml/2006/table">
            <a:tbl>
              <a:tblPr/>
              <a:tblGrid>
                <a:gridCol w="4663440"/>
                <a:gridCol w="1737360"/>
              </a:tblGrid>
              <a:tr h="38404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Measure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r" indent="0" marL="0">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r>
              <a:tr h="38404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(configuration, z) points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7,938</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8404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Geometrically infeasible (skipped)</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105</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8404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Feasible layouts evaluated</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7,833</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8404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Bytes equal / zero syndrome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7,833 / 7,833</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8404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C(T = 1) = C(T = 4)</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7,833 / 7,833</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84048">
                <a:tc>
                  <a:txBody>
                    <a:bodyPr/>
                    <a:lstStyle/>
                    <a:p>
                      <a:pPr algn="l" indent="0" marL="0">
                        <a:buNone/>
                      </a:pPr>
                      <a:r>
                        <a:rPr lang="en-US" sz="1250" dirty="0">
                          <a:solidFill>
                            <a:srgbClr val="222222"/>
                          </a:solidFill>
                          <a:latin typeface="Calibri" pitchFamily="34" charset="0"/>
                          <a:ea typeface="Calibri" pitchFamily="34" charset="-122"/>
                          <a:cs typeface="Calibri" pitchFamily="34" charset="-120"/>
                        </a:rPr>
                        <a:t>test_ppm (Fig. 3, fields, T = 1, 2, 4, invalid input)</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50" dirty="0">
                          <a:solidFill>
                            <a:srgbClr val="222222"/>
                          </a:solidFill>
                          <a:latin typeface="Calibri" pitchFamily="34" charset="0"/>
                          <a:ea typeface="Calibri" pitchFamily="34" charset="-122"/>
                          <a:cs typeface="Calibri" pitchFamily="34" charset="-120"/>
                        </a:rPr>
                        <a:t>PASS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bl>
          </a:graphicData>
        </a:graphic>
      </p:graphicFrame>
      <p:graphicFrame>
        <p:nvGraphicFramePr>
          <p:cNvPr id="14" name="Chart 0" descr=""/>
          <p:cNvGraphicFramePr/>
          <p:nvPr/>
        </p:nvGraphicFramePr>
        <p:xfrm>
          <a:off x="7269480" y="2926080"/>
          <a:ext cx="4389120" cy="301752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RESULTS · WORK REDUCTION</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Every Layout Needs Fewer Region Operations</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13</a:t>
            </a:r>
            <a:endParaRPr lang="en-US" sz="900" dirty="0"/>
          </a:p>
        </p:txBody>
      </p:sp>
      <p:graphicFrame>
        <p:nvGraphicFramePr>
          <p:cNvPr id="7" name="Chart 0" descr=""/>
          <p:cNvGraphicFramePr/>
          <p:nvPr/>
        </p:nvGraphicFramePr>
        <p:xfrm>
          <a:off x="457200" y="1325880"/>
          <a:ext cx="7040880" cy="420624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7498080" y="1371600"/>
            <a:ext cx="1371600" cy="548640"/>
          </a:xfrm>
          <a:prstGeom prst="rect">
            <a:avLst/>
          </a:prstGeom>
          <a:noFill/>
          <a:ln/>
        </p:spPr>
        <p:txBody>
          <a:bodyPr wrap="square" lIns="0" tIns="0" rIns="0" bIns="0" rtlCol="0" anchor="t"/>
          <a:lstStyle/>
          <a:p>
            <a:pPr indent="0" marL="0">
              <a:buNone/>
            </a:pPr>
            <a:r>
              <a:rPr lang="en-US" sz="2400" b="1" dirty="0">
                <a:solidFill>
                  <a:srgbClr val="14284B"/>
                </a:solidFill>
                <a:latin typeface="Calibri" pitchFamily="34" charset="0"/>
                <a:ea typeface="Calibri" pitchFamily="34" charset="-122"/>
                <a:cs typeface="Calibri" pitchFamily="34" charset="-120"/>
              </a:rPr>
              <a:t>1.0 %</a:t>
            </a:r>
            <a:endParaRPr lang="en-US" sz="2400" dirty="0"/>
          </a:p>
        </p:txBody>
      </p:sp>
      <p:sp>
        <p:nvSpPr>
          <p:cNvPr id="9" name="Text 5"/>
          <p:cNvSpPr txBox="1"/>
          <p:nvPr/>
        </p:nvSpPr>
        <p:spPr>
          <a:xfrm>
            <a:off x="7498080" y="1901952"/>
            <a:ext cx="1371600" cy="27432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minimum</a:t>
            </a:r>
            <a:endParaRPr lang="en-US" sz="1100" dirty="0"/>
          </a:p>
        </p:txBody>
      </p:sp>
      <p:sp>
        <p:nvSpPr>
          <p:cNvPr id="10" name="Text 6"/>
          <p:cNvSpPr txBox="1"/>
          <p:nvPr/>
        </p:nvSpPr>
        <p:spPr>
          <a:xfrm>
            <a:off x="8887968" y="1371600"/>
            <a:ext cx="1371600" cy="548640"/>
          </a:xfrm>
          <a:prstGeom prst="rect">
            <a:avLst/>
          </a:prstGeom>
          <a:noFill/>
          <a:ln/>
        </p:spPr>
        <p:txBody>
          <a:bodyPr wrap="square" lIns="0" tIns="0" rIns="0" bIns="0" rtlCol="0" anchor="t"/>
          <a:lstStyle/>
          <a:p>
            <a:pPr indent="0" marL="0">
              <a:buNone/>
            </a:pPr>
            <a:r>
              <a:rPr lang="en-US" sz="2400" b="1" dirty="0">
                <a:solidFill>
                  <a:srgbClr val="2F6DB5"/>
                </a:solidFill>
                <a:latin typeface="Calibri" pitchFamily="34" charset="0"/>
                <a:ea typeface="Calibri" pitchFamily="34" charset="-122"/>
                <a:cs typeface="Calibri" pitchFamily="34" charset="-120"/>
              </a:rPr>
              <a:t>12.9 %</a:t>
            </a:r>
            <a:endParaRPr lang="en-US" sz="2400" dirty="0"/>
          </a:p>
        </p:txBody>
      </p:sp>
      <p:sp>
        <p:nvSpPr>
          <p:cNvPr id="11" name="Text 7"/>
          <p:cNvSpPr txBox="1"/>
          <p:nvPr/>
        </p:nvSpPr>
        <p:spPr>
          <a:xfrm>
            <a:off x="8887968" y="1901952"/>
            <a:ext cx="1371600" cy="27432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median</a:t>
            </a:r>
            <a:endParaRPr lang="en-US" sz="1100" dirty="0"/>
          </a:p>
        </p:txBody>
      </p:sp>
      <p:sp>
        <p:nvSpPr>
          <p:cNvPr id="12" name="Text 8"/>
          <p:cNvSpPr txBox="1"/>
          <p:nvPr/>
        </p:nvSpPr>
        <p:spPr>
          <a:xfrm>
            <a:off x="10277856" y="1371600"/>
            <a:ext cx="1371600" cy="548640"/>
          </a:xfrm>
          <a:prstGeom prst="rect">
            <a:avLst/>
          </a:prstGeom>
          <a:noFill/>
          <a:ln/>
        </p:spPr>
        <p:txBody>
          <a:bodyPr wrap="square" lIns="0" tIns="0" rIns="0" bIns="0" rtlCol="0" anchor="t"/>
          <a:lstStyle/>
          <a:p>
            <a:pPr indent="0" marL="0">
              <a:buNone/>
            </a:pPr>
            <a:r>
              <a:rPr lang="en-US" sz="2400" b="1" dirty="0">
                <a:solidFill>
                  <a:srgbClr val="14284B"/>
                </a:solidFill>
                <a:latin typeface="Calibri" pitchFamily="34" charset="0"/>
                <a:ea typeface="Calibri" pitchFamily="34" charset="-122"/>
                <a:cs typeface="Calibri" pitchFamily="34" charset="-120"/>
              </a:rPr>
              <a:t>70.1 %</a:t>
            </a:r>
            <a:endParaRPr lang="en-US" sz="2400" dirty="0"/>
          </a:p>
        </p:txBody>
      </p:sp>
      <p:sp>
        <p:nvSpPr>
          <p:cNvPr id="13" name="Text 9"/>
          <p:cNvSpPr txBox="1"/>
          <p:nvPr/>
        </p:nvSpPr>
        <p:spPr>
          <a:xfrm>
            <a:off x="10277856" y="1901952"/>
            <a:ext cx="1371600" cy="274320"/>
          </a:xfrm>
          <a:prstGeom prst="rect">
            <a:avLst/>
          </a:prstGeom>
          <a:noFill/>
          <a:ln/>
        </p:spPr>
        <p:txBody>
          <a:bodyPr wrap="square" lIns="0" tIns="0" rIns="0" bIns="0" rtlCol="0" anchor="t"/>
          <a:lstStyle/>
          <a:p>
            <a:pPr indent="0" marL="0">
              <a:buNone/>
            </a:pPr>
            <a:r>
              <a:rPr lang="en-US" sz="1100" dirty="0">
                <a:solidFill>
                  <a:srgbClr val="5F6B7A"/>
                </a:solidFill>
                <a:latin typeface="Calibri" pitchFamily="34" charset="0"/>
                <a:ea typeface="Calibri" pitchFamily="34" charset="-122"/>
                <a:cs typeface="Calibri" pitchFamily="34" charset="-120"/>
              </a:rPr>
              <a:t>maximum</a:t>
            </a:r>
            <a:endParaRPr lang="en-US" sz="1100" dirty="0"/>
          </a:p>
        </p:txBody>
      </p:sp>
      <p:sp>
        <p:nvSpPr>
          <p:cNvPr id="14" name="Text 10"/>
          <p:cNvSpPr txBox="1"/>
          <p:nvPr/>
        </p:nvSpPr>
        <p:spPr>
          <a:xfrm>
            <a:off x="7498080" y="2240280"/>
            <a:ext cx="4142232" cy="274320"/>
          </a:xfrm>
          <a:prstGeom prst="rect">
            <a:avLst/>
          </a:prstGeom>
          <a:noFill/>
          <a:ln/>
        </p:spPr>
        <p:txBody>
          <a:bodyPr wrap="square" lIns="0" tIns="0" rIns="0" bIns="0" rtlCol="0" anchor="t"/>
          <a:lstStyle/>
          <a:p>
            <a:pPr indent="0" marL="0">
              <a:buNone/>
            </a:pPr>
            <a:r>
              <a:rPr lang="en-US" sz="1100" i="1" dirty="0">
                <a:solidFill>
                  <a:srgbClr val="5F6B7A"/>
                </a:solidFill>
                <a:latin typeface="Calibri" pitchFamily="34" charset="0"/>
                <a:ea typeface="Calibri" pitchFamily="34" charset="-122"/>
                <a:cs typeface="Calibri" pitchFamily="34" charset="-120"/>
              </a:rPr>
              <a:t>Mean 15.8 % · 7,833 layouts · PPM C &lt; baseline C in all</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498080" y="2743200"/>
          <a:ext cx="4142232" cy="914400"/>
        </p:xfrm>
        <a:graphic>
          <a:graphicData uri="http://schemas.openxmlformats.org/drawingml/2006/table">
            <a:tbl>
              <a:tblPr/>
              <a:tblGrid>
                <a:gridCol w="548640"/>
                <a:gridCol w="822960"/>
                <a:gridCol w="960120"/>
                <a:gridCol w="868680"/>
                <a:gridCol w="941832"/>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min</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median</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max</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layouts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r>
              <a:tr h="365760">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1.0 %</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00" b="1" dirty="0">
                          <a:solidFill>
                            <a:srgbClr val="2F6DB5"/>
                          </a:solidFill>
                          <a:latin typeface="Calibri" pitchFamily="34" charset="0"/>
                          <a:ea typeface="Calibri" pitchFamily="34" charset="-122"/>
                          <a:cs typeface="Calibri" pitchFamily="34" charset="-120"/>
                        </a:rPr>
                        <a:t>4.7 %</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21.4 %</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2,646</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65760">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3.0 %</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00" b="1" dirty="0">
                          <a:solidFill>
                            <a:srgbClr val="2F6DB5"/>
                          </a:solidFill>
                          <a:latin typeface="Calibri" pitchFamily="34" charset="0"/>
                          <a:ea typeface="Calibri" pitchFamily="34" charset="-122"/>
                          <a:cs typeface="Calibri" pitchFamily="34" charset="-120"/>
                        </a:rPr>
                        <a:t>13.3 %</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48.4 %</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2,625</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65760">
                <a:tc>
                  <a:txBody>
                    <a:bodyPr/>
                    <a:lstStyle/>
                    <a:p>
                      <a:pPr algn="ctr" indent="0" marL="0">
                        <a:buNone/>
                      </a:pPr>
                      <a:r>
                        <a:rPr lang="en-US" sz="1200" dirty="0">
                          <a:solidFill>
                            <a:srgbClr val="222222"/>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5.3 %</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00" b="1" dirty="0">
                          <a:solidFill>
                            <a:srgbClr val="2F6DB5"/>
                          </a:solidFill>
                          <a:latin typeface="Calibri" pitchFamily="34" charset="0"/>
                          <a:ea typeface="Calibri" pitchFamily="34" charset="-122"/>
                          <a:cs typeface="Calibri" pitchFamily="34" charset="-120"/>
                        </a:rPr>
                        <a:t>22.1 %</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70.1 %</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2,562</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bl>
          </a:graphicData>
        </a:graphic>
      </p:graphicFrame>
      <p:sp>
        <p:nvSpPr>
          <p:cNvPr id="16" name="Shape 11"/>
          <p:cNvSpPr/>
          <p:nvPr/>
        </p:nvSpPr>
        <p:spPr>
          <a:xfrm>
            <a:off x="7498080" y="4434840"/>
            <a:ext cx="4142232" cy="1097280"/>
          </a:xfrm>
          <a:prstGeom prst="rect">
            <a:avLst/>
          </a:prstGeom>
          <a:solidFill>
            <a:srgbClr val="FFFFFF"/>
          </a:solidFill>
          <a:ln w="12700">
            <a:solidFill>
              <a:srgbClr val="2F6DB5"/>
            </a:solidFill>
            <a:prstDash val="solid"/>
          </a:ln>
        </p:spPr>
      </p:sp>
      <p:sp>
        <p:nvSpPr>
          <p:cNvPr id="17" name="Text 12"/>
          <p:cNvSpPr txBox="1"/>
          <p:nvPr/>
        </p:nvSpPr>
        <p:spPr>
          <a:xfrm>
            <a:off x="7680960" y="4526280"/>
            <a:ext cx="3776472" cy="914400"/>
          </a:xfrm>
          <a:prstGeom prst="rect">
            <a:avLst/>
          </a:prstGeom>
          <a:noFill/>
          <a:ln/>
        </p:spPr>
        <p:txBody>
          <a:bodyPr wrap="square" lIns="0" tIns="0" rIns="0" bIns="0" rtlCol="0" anchor="t"/>
          <a:lstStyle/>
          <a:p>
            <a:pPr indent="0" marL="0">
              <a:buNone/>
            </a:pPr>
            <a:r>
              <a:rPr lang="en-US" sz="1300" b="1" dirty="0">
                <a:solidFill>
                  <a:srgbClr val="2F6DB5"/>
                </a:solidFill>
                <a:latin typeface="Calibri" pitchFamily="34" charset="0"/>
                <a:ea typeface="Calibri" pitchFamily="34" charset="-122"/>
                <a:cs typeface="Calibri" pitchFamily="34" charset="-120"/>
              </a:rPr>
              <a:t>Takeaway  </a:t>
            </a:r>
            <a:r>
              <a:rPr lang="en-US" sz="1300" dirty="0">
                <a:solidFill>
                  <a:srgbClr val="222222"/>
                </a:solidFill>
                <a:latin typeface="Calibri" pitchFamily="34" charset="0"/>
                <a:ea typeface="Calibri" pitchFamily="34" charset="-122"/>
                <a:cs typeface="Calibri" pitchFamily="34" charset="-120"/>
              </a:rPr>
              <a:t>The algorithmic gain is independent of threading and grows with the number of tolerated disk failures m.</a:t>
            </a:r>
            <a:endParaRPr lang="en-US" sz="1300" dirty="0"/>
          </a:p>
        </p:txBody>
      </p:sp>
      <p:sp>
        <p:nvSpPr>
          <p:cNvPr id="18" name="Text 13"/>
          <p:cNvSpPr txBox="1"/>
          <p:nvPr/>
        </p:nvSpPr>
        <p:spPr>
          <a:xfrm>
            <a:off x="548640" y="5669280"/>
            <a:ext cx="6858000" cy="274320"/>
          </a:xfrm>
          <a:prstGeom prst="rect">
            <a:avLst/>
          </a:prstGeom>
          <a:noFill/>
          <a:ln/>
        </p:spPr>
        <p:txBody>
          <a:bodyPr wrap="square" lIns="0" tIns="0" rIns="0" bIns="0" rtlCol="0" anchor="t"/>
          <a:lstStyle/>
          <a:p>
            <a:pPr indent="0" marL="0">
              <a:buNone/>
            </a:pPr>
            <a:r>
              <a:rPr lang="en-US" sz="1050" i="1" dirty="0">
                <a:solidFill>
                  <a:srgbClr val="5F6B7A"/>
                </a:solidFill>
                <a:latin typeface="Calibri" pitchFamily="34" charset="0"/>
                <a:ea typeface="Calibri" pitchFamily="34" charset="-122"/>
                <a:cs typeface="Calibri" pitchFamily="34" charset="-120"/>
              </a:rPr>
              <a:t>Derived by joining the two sweep CSVs on (n, m, s, r, w, z).</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BENCHMARK</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Benchmark Configurations and Work per Recovery</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14</a:t>
            </a:r>
            <a:endParaRPr lang="en-US" sz="900" dirty="0"/>
          </a:p>
        </p:txBody>
      </p:sp>
      <p:graphicFrame>
        <p:nvGraphicFramePr>
          <p:cNvPr id="7" name="Chart 0" descr=""/>
          <p:cNvGraphicFramePr/>
          <p:nvPr/>
        </p:nvGraphicFramePr>
        <p:xfrm>
          <a:off x="457200" y="1325880"/>
          <a:ext cx="704088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498080" y="1371600"/>
          <a:ext cx="4142232" cy="914400"/>
        </p:xfrm>
        <a:graphic>
          <a:graphicData uri="http://schemas.openxmlformats.org/drawingml/2006/table">
            <a:tbl>
              <a:tblPr/>
              <a:tblGrid>
                <a:gridCol w="960120"/>
                <a:gridCol w="1005840"/>
                <a:gridCol w="1005840"/>
                <a:gridCol w="1170432"/>
              </a:tblGrid>
              <a:tr h="310896">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 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C base</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C PPM</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Δ</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527</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497</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b="1" dirty="0">
                          <a:solidFill>
                            <a:srgbClr val="2F6DB5"/>
                          </a:solidFill>
                          <a:latin typeface="Calibri" pitchFamily="34" charset="0"/>
                          <a:ea typeface="Calibri" pitchFamily="34" charset="-122"/>
                          <a:cs typeface="Calibri" pitchFamily="34" charset="-120"/>
                        </a:rPr>
                        <a:t>−5.7%</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783</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753</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b="1" dirty="0">
                          <a:solidFill>
                            <a:srgbClr val="2F6DB5"/>
                          </a:solidFill>
                          <a:latin typeface="Calibri" pitchFamily="34" charset="0"/>
                          <a:ea typeface="Calibri" pitchFamily="34" charset="-122"/>
                          <a:cs typeface="Calibri" pitchFamily="34" charset="-120"/>
                        </a:rPr>
                        <a:t>−3.8%</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1039</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1009</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b="1" dirty="0">
                          <a:solidFill>
                            <a:srgbClr val="2F6DB5"/>
                          </a:solidFill>
                          <a:latin typeface="Calibri" pitchFamily="34" charset="0"/>
                          <a:ea typeface="Calibri" pitchFamily="34" charset="-122"/>
                          <a:cs typeface="Calibri" pitchFamily="34" charset="-120"/>
                        </a:rPr>
                        <a:t>−2.9%</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(2,1)</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828</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708</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b="1" dirty="0">
                          <a:solidFill>
                            <a:srgbClr val="2F6DB5"/>
                          </a:solidFill>
                          <a:latin typeface="Calibri" pitchFamily="34" charset="0"/>
                          <a:ea typeface="Calibri" pitchFamily="34" charset="-122"/>
                          <a:cs typeface="Calibri" pitchFamily="34" charset="-120"/>
                        </a:rPr>
                        <a:t>−14.5%</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1084</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964</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b="1" dirty="0">
                          <a:solidFill>
                            <a:srgbClr val="2F6DB5"/>
                          </a:solidFill>
                          <a:latin typeface="Calibri" pitchFamily="34" charset="0"/>
                          <a:ea typeface="Calibri" pitchFamily="34" charset="-122"/>
                          <a:cs typeface="Calibri" pitchFamily="34" charset="-120"/>
                        </a:rPr>
                        <a:t>−11.1%</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1340</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1220</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b="1" dirty="0">
                          <a:solidFill>
                            <a:srgbClr val="2F6DB5"/>
                          </a:solidFill>
                          <a:latin typeface="Calibri" pitchFamily="34" charset="0"/>
                          <a:ea typeface="Calibri" pitchFamily="34" charset="-122"/>
                          <a:cs typeface="Calibri" pitchFamily="34" charset="-120"/>
                        </a:rPr>
                        <a:t>−9.0%</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(3,1)</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1159</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889</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b="1" dirty="0">
                          <a:solidFill>
                            <a:srgbClr val="2F6DB5"/>
                          </a:solidFill>
                          <a:latin typeface="Calibri" pitchFamily="34" charset="0"/>
                          <a:ea typeface="Calibri" pitchFamily="34" charset="-122"/>
                          <a:cs typeface="Calibri" pitchFamily="34" charset="-120"/>
                        </a:rPr>
                        <a:t>−23.3%</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(3,2)</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1415</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1145</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b="1" dirty="0">
                          <a:solidFill>
                            <a:srgbClr val="2F6DB5"/>
                          </a:solidFill>
                          <a:latin typeface="Calibri" pitchFamily="34" charset="0"/>
                          <a:ea typeface="Calibri" pitchFamily="34" charset="-122"/>
                          <a:cs typeface="Calibri" pitchFamily="34" charset="-120"/>
                        </a:rPr>
                        <a:t>−19.1%</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(3,3)</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1671</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1401</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b="1" dirty="0">
                          <a:solidFill>
                            <a:srgbClr val="2F6DB5"/>
                          </a:solidFill>
                          <a:latin typeface="Calibri" pitchFamily="34" charset="0"/>
                          <a:ea typeface="Calibri" pitchFamily="34" charset="-122"/>
                          <a:cs typeface="Calibri" pitchFamily="34" charset="-120"/>
                        </a:rPr>
                        <a:t>−16.2%</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bl>
          </a:graphicData>
        </a:graphic>
      </p:graphicFrame>
      <p:sp>
        <p:nvSpPr>
          <p:cNvPr id="9" name="Text 4"/>
          <p:cNvSpPr txBox="1"/>
          <p:nvPr/>
        </p:nvSpPr>
        <p:spPr>
          <a:xfrm>
            <a:off x="7498080" y="4617720"/>
            <a:ext cx="4142232" cy="457200"/>
          </a:xfrm>
          <a:prstGeom prst="rect">
            <a:avLst/>
          </a:prstGeom>
          <a:noFill/>
          <a:ln/>
        </p:spPr>
        <p:txBody>
          <a:bodyPr wrap="square" lIns="0" tIns="0" rIns="0" bIns="0" rtlCol="0" anchor="t"/>
          <a:lstStyle/>
          <a:p>
            <a:pPr indent="0" marL="0">
              <a:buNone/>
            </a:pPr>
            <a:r>
              <a:rPr lang="en-US" sz="1100" i="1" dirty="0">
                <a:solidFill>
                  <a:srgbClr val="5F6B7A"/>
                </a:solidFill>
                <a:latin typeface="Calibri" pitchFamily="34" charset="0"/>
                <a:ea typeface="Calibri" pitchFamily="34" charset="-122"/>
                <a:cs typeface="Calibri" pitchFamily="34" charset="-120"/>
              </a:rPr>
              <a:t>n = r = 16, z = 1  ⇒  p = 15 groups; dependent faults = m + s</a:t>
            </a:r>
            <a:endParaRPr lang="en-US" sz="1100" dirty="0"/>
          </a:p>
        </p:txBody>
      </p:sp>
      <p:sp>
        <p:nvSpPr>
          <p:cNvPr id="10" name="Shape 5"/>
          <p:cNvSpPr/>
          <p:nvPr/>
        </p:nvSpPr>
        <p:spPr>
          <a:xfrm>
            <a:off x="548640" y="5760720"/>
            <a:ext cx="11091672" cy="457200"/>
          </a:xfrm>
          <a:prstGeom prst="rect">
            <a:avLst/>
          </a:prstGeom>
          <a:solidFill>
            <a:srgbClr val="EEF2F8"/>
          </a:solidFill>
          <a:ln/>
        </p:spPr>
      </p:sp>
      <p:sp>
        <p:nvSpPr>
          <p:cNvPr id="11" name="Text 6"/>
          <p:cNvSpPr txBox="1"/>
          <p:nvPr/>
        </p:nvSpPr>
        <p:spPr>
          <a:xfrm>
            <a:off x="731520" y="5760720"/>
            <a:ext cx="10725912" cy="4572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Timed: partition, split, allocation, inversion, recovery.   Untimed: fault injection, byte compare, syndrome, checksum, CSV output.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RESULTS · SPEEDUP</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Median Speedup over the Sequential Baseline</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15</a:t>
            </a:r>
            <a:endParaRPr lang="en-US" sz="900" dirty="0"/>
          </a:p>
        </p:txBody>
      </p:sp>
      <p:graphicFrame>
        <p:nvGraphicFramePr>
          <p:cNvPr id="7" name="Chart 0" descr=""/>
          <p:cNvGraphicFramePr/>
          <p:nvPr/>
        </p:nvGraphicFramePr>
        <p:xfrm>
          <a:off x="457200" y="1325880"/>
          <a:ext cx="7863840" cy="443484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8275320" y="1371600"/>
            <a:ext cx="3364992" cy="777240"/>
          </a:xfrm>
          <a:prstGeom prst="rect">
            <a:avLst/>
          </a:prstGeom>
          <a:noFill/>
          <a:ln/>
        </p:spPr>
        <p:txBody>
          <a:bodyPr wrap="square" lIns="0" tIns="0" rIns="0" bIns="0" rtlCol="0" anchor="t"/>
          <a:lstStyle/>
          <a:p>
            <a:pPr indent="0" marL="0">
              <a:buNone/>
            </a:pPr>
            <a:r>
              <a:rPr lang="en-US" sz="4400" b="1" dirty="0">
                <a:solidFill>
                  <a:srgbClr val="2F6DB5"/>
                </a:solidFill>
                <a:latin typeface="Calibri" pitchFamily="34" charset="0"/>
                <a:ea typeface="Calibri" pitchFamily="34" charset="-122"/>
                <a:cs typeface="Calibri" pitchFamily="34" charset="-120"/>
              </a:rPr>
              <a:t>2.33×</a:t>
            </a:r>
            <a:endParaRPr lang="en-US" sz="4400" dirty="0"/>
          </a:p>
        </p:txBody>
      </p:sp>
      <p:sp>
        <p:nvSpPr>
          <p:cNvPr id="9" name="Text 5"/>
          <p:cNvSpPr txBox="1"/>
          <p:nvPr/>
        </p:nvSpPr>
        <p:spPr>
          <a:xfrm>
            <a:off x="8275320" y="2148840"/>
            <a:ext cx="3364992" cy="32004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best median, m = 3, s = 1, GF(2⁸), T = 8</a:t>
            </a:r>
            <a:endParaRPr lang="en-US" sz="1200" dirty="0"/>
          </a:p>
        </p:txBody>
      </p:sp>
      <p:sp>
        <p:nvSpPr>
          <p:cNvPr id="10" name="Text 6"/>
          <p:cNvSpPr txBox="1"/>
          <p:nvPr/>
        </p:nvSpPr>
        <p:spPr>
          <a:xfrm>
            <a:off x="8275320" y="2743200"/>
            <a:ext cx="3364992" cy="548640"/>
          </a:xfrm>
          <a:prstGeom prst="rect">
            <a:avLst/>
          </a:prstGeom>
          <a:noFill/>
          <a:ln/>
        </p:spPr>
        <p:txBody>
          <a:bodyPr wrap="square" lIns="0" tIns="0" rIns="0" bIns="0" rtlCol="0" anchor="t"/>
          <a:lstStyle/>
          <a:p>
            <a:pPr indent="0" marL="0">
              <a:buNone/>
            </a:pPr>
            <a:r>
              <a:rPr lang="en-US" sz="2600" b="1" dirty="0">
                <a:solidFill>
                  <a:srgbClr val="14284B"/>
                </a:solidFill>
                <a:latin typeface="Calibri" pitchFamily="34" charset="0"/>
                <a:ea typeface="Calibri" pitchFamily="34" charset="-122"/>
                <a:cs typeface="Calibri" pitchFamily="34" charset="-120"/>
              </a:rPr>
              <a:t>1.02 – 1.24×</a:t>
            </a:r>
            <a:endParaRPr lang="en-US" sz="2600" dirty="0"/>
          </a:p>
        </p:txBody>
      </p:sp>
      <p:sp>
        <p:nvSpPr>
          <p:cNvPr id="11" name="Text 7"/>
          <p:cNvSpPr txBox="1"/>
          <p:nvPr/>
        </p:nvSpPr>
        <p:spPr>
          <a:xfrm>
            <a:off x="8275320" y="3291840"/>
            <a:ext cx="3364992" cy="502920"/>
          </a:xfrm>
          <a:prstGeom prst="rect">
            <a:avLst/>
          </a:prstGeom>
          <a:noFill/>
          <a:ln/>
        </p:spPr>
        <p:txBody>
          <a:bodyPr wrap="square" lIns="0" tIns="0" rIns="0" bIns="0" rtlCol="0" anchor="t"/>
          <a:lstStyle/>
          <a:p>
            <a:pPr indent="0" marL="0">
              <a:buNone/>
            </a:pPr>
            <a:r>
              <a:rPr lang="en-US" sz="1200" dirty="0">
                <a:solidFill>
                  <a:srgbClr val="5F6B7A"/>
                </a:solidFill>
                <a:latin typeface="Calibri" pitchFamily="34" charset="0"/>
                <a:ea typeface="Calibri" pitchFamily="34" charset="-122"/>
                <a:cs typeface="Calibri" pitchFamily="34" charset="-120"/>
              </a:rPr>
              <a:t>at T = 1: algorithmic gain only, every configuration &gt; 1</a:t>
            </a:r>
            <a:endParaRPr lang="en-US" sz="1200" dirty="0"/>
          </a:p>
        </p:txBody>
      </p:sp>
      <p:sp>
        <p:nvSpPr>
          <p:cNvPr id="12" name="Shape 8"/>
          <p:cNvSpPr/>
          <p:nvPr/>
        </p:nvSpPr>
        <p:spPr>
          <a:xfrm>
            <a:off x="8275320" y="4069080"/>
            <a:ext cx="3364992" cy="1691640"/>
          </a:xfrm>
          <a:prstGeom prst="rect">
            <a:avLst/>
          </a:prstGeom>
          <a:solidFill>
            <a:srgbClr val="EEF2F8"/>
          </a:solidFill>
          <a:ln/>
        </p:spPr>
      </p:sp>
      <p:sp>
        <p:nvSpPr>
          <p:cNvPr id="13" name="Text 9"/>
          <p:cNvSpPr txBox="1"/>
          <p:nvPr/>
        </p:nvSpPr>
        <p:spPr>
          <a:xfrm>
            <a:off x="8458200" y="4160520"/>
            <a:ext cx="2999232" cy="1554480"/>
          </a:xfrm>
          <a:prstGeom prst="rect">
            <a:avLst/>
          </a:prstGeom>
          <a:noFill/>
          <a:ln/>
        </p:spPr>
        <p:txBody>
          <a:bodyPr wrap="square" lIns="0" tIns="0" rIns="0" bIns="0" rtlCol="0" anchor="t"/>
          <a:lstStyle/>
          <a:p>
            <a:pPr indent="0" marL="0">
              <a:buNone/>
            </a:pPr>
            <a:r>
              <a:rPr lang="en-US" sz="1250" b="1" dirty="0">
                <a:solidFill>
                  <a:srgbClr val="14284B"/>
                </a:solidFill>
                <a:latin typeface="Calibri" pitchFamily="34" charset="0"/>
                <a:ea typeface="Calibri" pitchFamily="34" charset="-122"/>
                <a:cs typeface="Calibri" pitchFamily="34" charset="-120"/>
              </a:rPr>
              <a:t>Peaks before T = 8</a:t>
            </a:r>
            <a:endParaRPr lang="en-US" sz="1250" dirty="0"/>
          </a:p>
          <a:p>
            <a:pPr indent="0" marL="0">
              <a:buNone/>
            </a:pPr>
            <a:r>
              <a:rPr lang="en-US" sz="1250" dirty="0">
                <a:solidFill>
                  <a:srgbClr val="222222"/>
                </a:solidFill>
                <a:latin typeface="Calibri" pitchFamily="34" charset="0"/>
                <a:ea typeface="Calibri" pitchFamily="34" charset="-122"/>
                <a:cs typeface="Calibri" pitchFamily="34" charset="-120"/>
              </a:rPr>
              <a:t>(1,3): 1.20 → 1.18×</a:t>
            </a:r>
            <a:endParaRPr lang="en-US" sz="1250" dirty="0"/>
          </a:p>
          <a:p>
            <a:pPr indent="0" marL="0">
              <a:buNone/>
            </a:pPr>
            <a:r>
              <a:rPr lang="en-US" sz="1250" dirty="0">
                <a:solidFill>
                  <a:srgbClr val="222222"/>
                </a:solidFill>
                <a:latin typeface="Calibri" pitchFamily="34" charset="0"/>
                <a:ea typeface="Calibri" pitchFamily="34" charset="-122"/>
                <a:cs typeface="Calibri" pitchFamily="34" charset="-120"/>
              </a:rPr>
              <a:t>(2,2): 1.48 → 1.46×</a:t>
            </a:r>
            <a:endParaRPr lang="en-US" sz="1250" dirty="0"/>
          </a:p>
          <a:p>
            <a:pPr indent="0" marL="0">
              <a:buNone/>
            </a:pPr>
            <a:r>
              <a:rPr lang="en-US" sz="1250" dirty="0">
                <a:solidFill>
                  <a:srgbClr val="222222"/>
                </a:solidFill>
                <a:latin typeface="Calibri" pitchFamily="34" charset="0"/>
                <a:ea typeface="Calibri" pitchFamily="34" charset="-122"/>
                <a:cs typeface="Calibri" pitchFamily="34" charset="-120"/>
              </a:rPr>
              <a:t>(3,2): 1.80 → 1.67×</a:t>
            </a:r>
            <a:endParaRPr lang="en-US" sz="1250" dirty="0"/>
          </a:p>
        </p:txBody>
      </p:sp>
      <p:sp>
        <p:nvSpPr>
          <p:cNvPr id="14" name="Text 10"/>
          <p:cNvSpPr txBox="1"/>
          <p:nvPr/>
        </p:nvSpPr>
        <p:spPr>
          <a:xfrm>
            <a:off x="548640" y="5852160"/>
            <a:ext cx="11091672" cy="320040"/>
          </a:xfrm>
          <a:prstGeom prst="rect">
            <a:avLst/>
          </a:prstGeom>
          <a:noFill/>
          <a:ln/>
        </p:spPr>
        <p:txBody>
          <a:bodyPr wrap="square" lIns="0" tIns="0" rIns="0" bIns="0" rtlCol="0" anchor="t"/>
          <a:lstStyle/>
          <a:p>
            <a:pPr indent="0" marL="0">
              <a:buNone/>
            </a:pPr>
            <a:r>
              <a:rPr lang="en-US" sz="1150" i="1" dirty="0">
                <a:solidFill>
                  <a:srgbClr val="5F6B7A"/>
                </a:solidFill>
                <a:latin typeface="Calibri" pitchFamily="34" charset="0"/>
                <a:ea typeface="Calibri" pitchFamily="34" charset="-122"/>
                <a:cs typeface="Calibri" pitchFamily="34" charset="-120"/>
              </a:rPr>
              <a:t>All 450 measured trials pass byte, syndrome, checksum, count and metadata validation.</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RESULTS · THROUGHPUT</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Throughput and Parallel Efficiency</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16</a:t>
            </a:r>
            <a:endParaRPr lang="en-US" sz="900" dirty="0"/>
          </a:p>
        </p:txBody>
      </p:sp>
      <p:graphicFrame>
        <p:nvGraphicFramePr>
          <p:cNvPr id="7" name="Chart 0" descr=""/>
          <p:cNvGraphicFramePr/>
          <p:nvPr/>
        </p:nvGraphicFramePr>
        <p:xfrm>
          <a:off x="457200" y="1325880"/>
          <a:ext cx="7040880" cy="4434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498080" y="1371600"/>
          <a:ext cx="4142232" cy="914400"/>
        </p:xfrm>
        <a:graphic>
          <a:graphicData uri="http://schemas.openxmlformats.org/drawingml/2006/table">
            <a:tbl>
              <a:tblPr/>
              <a:tblGrid>
                <a:gridCol w="1371600"/>
                <a:gridCol w="1371600"/>
                <a:gridCol w="1399032"/>
              </a:tblGrid>
              <a:tr h="310896">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 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E(4)</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r" indent="0" marL="0">
                        <a:buNone/>
                      </a:pPr>
                      <a:r>
                        <a:rPr lang="en-US" sz="1150" b="1" dirty="0">
                          <a:solidFill>
                            <a:srgbClr val="FFFFFF"/>
                          </a:solidFill>
                          <a:latin typeface="Calibri" pitchFamily="34" charset="0"/>
                          <a:ea typeface="Calibri" pitchFamily="34" charset="-122"/>
                          <a:cs typeface="Calibri" pitchFamily="34" charset="-120"/>
                        </a:rPr>
                        <a:t>E(8)</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0.34</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0.18</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0.30</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0.15</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0.30</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0.15</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(2,1)</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0.41</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0.22</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0.37</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0.18</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0.35</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0.19</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b="1" dirty="0">
                          <a:solidFill>
                            <a:srgbClr val="2F6DB5"/>
                          </a:solidFill>
                          <a:latin typeface="Calibri" pitchFamily="34" charset="0"/>
                          <a:ea typeface="Calibri" pitchFamily="34" charset="-122"/>
                          <a:cs typeface="Calibri" pitchFamily="34" charset="-120"/>
                        </a:rPr>
                        <a:t>(3,1)</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b="1" dirty="0">
                          <a:solidFill>
                            <a:srgbClr val="2F6DB5"/>
                          </a:solidFill>
                          <a:latin typeface="Calibri" pitchFamily="34" charset="0"/>
                          <a:ea typeface="Calibri" pitchFamily="34" charset="-122"/>
                          <a:cs typeface="Calibri" pitchFamily="34" charset="-120"/>
                        </a:rPr>
                        <a:t>0.53</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b="1" dirty="0">
                          <a:solidFill>
                            <a:srgbClr val="2F6DB5"/>
                          </a:solidFill>
                          <a:latin typeface="Calibri" pitchFamily="34" charset="0"/>
                          <a:ea typeface="Calibri" pitchFamily="34" charset="-122"/>
                          <a:cs typeface="Calibri" pitchFamily="34" charset="-120"/>
                        </a:rPr>
                        <a:t>0.29</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(3,2)</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0.45</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0.21</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310896">
                <a:tc>
                  <a:txBody>
                    <a:bodyPr/>
                    <a:lstStyle/>
                    <a:p>
                      <a:pPr algn="l" indent="0" marL="0">
                        <a:buNone/>
                      </a:pPr>
                      <a:r>
                        <a:rPr lang="en-US" sz="1150" dirty="0">
                          <a:solidFill>
                            <a:srgbClr val="222222"/>
                          </a:solidFill>
                          <a:latin typeface="Calibri" pitchFamily="34" charset="0"/>
                          <a:ea typeface="Calibri" pitchFamily="34" charset="-122"/>
                          <a:cs typeface="Calibri" pitchFamily="34" charset="-120"/>
                        </a:rPr>
                        <a:t>(3,3)</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0.41</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r" indent="0" marL="0">
                        <a:buNone/>
                      </a:pPr>
                      <a:r>
                        <a:rPr lang="en-US" sz="1150" dirty="0">
                          <a:solidFill>
                            <a:srgbClr val="222222"/>
                          </a:solidFill>
                          <a:latin typeface="Calibri" pitchFamily="34" charset="0"/>
                          <a:ea typeface="Calibri" pitchFamily="34" charset="-122"/>
                          <a:cs typeface="Calibri" pitchFamily="34" charset="-120"/>
                        </a:rPr>
                        <a:t>0.22</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bl>
          </a:graphicData>
        </a:graphic>
      </p:graphicFrame>
      <p:sp>
        <p:nvSpPr>
          <p:cNvPr id="9" name="Text 4"/>
          <p:cNvSpPr txBox="1"/>
          <p:nvPr/>
        </p:nvSpPr>
        <p:spPr>
          <a:xfrm>
            <a:off x="7498080" y="4617720"/>
            <a:ext cx="4142232" cy="365760"/>
          </a:xfrm>
          <a:prstGeom prst="rect">
            <a:avLst/>
          </a:prstGeom>
          <a:noFill/>
          <a:ln/>
        </p:spPr>
        <p:txBody>
          <a:bodyPr wrap="square" lIns="0" tIns="0" rIns="0" bIns="0" rtlCol="0" anchor="ctr"/>
          <a:lstStyle/>
          <a:p>
            <a:pPr indent="0" marL="0">
              <a:buNone/>
            </a:pPr>
            <a:r>
              <a:rPr lang="en-US" sz="1400" dirty="0">
                <a:solidFill>
                  <a:srgbClr val="14284B"/>
                </a:solidFill>
                <a:latin typeface="Cambria" pitchFamily="34" charset="0"/>
                <a:ea typeface="Cambria" pitchFamily="34" charset="-122"/>
                <a:cs typeface="Cambria" pitchFamily="34" charset="-120"/>
              </a:rPr>
              <a:t>E(T) = speedup(T) / T</a:t>
            </a:r>
            <a:endParaRPr lang="en-US" sz="1400" dirty="0"/>
          </a:p>
        </p:txBody>
      </p:sp>
      <p:sp>
        <p:nvSpPr>
          <p:cNvPr id="10" name="Text 5"/>
          <p:cNvSpPr txBox="1"/>
          <p:nvPr/>
        </p:nvSpPr>
        <p:spPr>
          <a:xfrm>
            <a:off x="7498080" y="4983480"/>
            <a:ext cx="4142232" cy="274320"/>
          </a:xfrm>
          <a:prstGeom prst="rect">
            <a:avLst/>
          </a:prstGeom>
          <a:noFill/>
          <a:ln/>
        </p:spPr>
        <p:txBody>
          <a:bodyPr wrap="square" lIns="0" tIns="0" rIns="0" bIns="0" rtlCol="0" anchor="t"/>
          <a:lstStyle/>
          <a:p>
            <a:pPr indent="0" marL="0">
              <a:buNone/>
            </a:pPr>
            <a:r>
              <a:rPr lang="en-US" sz="1050" i="1" dirty="0">
                <a:solidFill>
                  <a:srgbClr val="5F6B7A"/>
                </a:solidFill>
                <a:latin typeface="Calibri" pitchFamily="34" charset="0"/>
                <a:ea typeface="Calibri" pitchFamily="34" charset="-122"/>
                <a:cs typeface="Calibri" pitchFamily="34" charset="-120"/>
              </a:rPr>
              <a:t>median over 10 trials · T = effective threads</a:t>
            </a:r>
            <a:endParaRPr lang="en-US" sz="1050" dirty="0"/>
          </a:p>
        </p:txBody>
      </p:sp>
      <p:sp>
        <p:nvSpPr>
          <p:cNvPr id="11" name="Text 6"/>
          <p:cNvSpPr txBox="1"/>
          <p:nvPr/>
        </p:nvSpPr>
        <p:spPr>
          <a:xfrm>
            <a:off x="548640" y="5852160"/>
            <a:ext cx="11091672" cy="320040"/>
          </a:xfrm>
          <a:prstGeom prst="rect">
            <a:avLst/>
          </a:prstGeom>
          <a:noFill/>
          <a:ln/>
        </p:spPr>
        <p:txBody>
          <a:bodyPr wrap="square" lIns="0" tIns="0" rIns="0" bIns="0" rtlCol="0" anchor="t"/>
          <a:lstStyle/>
          <a:p>
            <a:pPr indent="0" marL="0">
              <a:buNone/>
            </a:pPr>
            <a:r>
              <a:rPr lang="en-US" sz="1150" i="1" dirty="0">
                <a:solidFill>
                  <a:srgbClr val="5F6B7A"/>
                </a:solidFill>
                <a:latin typeface="Calibri" pitchFamily="34" charset="0"/>
                <a:ea typeface="Calibri" pitchFamily="34" charset="-122"/>
                <a:cs typeface="Calibri" pitchFamily="34" charset="-120"/>
              </a:rPr>
              <a:t>Absolute throughput is machine- and run-specific; speedups compare against the baseline measured in the same run.</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DISCUSSION</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Why Speedup Is Not Linear</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17</a:t>
            </a:r>
            <a:endParaRPr lang="en-US" sz="900" dirty="0"/>
          </a:p>
        </p:txBody>
      </p:sp>
      <p:graphicFrame>
        <p:nvGraphicFramePr>
          <p:cNvPr id="7" name="Chart 0" descr=""/>
          <p:cNvGraphicFramePr/>
          <p:nvPr/>
        </p:nvGraphicFramePr>
        <p:xfrm>
          <a:off x="457200" y="1325880"/>
          <a:ext cx="5852160" cy="420624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548640" y="5577840"/>
            <a:ext cx="5669280" cy="274320"/>
          </a:xfrm>
          <a:prstGeom prst="rect">
            <a:avLst/>
          </a:prstGeom>
          <a:noFill/>
          <a:ln/>
        </p:spPr>
        <p:txBody>
          <a:bodyPr wrap="square" lIns="0" tIns="0" rIns="0" bIns="0" rtlCol="0" anchor="t"/>
          <a:lstStyle/>
          <a:p>
            <a:pPr algn="ctr" indent="0" marL="0">
              <a:buNone/>
            </a:pPr>
            <a:r>
              <a:rPr lang="en-US" sz="1100" dirty="0">
                <a:solidFill>
                  <a:srgbClr val="5F6B7A"/>
                </a:solidFill>
                <a:latin typeface="Calibri" pitchFamily="34" charset="0"/>
                <a:ea typeface="Calibri" pitchFamily="34" charset="-122"/>
                <a:cs typeface="Calibri" pitchFamily="34" charset="-120"/>
              </a:rPr>
              <a:t>(3,1): 65.8 % → 2.33×      (1,3): 22.3 % → 1.18×</a:t>
            </a:r>
            <a:endParaRPr lang="en-US" sz="1100" dirty="0"/>
          </a:p>
        </p:txBody>
      </p:sp>
      <p:sp>
        <p:nvSpPr>
          <p:cNvPr id="9" name="Shape 5"/>
          <p:cNvSpPr/>
          <p:nvPr/>
        </p:nvSpPr>
        <p:spPr>
          <a:xfrm>
            <a:off x="6492240" y="1371600"/>
            <a:ext cx="5148072" cy="777240"/>
          </a:xfrm>
          <a:prstGeom prst="rect">
            <a:avLst/>
          </a:prstGeom>
          <a:solidFill>
            <a:srgbClr val="EEF2F8"/>
          </a:solidFill>
          <a:ln/>
        </p:spPr>
      </p:sp>
      <p:sp>
        <p:nvSpPr>
          <p:cNvPr id="10" name="Text 6"/>
          <p:cNvSpPr txBox="1"/>
          <p:nvPr/>
        </p:nvSpPr>
        <p:spPr>
          <a:xfrm>
            <a:off x="6675120" y="1444752"/>
            <a:ext cx="4782312" cy="292608"/>
          </a:xfrm>
          <a:prstGeom prst="rect">
            <a:avLst/>
          </a:prstGeom>
          <a:noFill/>
          <a:ln/>
        </p:spPr>
        <p:txBody>
          <a:bodyPr wrap="square" lIns="0" tIns="0" rIns="0" bIns="0" rtlCol="0" anchor="t"/>
          <a:lstStyle/>
          <a:p>
            <a:pPr indent="0" marL="0">
              <a:buNone/>
            </a:pPr>
            <a:r>
              <a:rPr lang="en-US" sz="1350" b="1" dirty="0">
                <a:solidFill>
                  <a:srgbClr val="2F6DB5"/>
                </a:solidFill>
                <a:latin typeface="Calibri" pitchFamily="34" charset="0"/>
                <a:ea typeface="Calibri" pitchFamily="34" charset="-122"/>
                <a:cs typeface="Calibri" pitchFamily="34" charset="-120"/>
              </a:rPr>
              <a:t>Sequential remainder</a:t>
            </a:r>
            <a:endParaRPr lang="en-US" sz="1350" dirty="0"/>
          </a:p>
        </p:txBody>
      </p:sp>
      <p:sp>
        <p:nvSpPr>
          <p:cNvPr id="11" name="Text 7"/>
          <p:cNvSpPr txBox="1"/>
          <p:nvPr/>
        </p:nvSpPr>
        <p:spPr>
          <a:xfrm>
            <a:off x="6675120" y="1755648"/>
            <a:ext cx="4782312" cy="3657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H_rest runs after the barrier on one thread (Amdahl's law)</a:t>
            </a:r>
            <a:endParaRPr lang="en-US" sz="1200" dirty="0"/>
          </a:p>
        </p:txBody>
      </p:sp>
      <p:sp>
        <p:nvSpPr>
          <p:cNvPr id="12" name="Shape 8"/>
          <p:cNvSpPr/>
          <p:nvPr/>
        </p:nvSpPr>
        <p:spPr>
          <a:xfrm>
            <a:off x="6492240" y="2258568"/>
            <a:ext cx="5148072" cy="777240"/>
          </a:xfrm>
          <a:prstGeom prst="rect">
            <a:avLst/>
          </a:prstGeom>
          <a:solidFill>
            <a:srgbClr val="F6F7F9"/>
          </a:solidFill>
          <a:ln/>
        </p:spPr>
      </p:sp>
      <p:sp>
        <p:nvSpPr>
          <p:cNvPr id="13" name="Text 9"/>
          <p:cNvSpPr txBox="1"/>
          <p:nvPr/>
        </p:nvSpPr>
        <p:spPr>
          <a:xfrm>
            <a:off x="6675120" y="2331720"/>
            <a:ext cx="4782312" cy="292608"/>
          </a:xfrm>
          <a:prstGeom prst="rect">
            <a:avLst/>
          </a:prstGeom>
          <a:noFill/>
          <a:ln/>
        </p:spPr>
        <p:txBody>
          <a:bodyPr wrap="square" lIns="0" tIns="0" rIns="0" bIns="0" rtlCol="0" anchor="t"/>
          <a:lstStyle/>
          <a:p>
            <a:pPr indent="0" marL="0">
              <a:buNone/>
            </a:pPr>
            <a:r>
              <a:rPr lang="en-US" sz="1350" b="1" dirty="0">
                <a:solidFill>
                  <a:srgbClr val="14284B"/>
                </a:solidFill>
                <a:latin typeface="Calibri" pitchFamily="34" charset="0"/>
                <a:ea typeface="Calibri" pitchFamily="34" charset="-122"/>
                <a:cs typeface="Calibri" pitchFamily="34" charset="-120"/>
              </a:rPr>
              <a:t>Limited independent work</a:t>
            </a:r>
            <a:endParaRPr lang="en-US" sz="1350" dirty="0"/>
          </a:p>
        </p:txBody>
      </p:sp>
      <p:sp>
        <p:nvSpPr>
          <p:cNvPr id="14" name="Text 10"/>
          <p:cNvSpPr txBox="1"/>
          <p:nvPr/>
        </p:nvSpPr>
        <p:spPr>
          <a:xfrm>
            <a:off x="6675120" y="2642616"/>
            <a:ext cx="4782312" cy="3657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at most p = 15 useful workers; small jobs may not amortise startup</a:t>
            </a:r>
            <a:endParaRPr lang="en-US" sz="1200" dirty="0"/>
          </a:p>
        </p:txBody>
      </p:sp>
      <p:sp>
        <p:nvSpPr>
          <p:cNvPr id="15" name="Shape 11"/>
          <p:cNvSpPr/>
          <p:nvPr/>
        </p:nvSpPr>
        <p:spPr>
          <a:xfrm>
            <a:off x="6492240" y="3145536"/>
            <a:ext cx="5148072" cy="777240"/>
          </a:xfrm>
          <a:prstGeom prst="rect">
            <a:avLst/>
          </a:prstGeom>
          <a:solidFill>
            <a:srgbClr val="F6F7F9"/>
          </a:solidFill>
          <a:ln/>
        </p:spPr>
      </p:sp>
      <p:sp>
        <p:nvSpPr>
          <p:cNvPr id="16" name="Text 12"/>
          <p:cNvSpPr txBox="1"/>
          <p:nvPr/>
        </p:nvSpPr>
        <p:spPr>
          <a:xfrm>
            <a:off x="6675120" y="3218688"/>
            <a:ext cx="4782312" cy="292608"/>
          </a:xfrm>
          <a:prstGeom prst="rect">
            <a:avLst/>
          </a:prstGeom>
          <a:noFill/>
          <a:ln/>
        </p:spPr>
        <p:txBody>
          <a:bodyPr wrap="square" lIns="0" tIns="0" rIns="0" bIns="0" rtlCol="0" anchor="t"/>
          <a:lstStyle/>
          <a:p>
            <a:pPr indent="0" marL="0">
              <a:buNone/>
            </a:pPr>
            <a:r>
              <a:rPr lang="en-US" sz="1350" b="1" dirty="0">
                <a:solidFill>
                  <a:srgbClr val="14284B"/>
                </a:solidFill>
                <a:latin typeface="Calibri" pitchFamily="34" charset="0"/>
                <a:ea typeface="Calibri" pitchFamily="34" charset="-122"/>
                <a:cs typeface="Calibri" pitchFamily="34" charset="-120"/>
              </a:rPr>
              <a:t>Threading overhead</a:t>
            </a:r>
            <a:endParaRPr lang="en-US" sz="1350" dirty="0"/>
          </a:p>
        </p:txBody>
      </p:sp>
      <p:sp>
        <p:nvSpPr>
          <p:cNvPr id="17" name="Text 13"/>
          <p:cNvSpPr txBox="1"/>
          <p:nvPr/>
        </p:nvSpPr>
        <p:spPr>
          <a:xfrm>
            <a:off x="6675120" y="3529584"/>
            <a:ext cx="4782312" cy="3657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worker creation and synchronisation per recovery call</a:t>
            </a:r>
            <a:endParaRPr lang="en-US" sz="1200" dirty="0"/>
          </a:p>
        </p:txBody>
      </p:sp>
      <p:sp>
        <p:nvSpPr>
          <p:cNvPr id="18" name="Shape 14"/>
          <p:cNvSpPr/>
          <p:nvPr/>
        </p:nvSpPr>
        <p:spPr>
          <a:xfrm>
            <a:off x="6492240" y="4032504"/>
            <a:ext cx="5148072" cy="777240"/>
          </a:xfrm>
          <a:prstGeom prst="rect">
            <a:avLst/>
          </a:prstGeom>
          <a:solidFill>
            <a:srgbClr val="F6F7F9"/>
          </a:solidFill>
          <a:ln/>
        </p:spPr>
      </p:sp>
      <p:sp>
        <p:nvSpPr>
          <p:cNvPr id="19" name="Text 15"/>
          <p:cNvSpPr txBox="1"/>
          <p:nvPr/>
        </p:nvSpPr>
        <p:spPr>
          <a:xfrm>
            <a:off x="6675120" y="4105656"/>
            <a:ext cx="4782312" cy="292608"/>
          </a:xfrm>
          <a:prstGeom prst="rect">
            <a:avLst/>
          </a:prstGeom>
          <a:noFill/>
          <a:ln/>
        </p:spPr>
        <p:txBody>
          <a:bodyPr wrap="square" lIns="0" tIns="0" rIns="0" bIns="0" rtlCol="0" anchor="t"/>
          <a:lstStyle/>
          <a:p>
            <a:pPr indent="0" marL="0">
              <a:buNone/>
            </a:pPr>
            <a:r>
              <a:rPr lang="en-US" sz="1350" b="1" dirty="0">
                <a:solidFill>
                  <a:srgbClr val="14284B"/>
                </a:solidFill>
                <a:latin typeface="Calibri" pitchFamily="34" charset="0"/>
                <a:ea typeface="Calibri" pitchFamily="34" charset="-122"/>
                <a:cs typeface="Calibri" pitchFamily="34" charset="-120"/>
              </a:rPr>
              <a:t>Memory bandwidth</a:t>
            </a:r>
            <a:endParaRPr lang="en-US" sz="1350" dirty="0"/>
          </a:p>
        </p:txBody>
      </p:sp>
      <p:sp>
        <p:nvSpPr>
          <p:cNvPr id="20" name="Text 16"/>
          <p:cNvSpPr txBox="1"/>
          <p:nvPr/>
        </p:nvSpPr>
        <p:spPr>
          <a:xfrm>
            <a:off x="6675120" y="4416552"/>
            <a:ext cx="4782312" cy="3657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every worker streams large sector regions; cores compete for bandwidth and cache</a:t>
            </a:r>
            <a:endParaRPr lang="en-US" sz="1200" dirty="0"/>
          </a:p>
        </p:txBody>
      </p:sp>
      <p:sp>
        <p:nvSpPr>
          <p:cNvPr id="21" name="Shape 17"/>
          <p:cNvSpPr/>
          <p:nvPr/>
        </p:nvSpPr>
        <p:spPr>
          <a:xfrm>
            <a:off x="6492240" y="4919472"/>
            <a:ext cx="5148072" cy="777240"/>
          </a:xfrm>
          <a:prstGeom prst="rect">
            <a:avLst/>
          </a:prstGeom>
          <a:solidFill>
            <a:srgbClr val="F6F7F9"/>
          </a:solidFill>
          <a:ln/>
        </p:spPr>
      </p:sp>
      <p:sp>
        <p:nvSpPr>
          <p:cNvPr id="22" name="Text 18"/>
          <p:cNvSpPr txBox="1"/>
          <p:nvPr/>
        </p:nvSpPr>
        <p:spPr>
          <a:xfrm>
            <a:off x="6675120" y="4992624"/>
            <a:ext cx="4782312" cy="292608"/>
          </a:xfrm>
          <a:prstGeom prst="rect">
            <a:avLst/>
          </a:prstGeom>
          <a:noFill/>
          <a:ln/>
        </p:spPr>
        <p:txBody>
          <a:bodyPr wrap="square" lIns="0" tIns="0" rIns="0" bIns="0" rtlCol="0" anchor="t"/>
          <a:lstStyle/>
          <a:p>
            <a:pPr indent="0" marL="0">
              <a:buNone/>
            </a:pPr>
            <a:r>
              <a:rPr lang="en-US" sz="1350" b="1" dirty="0">
                <a:solidFill>
                  <a:srgbClr val="14284B"/>
                </a:solidFill>
                <a:latin typeface="Calibri" pitchFamily="34" charset="0"/>
                <a:ea typeface="Calibri" pitchFamily="34" charset="-122"/>
                <a:cs typeface="Calibri" pitchFamily="34" charset="-120"/>
              </a:rPr>
              <a:t>Field backends</a:t>
            </a:r>
            <a:endParaRPr lang="en-US" sz="1350" dirty="0"/>
          </a:p>
        </p:txBody>
      </p:sp>
      <p:sp>
        <p:nvSpPr>
          <p:cNvPr id="23" name="Text 19"/>
          <p:cNvSpPr txBox="1"/>
          <p:nvPr/>
        </p:nvSpPr>
        <p:spPr>
          <a:xfrm>
            <a:off x="6675120" y="5303520"/>
            <a:ext cx="4782312" cy="36576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GF(2⁸), GF(2¹⁶), GF(2³²) use different scalar paths with different costs</a:t>
            </a:r>
            <a:endParaRPr lang="en-US" sz="1200" dirty="0"/>
          </a:p>
        </p:txBody>
      </p:sp>
      <p:sp>
        <p:nvSpPr>
          <p:cNvPr id="24" name="Text 20"/>
          <p:cNvSpPr txBox="1"/>
          <p:nvPr/>
        </p:nvSpPr>
        <p:spPr>
          <a:xfrm>
            <a:off x="6492240" y="5852160"/>
            <a:ext cx="5148072" cy="274320"/>
          </a:xfrm>
          <a:prstGeom prst="rect">
            <a:avLst/>
          </a:prstGeom>
          <a:noFill/>
          <a:ln/>
        </p:spPr>
        <p:txBody>
          <a:bodyPr wrap="square" lIns="0" tIns="0" rIns="0" bIns="0" rtlCol="0" anchor="t"/>
          <a:lstStyle/>
          <a:p>
            <a:pPr indent="0" marL="0">
              <a:buNone/>
            </a:pPr>
            <a:r>
              <a:rPr lang="en-US" sz="1050" i="1" dirty="0">
                <a:solidFill>
                  <a:srgbClr val="5F6B7A"/>
                </a:solidFill>
                <a:latin typeface="Calibri" pitchFamily="34" charset="0"/>
                <a:ea typeface="Calibri" pitchFamily="34" charset="-122"/>
                <a:cs typeface="Calibri" pitchFamily="34" charset="-120"/>
              </a:rPr>
              <a:t>Factors per project analysis; only the parallel share is quantified here.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DISCUSSION</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Limitations and Threats to Validity</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18</a:t>
            </a:r>
            <a:endParaRPr lang="en-US" sz="900" dirty="0"/>
          </a:p>
        </p:txBody>
      </p:sp>
      <p:sp>
        <p:nvSpPr>
          <p:cNvPr id="7" name="Shape 4"/>
          <p:cNvSpPr/>
          <p:nvPr/>
        </p:nvSpPr>
        <p:spPr>
          <a:xfrm>
            <a:off x="548640" y="1417320"/>
            <a:ext cx="3566160" cy="2194560"/>
          </a:xfrm>
          <a:prstGeom prst="rect">
            <a:avLst/>
          </a:prstGeom>
          <a:solidFill>
            <a:srgbClr val="EEF2F8"/>
          </a:solidFill>
          <a:ln/>
        </p:spPr>
      </p:sp>
      <p:sp>
        <p:nvSpPr>
          <p:cNvPr id="8" name="Text 5"/>
          <p:cNvSpPr txBox="1"/>
          <p:nvPr/>
        </p:nvSpPr>
        <p:spPr>
          <a:xfrm>
            <a:off x="731520" y="1554480"/>
            <a:ext cx="320040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Coverage</a:t>
            </a:r>
            <a:endParaRPr lang="en-US" sz="1500" dirty="0"/>
          </a:p>
        </p:txBody>
      </p:sp>
      <p:sp>
        <p:nvSpPr>
          <p:cNvPr id="9" name="Text 6"/>
          <p:cNvSpPr txBox="1"/>
          <p:nvPr/>
        </p:nvSpPr>
        <p:spPr>
          <a:xfrm>
            <a:off x="731520" y="1920240"/>
            <a:ext cx="3200400" cy="1554480"/>
          </a:xfrm>
          <a:prstGeom prst="rect">
            <a:avLst/>
          </a:prstGeom>
          <a:noFill/>
          <a:ln/>
        </p:spPr>
        <p:txBody>
          <a:bodyPr wrap="square" lIns="0" tIns="0" rIns="0" bIns="0" rtlCol="0" anchor="t"/>
          <a:lstStyle/>
          <a:p>
            <a:pPr indent="0" marL="0">
              <a:spcAft>
                <a:spcPts val="400"/>
              </a:spcAft>
              <a:buNone/>
            </a:pPr>
            <a:r>
              <a:rPr lang="en-US" sz="1300" dirty="0">
                <a:solidFill>
                  <a:srgbClr val="222222"/>
                </a:solidFill>
                <a:latin typeface="Calibri" pitchFamily="34" charset="0"/>
                <a:ea typeface="Calibri" pitchFamily="34" charset="-122"/>
                <a:cs typeface="Calibri" pitchFamily="34" charset="-120"/>
              </a:rPr>
              <a:t>One deterministic failure placement per grid point — full parameter grid, not every placement.</a:t>
            </a:r>
            <a:endParaRPr lang="en-US" sz="1300" dirty="0"/>
          </a:p>
          <a:p>
            <a:pPr indent="0" marL="0">
              <a:spcAft>
                <a:spcPts val="400"/>
              </a:spcAft>
              <a:buNone/>
            </a:pPr>
            <a:r>
              <a:rPr lang="en-US" sz="1300" dirty="0">
                <a:solidFill>
                  <a:srgbClr val="222222"/>
                </a:solidFill>
                <a:latin typeface="Calibri" pitchFamily="34" charset="0"/>
                <a:ea typeface="Calibri" pitchFamily="34" charset="-122"/>
                <a:cs typeface="Calibri" pitchFamily="34" charset="-120"/>
              </a:rPr>
              <a:t>Throughput measured on 9 configurations (n = r = 16, z = 1).</a:t>
            </a:r>
            <a:endParaRPr lang="en-US" sz="1300" dirty="0"/>
          </a:p>
        </p:txBody>
      </p:sp>
      <p:sp>
        <p:nvSpPr>
          <p:cNvPr id="10" name="Shape 7"/>
          <p:cNvSpPr/>
          <p:nvPr/>
        </p:nvSpPr>
        <p:spPr>
          <a:xfrm>
            <a:off x="4311396" y="1417320"/>
            <a:ext cx="3566160" cy="2194560"/>
          </a:xfrm>
          <a:prstGeom prst="rect">
            <a:avLst/>
          </a:prstGeom>
          <a:solidFill>
            <a:srgbClr val="EEF2F8"/>
          </a:solidFill>
          <a:ln/>
        </p:spPr>
      </p:sp>
      <p:sp>
        <p:nvSpPr>
          <p:cNvPr id="11" name="Text 8"/>
          <p:cNvSpPr txBox="1"/>
          <p:nvPr/>
        </p:nvSpPr>
        <p:spPr>
          <a:xfrm>
            <a:off x="4494276" y="1554480"/>
            <a:ext cx="320040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Scope</a:t>
            </a:r>
            <a:endParaRPr lang="en-US" sz="1500" dirty="0"/>
          </a:p>
        </p:txBody>
      </p:sp>
      <p:sp>
        <p:nvSpPr>
          <p:cNvPr id="12" name="Text 9"/>
          <p:cNvSpPr txBox="1"/>
          <p:nvPr/>
        </p:nvSpPr>
        <p:spPr>
          <a:xfrm>
            <a:off x="4494276" y="1920240"/>
            <a:ext cx="3200400" cy="1554480"/>
          </a:xfrm>
          <a:prstGeom prst="rect">
            <a:avLst/>
          </a:prstGeom>
          <a:noFill/>
          <a:ln/>
        </p:spPr>
        <p:txBody>
          <a:bodyPr wrap="square" lIns="0" tIns="0" rIns="0" bIns="0" rtlCol="0" anchor="t"/>
          <a:lstStyle/>
          <a:p>
            <a:pPr indent="0" marL="0">
              <a:spcAft>
                <a:spcPts val="400"/>
              </a:spcAft>
              <a:buNone/>
            </a:pPr>
            <a:r>
              <a:rPr lang="en-US" sz="1300" dirty="0">
                <a:solidFill>
                  <a:srgbClr val="222222"/>
                </a:solidFill>
                <a:latin typeface="Calibri" pitchFamily="34" charset="0"/>
                <a:ea typeface="Calibri" pitchFamily="34" charset="-122"/>
                <a:cs typeface="Calibri" pitchFamily="34" charset="-120"/>
              </a:rPr>
              <a:t>SD codes only; fixed sequences (no gPPM selection); scalar arithmetic, no SIMD; OpenMP only (no CUDA / MPI); no real device I/O or energy measurement.</a:t>
            </a:r>
            <a:endParaRPr lang="en-US" sz="1300" dirty="0"/>
          </a:p>
        </p:txBody>
      </p:sp>
      <p:sp>
        <p:nvSpPr>
          <p:cNvPr id="13" name="Shape 10"/>
          <p:cNvSpPr/>
          <p:nvPr/>
        </p:nvSpPr>
        <p:spPr>
          <a:xfrm>
            <a:off x="8074152" y="1417320"/>
            <a:ext cx="3566160" cy="2194560"/>
          </a:xfrm>
          <a:prstGeom prst="rect">
            <a:avLst/>
          </a:prstGeom>
          <a:solidFill>
            <a:srgbClr val="EEF2F8"/>
          </a:solidFill>
          <a:ln/>
        </p:spPr>
      </p:sp>
      <p:sp>
        <p:nvSpPr>
          <p:cNvPr id="14" name="Text 11"/>
          <p:cNvSpPr txBox="1"/>
          <p:nvPr/>
        </p:nvSpPr>
        <p:spPr>
          <a:xfrm>
            <a:off x="8257032" y="1554480"/>
            <a:ext cx="3200400" cy="320040"/>
          </a:xfrm>
          <a:prstGeom prst="rect">
            <a:avLst/>
          </a:prstGeom>
          <a:noFill/>
          <a:ln/>
        </p:spPr>
        <p:txBody>
          <a:bodyPr wrap="square" lIns="0" tIns="0" rIns="0" bIns="0" rtlCol="0" anchor="t"/>
          <a:lstStyle/>
          <a:p>
            <a:pPr indent="0" marL="0">
              <a:buNone/>
            </a:pPr>
            <a:r>
              <a:rPr lang="en-US" sz="1500" b="1" dirty="0">
                <a:solidFill>
                  <a:srgbClr val="B5472A"/>
                </a:solidFill>
                <a:latin typeface="Calibri" pitchFamily="34" charset="0"/>
                <a:ea typeface="Calibri" pitchFamily="34" charset="-122"/>
                <a:cs typeface="Calibri" pitchFamily="34" charset="-120"/>
              </a:rPr>
              <a:t>Reporting gaps</a:t>
            </a:r>
            <a:endParaRPr lang="en-US" sz="1500" dirty="0"/>
          </a:p>
        </p:txBody>
      </p:sp>
      <p:sp>
        <p:nvSpPr>
          <p:cNvPr id="15" name="Text 12"/>
          <p:cNvSpPr txBox="1"/>
          <p:nvPr/>
        </p:nvSpPr>
        <p:spPr>
          <a:xfrm>
            <a:off x="8257032" y="1920240"/>
            <a:ext cx="3200400" cy="1554480"/>
          </a:xfrm>
          <a:prstGeom prst="rect">
            <a:avLst/>
          </a:prstGeom>
          <a:noFill/>
          <a:ln/>
        </p:spPr>
        <p:txBody>
          <a:bodyPr wrap="square" lIns="0" tIns="0" rIns="0" bIns="0" rtlCol="0" anchor="t"/>
          <a:lstStyle/>
          <a:p>
            <a:pPr indent="0" marL="0">
              <a:spcAft>
                <a:spcPts val="400"/>
              </a:spcAft>
              <a:buNone/>
            </a:pPr>
            <a:r>
              <a:rPr lang="en-US" sz="1300" dirty="0">
                <a:solidFill>
                  <a:srgbClr val="222222"/>
                </a:solidFill>
                <a:latin typeface="Calibri" pitchFamily="34" charset="0"/>
                <a:ea typeface="Calibri" pitchFamily="34" charset="-122"/>
                <a:cs typeface="Calibri" pitchFamily="34" charset="-120"/>
              </a:rPr>
              <a:t>M2 run's CPU / compiler not documented separately (M1: Core Ultra 9 185H, GCC 11.4.0 -O2).</a:t>
            </a:r>
            <a:endParaRPr lang="en-US" sz="1300" dirty="0"/>
          </a:p>
          <a:p>
            <a:pPr indent="0" marL="0">
              <a:spcAft>
                <a:spcPts val="400"/>
              </a:spcAft>
              <a:buNone/>
            </a:pPr>
            <a:r>
              <a:rPr lang="en-US" sz="1300" dirty="0">
                <a:solidFill>
                  <a:srgbClr val="222222"/>
                </a:solidFill>
                <a:latin typeface="Calibri" pitchFamily="34" charset="0"/>
                <a:ea typeface="Calibri" pitchFamily="34" charset="-122"/>
                <a:cs typeface="Calibri" pitchFamily="34" charset="-120"/>
              </a:rPr>
              <a:t>In-run baseline (e.g. 744 MiB/s for (1,1)) is below the M1 report mean (854.58).</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3886200"/>
          <a:ext cx="11091672" cy="914400"/>
        </p:xfrm>
        <a:graphic>
          <a:graphicData uri="http://schemas.openxmlformats.org/drawingml/2006/table">
            <a:tbl>
              <a:tblPr/>
              <a:tblGrid>
                <a:gridCol w="4206240"/>
                <a:gridCol w="6885432"/>
              </a:tblGrid>
              <a:tr h="47548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Answer from the evidence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solidFill>
                      <a:srgbClr val="14284B"/>
                    </a:solidFill>
                  </a:tcPr>
                </a:tc>
              </a:tr>
              <a:tr h="475488">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Is the speedup real work reduction or threading?</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Both, separated: T = 1 = algorithmic; T = N vs T = 1 = parallel</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475488">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Could threading change results?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No: identical bytes and C at T = 1 and T = 4 on all 7,833 layouts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r h="475488">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Comparable to the paper's absolute rates?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No: different CPUs; paper used SIMD backends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C9D2DE"/>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Summary</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19</a:t>
            </a:r>
            <a:endParaRPr lang="en-US" sz="900" dirty="0"/>
          </a:p>
        </p:txBody>
      </p:sp>
      <p:sp>
        <p:nvSpPr>
          <p:cNvPr id="7" name="Text 4"/>
          <p:cNvSpPr txBox="1"/>
          <p:nvPr/>
        </p:nvSpPr>
        <p:spPr>
          <a:xfrm>
            <a:off x="548640" y="1325880"/>
            <a:ext cx="292608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35 → 29</a:t>
            </a:r>
            <a:endParaRPr lang="en-US" sz="2800" dirty="0"/>
          </a:p>
        </p:txBody>
      </p:sp>
      <p:sp>
        <p:nvSpPr>
          <p:cNvPr id="8" name="Text 5"/>
          <p:cNvSpPr txBox="1"/>
          <p:nvPr/>
        </p:nvSpPr>
        <p:spPr>
          <a:xfrm>
            <a:off x="3657600" y="1325880"/>
            <a:ext cx="7955280" cy="73152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Figure 3 reproduced exactly; partition {2}, {6}, {10} + {13, 14}</a:t>
            </a:r>
            <a:endParaRPr lang="en-US" sz="1500" dirty="0"/>
          </a:p>
        </p:txBody>
      </p:sp>
      <p:sp>
        <p:nvSpPr>
          <p:cNvPr id="9" name="Shape 6"/>
          <p:cNvSpPr/>
          <p:nvPr/>
        </p:nvSpPr>
        <p:spPr>
          <a:xfrm>
            <a:off x="548640" y="2112264"/>
            <a:ext cx="11091672" cy="0"/>
          </a:xfrm>
          <a:prstGeom prst="line">
            <a:avLst/>
          </a:prstGeom>
          <a:noFill/>
          <a:ln w="9525">
            <a:solidFill>
              <a:srgbClr val="C9D2DE"/>
            </a:solidFill>
            <a:prstDash val="solid"/>
          </a:ln>
        </p:spPr>
      </p:sp>
      <p:sp>
        <p:nvSpPr>
          <p:cNvPr id="10" name="Text 7"/>
          <p:cNvSpPr txBox="1"/>
          <p:nvPr/>
        </p:nvSpPr>
        <p:spPr>
          <a:xfrm>
            <a:off x="548640" y="2176272"/>
            <a:ext cx="292608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7,833 / 7,833</a:t>
            </a:r>
            <a:endParaRPr lang="en-US" sz="2800" dirty="0"/>
          </a:p>
        </p:txBody>
      </p:sp>
      <p:sp>
        <p:nvSpPr>
          <p:cNvPr id="11" name="Text 8"/>
          <p:cNvSpPr txBox="1"/>
          <p:nvPr/>
        </p:nvSpPr>
        <p:spPr>
          <a:xfrm>
            <a:off x="3657600" y="2176272"/>
            <a:ext cx="7955280" cy="73152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layouts correct at T = 1 and T = 4 with thread-invariant operation counts</a:t>
            </a:r>
            <a:endParaRPr lang="en-US" sz="1500" dirty="0"/>
          </a:p>
        </p:txBody>
      </p:sp>
      <p:sp>
        <p:nvSpPr>
          <p:cNvPr id="12" name="Shape 9"/>
          <p:cNvSpPr/>
          <p:nvPr/>
        </p:nvSpPr>
        <p:spPr>
          <a:xfrm>
            <a:off x="548640" y="2962656"/>
            <a:ext cx="11091672" cy="0"/>
          </a:xfrm>
          <a:prstGeom prst="line">
            <a:avLst/>
          </a:prstGeom>
          <a:noFill/>
          <a:ln w="9525">
            <a:solidFill>
              <a:srgbClr val="C9D2DE"/>
            </a:solidFill>
            <a:prstDash val="solid"/>
          </a:ln>
        </p:spPr>
      </p:sp>
      <p:sp>
        <p:nvSpPr>
          <p:cNvPr id="13" name="Text 10"/>
          <p:cNvSpPr txBox="1"/>
          <p:nvPr/>
        </p:nvSpPr>
        <p:spPr>
          <a:xfrm>
            <a:off x="548640" y="3026664"/>
            <a:ext cx="292608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12.9 %</a:t>
            </a:r>
            <a:endParaRPr lang="en-US" sz="2800" dirty="0"/>
          </a:p>
        </p:txBody>
      </p:sp>
      <p:sp>
        <p:nvSpPr>
          <p:cNvPr id="14" name="Text 11"/>
          <p:cNvSpPr txBox="1"/>
          <p:nvPr/>
        </p:nvSpPr>
        <p:spPr>
          <a:xfrm>
            <a:off x="3657600" y="3026664"/>
            <a:ext cx="7955280" cy="73152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median operation-count reduction across the grid (up to 70.1 %); grows with m</a:t>
            </a:r>
            <a:endParaRPr lang="en-US" sz="1500" dirty="0"/>
          </a:p>
        </p:txBody>
      </p:sp>
      <p:sp>
        <p:nvSpPr>
          <p:cNvPr id="15" name="Shape 12"/>
          <p:cNvSpPr/>
          <p:nvPr/>
        </p:nvSpPr>
        <p:spPr>
          <a:xfrm>
            <a:off x="548640" y="3813048"/>
            <a:ext cx="11091672" cy="0"/>
          </a:xfrm>
          <a:prstGeom prst="line">
            <a:avLst/>
          </a:prstGeom>
          <a:noFill/>
          <a:ln w="9525">
            <a:solidFill>
              <a:srgbClr val="C9D2DE"/>
            </a:solidFill>
            <a:prstDash val="solid"/>
          </a:ln>
        </p:spPr>
      </p:sp>
      <p:sp>
        <p:nvSpPr>
          <p:cNvPr id="16" name="Text 13"/>
          <p:cNvSpPr txBox="1"/>
          <p:nvPr/>
        </p:nvSpPr>
        <p:spPr>
          <a:xfrm>
            <a:off x="548640" y="3877056"/>
            <a:ext cx="292608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1.02 – 1.24×</a:t>
            </a:r>
            <a:endParaRPr lang="en-US" sz="2800" dirty="0"/>
          </a:p>
        </p:txBody>
      </p:sp>
      <p:sp>
        <p:nvSpPr>
          <p:cNvPr id="17" name="Text 14"/>
          <p:cNvSpPr txBox="1"/>
          <p:nvPr/>
        </p:nvSpPr>
        <p:spPr>
          <a:xfrm>
            <a:off x="3657600" y="3877056"/>
            <a:ext cx="7955280" cy="73152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algorithmic speedup at T = 1 on 32 MiB codewords</a:t>
            </a:r>
            <a:endParaRPr lang="en-US" sz="1500" dirty="0"/>
          </a:p>
        </p:txBody>
      </p:sp>
      <p:sp>
        <p:nvSpPr>
          <p:cNvPr id="18" name="Shape 15"/>
          <p:cNvSpPr/>
          <p:nvPr/>
        </p:nvSpPr>
        <p:spPr>
          <a:xfrm>
            <a:off x="548640" y="4663440"/>
            <a:ext cx="11091672" cy="0"/>
          </a:xfrm>
          <a:prstGeom prst="line">
            <a:avLst/>
          </a:prstGeom>
          <a:noFill/>
          <a:ln w="9525">
            <a:solidFill>
              <a:srgbClr val="C9D2DE"/>
            </a:solidFill>
            <a:prstDash val="solid"/>
          </a:ln>
        </p:spPr>
      </p:sp>
      <p:sp>
        <p:nvSpPr>
          <p:cNvPr id="19" name="Text 16"/>
          <p:cNvSpPr txBox="1"/>
          <p:nvPr/>
        </p:nvSpPr>
        <p:spPr>
          <a:xfrm>
            <a:off x="548640" y="4727448"/>
            <a:ext cx="2926080" cy="731520"/>
          </a:xfrm>
          <a:prstGeom prst="rect">
            <a:avLst/>
          </a:prstGeom>
          <a:noFill/>
          <a:ln/>
        </p:spPr>
        <p:txBody>
          <a:bodyPr wrap="square" lIns="0" tIns="0" rIns="0" bIns="0" rtlCol="0" anchor="ctr"/>
          <a:lstStyle/>
          <a:p>
            <a:pPr indent="0" marL="0">
              <a:buNone/>
            </a:pPr>
            <a:r>
              <a:rPr lang="en-US" sz="2800" b="1" dirty="0">
                <a:solidFill>
                  <a:srgbClr val="2F6DB5"/>
                </a:solidFill>
                <a:latin typeface="Calibri" pitchFamily="34" charset="0"/>
                <a:ea typeface="Calibri" pitchFamily="34" charset="-122"/>
                <a:cs typeface="Calibri" pitchFamily="34" charset="-120"/>
              </a:rPr>
              <a:t>2.33×</a:t>
            </a:r>
            <a:endParaRPr lang="en-US" sz="2800" dirty="0"/>
          </a:p>
        </p:txBody>
      </p:sp>
      <p:sp>
        <p:nvSpPr>
          <p:cNvPr id="20" name="Text 17"/>
          <p:cNvSpPr txBox="1"/>
          <p:nvPr/>
        </p:nvSpPr>
        <p:spPr>
          <a:xfrm>
            <a:off x="3657600" y="4727448"/>
            <a:ext cx="7955280" cy="73152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best median speedup at T = 8; efficiency 0.15 – 0.29, limited by the sequential remainder</a:t>
            </a:r>
            <a:endParaRPr lang="en-US" sz="1500" dirty="0"/>
          </a:p>
        </p:txBody>
      </p:sp>
      <p:sp>
        <p:nvSpPr>
          <p:cNvPr id="21" name="Shape 18"/>
          <p:cNvSpPr/>
          <p:nvPr/>
        </p:nvSpPr>
        <p:spPr>
          <a:xfrm>
            <a:off x="548640" y="5715000"/>
            <a:ext cx="11091672" cy="411480"/>
          </a:xfrm>
          <a:prstGeom prst="rect">
            <a:avLst/>
          </a:prstGeom>
          <a:solidFill>
            <a:srgbClr val="EEF2F8"/>
          </a:solidFill>
          <a:ln/>
        </p:spPr>
      </p:sp>
      <p:sp>
        <p:nvSpPr>
          <p:cNvPr id="22" name="Text 19"/>
          <p:cNvSpPr txBox="1"/>
          <p:nvPr/>
        </p:nvSpPr>
        <p:spPr>
          <a:xfrm>
            <a:off x="731520" y="5715000"/>
            <a:ext cx="10725912" cy="41148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Baseline ec_recover() remains unchanged and reproduces the M1 reference results.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NEXT STEPS</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From PPM to gPPM</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20</a:t>
            </a:r>
            <a:endParaRPr lang="en-US" sz="900" dirty="0"/>
          </a:p>
        </p:txBody>
      </p:sp>
      <p:sp>
        <p:nvSpPr>
          <p:cNvPr id="7" name="Shape 4"/>
          <p:cNvSpPr/>
          <p:nvPr/>
        </p:nvSpPr>
        <p:spPr>
          <a:xfrm>
            <a:off x="548640" y="1417320"/>
            <a:ext cx="3566160" cy="2377440"/>
          </a:xfrm>
          <a:prstGeom prst="rect">
            <a:avLst/>
          </a:prstGeom>
          <a:solidFill>
            <a:srgbClr val="EEF2F8"/>
          </a:solidFill>
          <a:ln/>
        </p:spPr>
      </p:sp>
      <p:sp>
        <p:nvSpPr>
          <p:cNvPr id="8" name="Text 5"/>
          <p:cNvSpPr txBox="1"/>
          <p:nvPr/>
        </p:nvSpPr>
        <p:spPr>
          <a:xfrm>
            <a:off x="731520" y="1554480"/>
            <a:ext cx="320040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Milestone 3 — gPPM</a:t>
            </a:r>
            <a:endParaRPr lang="en-US" sz="1500" dirty="0"/>
          </a:p>
        </p:txBody>
      </p:sp>
      <p:sp>
        <p:nvSpPr>
          <p:cNvPr id="9" name="Text 6"/>
          <p:cNvSpPr txBox="1"/>
          <p:nvPr/>
        </p:nvSpPr>
        <p:spPr>
          <a:xfrm>
            <a:off x="731520" y="1874520"/>
            <a:ext cx="3200400" cy="18288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Dynamic normal vs matrix_first per matrix</a:t>
            </a:r>
            <a:endParaRPr lang="en-US" sz="1300" dirty="0"/>
          </a:p>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Refined cost C = u + c·v (v = non-one coefficients)</a:t>
            </a:r>
            <a:endParaRPr lang="en-US" sz="1300" dirty="0"/>
          </a:p>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Whole-matrix vs partitioned selection</a:t>
            </a:r>
            <a:endParaRPr lang="en-US" sz="1300" dirty="0"/>
          </a:p>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RS construction: symmetric-code comparison</a:t>
            </a:r>
            <a:endParaRPr lang="en-US" sz="1300" dirty="0"/>
          </a:p>
        </p:txBody>
      </p:sp>
      <p:sp>
        <p:nvSpPr>
          <p:cNvPr id="10" name="Shape 7"/>
          <p:cNvSpPr/>
          <p:nvPr/>
        </p:nvSpPr>
        <p:spPr>
          <a:xfrm>
            <a:off x="4311396" y="1417320"/>
            <a:ext cx="3566160" cy="2377440"/>
          </a:xfrm>
          <a:prstGeom prst="rect">
            <a:avLst/>
          </a:prstGeom>
          <a:solidFill>
            <a:srgbClr val="EEF2F8"/>
          </a:solidFill>
          <a:ln/>
        </p:spPr>
      </p:sp>
      <p:sp>
        <p:nvSpPr>
          <p:cNvPr id="11" name="Text 8"/>
          <p:cNvSpPr txBox="1"/>
          <p:nvPr/>
        </p:nvSpPr>
        <p:spPr>
          <a:xfrm>
            <a:off x="4494276" y="1554480"/>
            <a:ext cx="320040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Milestone 3 — speed</a:t>
            </a:r>
            <a:endParaRPr lang="en-US" sz="1500" dirty="0"/>
          </a:p>
        </p:txBody>
      </p:sp>
      <p:sp>
        <p:nvSpPr>
          <p:cNvPr id="12" name="Text 9"/>
          <p:cNvSpPr txBox="1"/>
          <p:nvPr/>
        </p:nvSpPr>
        <p:spPr>
          <a:xfrm>
            <a:off x="4494276" y="1874520"/>
            <a:ext cx="3200400" cy="18288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SIMD / SSE / AVX region arithmetic</a:t>
            </a:r>
            <a:endParaRPr lang="en-US" sz="1300" dirty="0"/>
          </a:p>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Hybrid OpenMP + SIMD</a:t>
            </a:r>
            <a:endParaRPr lang="en-US" sz="1300" dirty="0"/>
          </a:p>
        </p:txBody>
      </p:sp>
      <p:sp>
        <p:nvSpPr>
          <p:cNvPr id="13" name="Shape 10"/>
          <p:cNvSpPr/>
          <p:nvPr/>
        </p:nvSpPr>
        <p:spPr>
          <a:xfrm>
            <a:off x="8074152" y="1417320"/>
            <a:ext cx="3566160" cy="2377440"/>
          </a:xfrm>
          <a:prstGeom prst="rect">
            <a:avLst/>
          </a:prstGeom>
          <a:solidFill>
            <a:srgbClr val="F6F7F9"/>
          </a:solidFill>
          <a:ln/>
        </p:spPr>
      </p:sp>
      <p:sp>
        <p:nvSpPr>
          <p:cNvPr id="14" name="Text 11"/>
          <p:cNvSpPr txBox="1"/>
          <p:nvPr/>
        </p:nvSpPr>
        <p:spPr>
          <a:xfrm>
            <a:off x="8257032" y="1554480"/>
            <a:ext cx="320040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Milestone 4</a:t>
            </a:r>
            <a:endParaRPr lang="en-US" sz="1500" dirty="0"/>
          </a:p>
        </p:txBody>
      </p:sp>
      <p:sp>
        <p:nvSpPr>
          <p:cNvPr id="15" name="Text 12"/>
          <p:cNvSpPr txBox="1"/>
          <p:nvPr/>
        </p:nvSpPr>
        <p:spPr>
          <a:xfrm>
            <a:off x="8257032" y="1874520"/>
            <a:ext cx="3200400" cy="182880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Profiling and bottleneck analysis</a:t>
            </a:r>
            <a:endParaRPr lang="en-US" sz="1300" dirty="0"/>
          </a:p>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More failure placements and hardware platforms</a:t>
            </a:r>
            <a:endParaRPr lang="en-US" sz="1300" dirty="0"/>
          </a:p>
          <a:p>
            <a:pPr marL="177800" indent="-1778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Final benchmarks and research paper</a:t>
            </a:r>
            <a:endParaRPr lang="en-US" sz="1300" dirty="0"/>
          </a:p>
        </p:txBody>
      </p:sp>
      <p:sp>
        <p:nvSpPr>
          <p:cNvPr id="16" name="Shape 13"/>
          <p:cNvSpPr/>
          <p:nvPr/>
        </p:nvSpPr>
        <p:spPr>
          <a:xfrm>
            <a:off x="548640" y="4069080"/>
            <a:ext cx="11091672" cy="1325880"/>
          </a:xfrm>
          <a:prstGeom prst="rect">
            <a:avLst/>
          </a:prstGeom>
          <a:solidFill>
            <a:srgbClr val="FFFFFF"/>
          </a:solidFill>
          <a:ln w="12700">
            <a:solidFill>
              <a:srgbClr val="2F6DB5"/>
            </a:solidFill>
            <a:prstDash val="solid"/>
          </a:ln>
        </p:spPr>
      </p:sp>
      <p:sp>
        <p:nvSpPr>
          <p:cNvPr id="17" name="Text 14"/>
          <p:cNvSpPr txBox="1"/>
          <p:nvPr/>
        </p:nvSpPr>
        <p:spPr>
          <a:xfrm>
            <a:off x="777240" y="4160520"/>
            <a:ext cx="10634472" cy="1188720"/>
          </a:xfrm>
          <a:prstGeom prst="rect">
            <a:avLst/>
          </a:prstGeom>
          <a:noFill/>
          <a:ln/>
        </p:spPr>
        <p:txBody>
          <a:bodyPr wrap="square" lIns="0" tIns="0" rIns="0" bIns="0" rtlCol="0" anchor="t"/>
          <a:lstStyle/>
          <a:p>
            <a:pPr indent="0" marL="0">
              <a:spcAft>
                <a:spcPts val="400"/>
              </a:spcAft>
              <a:buNone/>
            </a:pPr>
            <a:r>
              <a:rPr lang="en-US" sz="1400" b="1" dirty="0">
                <a:solidFill>
                  <a:srgbClr val="2F6DB5"/>
                </a:solidFill>
                <a:latin typeface="Calibri" pitchFamily="34" charset="0"/>
                <a:ea typeface="Calibri" pitchFamily="34" charset="-122"/>
                <a:cs typeface="Calibri" pitchFamily="34" charset="-120"/>
              </a:rPr>
              <a:t>Reproduce  </a:t>
            </a:r>
            <a:endParaRPr lang="en-US" sz="1400" dirty="0"/>
          </a:p>
          <a:p>
            <a:pPr indent="0" marL="0">
              <a:spcAft>
                <a:spcPts val="400"/>
              </a:spcAft>
              <a:buNone/>
            </a:pPr>
            <a:r>
              <a:rPr lang="en-US" sz="1400" dirty="0">
                <a:solidFill>
                  <a:srgbClr val="14284B"/>
                </a:solidFill>
                <a:latin typeface="Courier New" pitchFamily="34" charset="0"/>
                <a:ea typeface="Courier New" pitchFamily="34" charset="-122"/>
                <a:cs typeface="Courier New" pitchFamily="34" charset="-120"/>
              </a:rPr>
              <a:t>make test · make ppm-sweep · make ppm-benchmark · make plots</a:t>
            </a:r>
            <a:endParaRPr lang="en-US" sz="1400" dirty="0"/>
          </a:p>
          <a:p>
            <a:pPr indent="0" marL="0">
              <a:spcAft>
                <a:spcPts val="400"/>
              </a:spcAft>
              <a:buNone/>
            </a:pPr>
            <a:r>
              <a:rPr lang="en-US" sz="1200" dirty="0">
                <a:solidFill>
                  <a:srgbClr val="5F6B7A"/>
                </a:solidFill>
                <a:latin typeface="Calibri" pitchFamily="34" charset="0"/>
                <a:ea typeface="Calibri" pitchFamily="34" charset="-122"/>
                <a:cs typeface="Calibri" pitchFamily="34" charset="-120"/>
              </a:rPr>
              <a:t>Repository: github.com/Advay2006/parallel_Computing_gPPM (branch milestone2)</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t"/>
          <a:lstStyle/>
          <a:p>
            <a:pPr indent="0" marL="0">
              <a:buNone/>
            </a:pPr>
            <a:r>
              <a:rPr lang="en-US" sz="1100" b="1" spc="200" kern="0" dirty="0">
                <a:solidFill>
                  <a:srgbClr val="2F6DB5"/>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48640" y="603504"/>
            <a:ext cx="11091672" cy="566928"/>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References</a:t>
            </a:r>
            <a:endParaRPr lang="en-US" sz="2800" dirty="0"/>
          </a:p>
        </p:txBody>
      </p:sp>
      <p:sp>
        <p:nvSpPr>
          <p:cNvPr id="4" name="Text 2"/>
          <p:cNvSpPr txBox="1"/>
          <p:nvPr/>
        </p:nvSpPr>
        <p:spPr>
          <a:xfrm>
            <a:off x="548640" y="6419088"/>
            <a:ext cx="6400800" cy="256032"/>
          </a:xfrm>
          <a:prstGeom prst="rect">
            <a:avLst/>
          </a:prstGeom>
          <a:noFill/>
          <a:ln/>
        </p:spPr>
        <p:txBody>
          <a:bodyPr wrap="square" lIns="0" tIns="0" rIns="0" bIns="0" rtlCol="0" anchor="t"/>
          <a:lstStyle/>
          <a:p>
            <a:pPr indent="0" marL="0">
              <a:buNone/>
            </a:pPr>
            <a:r>
              <a:rPr lang="en-US" sz="900" dirty="0">
                <a:solidFill>
                  <a:srgbClr val="5F6B7A"/>
                </a:solidFill>
                <a:latin typeface="Calibri" pitchFamily="34" charset="0"/>
                <a:ea typeface="Calibri" pitchFamily="34" charset="-122"/>
                <a:cs typeface="Calibri" pitchFamily="34" charset="-120"/>
              </a:rPr>
              <a:t>gPPM · Parallel Computing Project · Milestone 2</a:t>
            </a:r>
            <a:endParaRPr lang="en-US" sz="900" dirty="0"/>
          </a:p>
        </p:txBody>
      </p:sp>
      <p:sp>
        <p:nvSpPr>
          <p:cNvPr id="5" name="Text 3"/>
          <p:cNvSpPr txBox="1"/>
          <p:nvPr/>
        </p:nvSpPr>
        <p:spPr>
          <a:xfrm>
            <a:off x="11185855" y="6419088"/>
            <a:ext cx="457200" cy="256032"/>
          </a:xfrm>
          <a:prstGeom prst="rect">
            <a:avLst/>
          </a:prstGeom>
          <a:noFill/>
          <a:ln/>
        </p:spPr>
        <p:txBody>
          <a:bodyPr wrap="square" lIns="0" tIns="0" rIns="0" bIns="0" rtlCol="0" anchor="t"/>
          <a:lstStyle/>
          <a:p>
            <a:pPr algn="r" indent="0" marL="0">
              <a:buNone/>
            </a:pPr>
            <a:r>
              <a:rPr lang="en-US" sz="900" dirty="0">
                <a:solidFill>
                  <a:srgbClr val="5F6B7A"/>
                </a:solidFill>
                <a:latin typeface="Calibri" pitchFamily="34" charset="0"/>
                <a:ea typeface="Calibri" pitchFamily="34" charset="-122"/>
                <a:cs typeface="Calibri" pitchFamily="34" charset="-120"/>
              </a:rPr>
              <a:t>21</a:t>
            </a:r>
            <a:endParaRPr lang="en-US" sz="900" dirty="0"/>
          </a:p>
        </p:txBody>
      </p:sp>
      <p:sp>
        <p:nvSpPr>
          <p:cNvPr id="7" name="Text 4"/>
          <p:cNvSpPr txBox="1"/>
          <p:nvPr/>
        </p:nvSpPr>
        <p:spPr>
          <a:xfrm>
            <a:off x="548640" y="1417320"/>
            <a:ext cx="11091672" cy="4754880"/>
          </a:xfrm>
          <a:prstGeom prst="rect">
            <a:avLst/>
          </a:prstGeom>
          <a:noFill/>
          <a:ln/>
        </p:spPr>
        <p:txBody>
          <a:bodyPr wrap="square" lIns="0" tIns="0" rIns="0" bIns="0" rtlCol="0" anchor="t"/>
          <a:lstStyle/>
          <a:p>
            <a:pPr indent="0" marL="0">
              <a:spcAft>
                <a:spcPts val="1200"/>
              </a:spcAft>
              <a:buNone/>
            </a:pPr>
            <a:r>
              <a:rPr lang="en-US" sz="1400" dirty="0">
                <a:solidFill>
                  <a:srgbClr val="222222"/>
                </a:solidFill>
                <a:latin typeface="Calibri" pitchFamily="34" charset="0"/>
                <a:ea typeface="Calibri" pitchFamily="34" charset="-122"/>
                <a:cs typeface="Calibri" pitchFamily="34" charset="-120"/>
              </a:rPr>
              <a:t>[1] S. Li, Q. Cao, S. Wan, W. Xia, C. Xie. gPPM: A Generalized Matrix Operation and Parallel Algorithm to Accelerate the Encoding/Decoding Process of Erasure Codes. ACM TACO 20(4), Art. 51, 2023.</a:t>
            </a:r>
            <a:endParaRPr lang="en-US" sz="1400" dirty="0"/>
          </a:p>
          <a:p>
            <a:pPr indent="0" marL="0">
              <a:spcAft>
                <a:spcPts val="1200"/>
              </a:spcAft>
              <a:buNone/>
            </a:pPr>
            <a:r>
              <a:rPr lang="en-US" sz="1400" dirty="0">
                <a:solidFill>
                  <a:srgbClr val="222222"/>
                </a:solidFill>
                <a:latin typeface="Calibri" pitchFamily="34" charset="0"/>
                <a:ea typeface="Calibri" pitchFamily="34" charset="-122"/>
                <a:cs typeface="Calibri" pitchFamily="34" charset="-120"/>
              </a:rPr>
              <a:t>[2] S. Li et al. PPM: A Partitioned and Parallel Matrix Algorithm to Accelerate Encoding/Decoding Process of Asymmetric Parity Erasure Codes. ICPP, 2015.</a:t>
            </a:r>
            <a:endParaRPr lang="en-US" sz="1400" dirty="0"/>
          </a:p>
          <a:p>
            <a:pPr indent="0" marL="0">
              <a:spcAft>
                <a:spcPts val="1200"/>
              </a:spcAft>
              <a:buNone/>
            </a:pPr>
            <a:r>
              <a:rPr lang="en-US" sz="1400" dirty="0">
                <a:solidFill>
                  <a:srgbClr val="222222"/>
                </a:solidFill>
                <a:latin typeface="Calibri" pitchFamily="34" charset="0"/>
                <a:ea typeface="Calibri" pitchFamily="34" charset="-122"/>
                <a:cs typeface="Calibri" pitchFamily="34" charset="-120"/>
              </a:rPr>
              <a:t>[3] J. S. Plank, M. Blaum, J. L. Hafner. SD Codes: Erasure Codes Designed for How Storage Systems Really Fail. FAST, 2013.</a:t>
            </a:r>
            <a:endParaRPr lang="en-US" sz="1400" dirty="0"/>
          </a:p>
          <a:p>
            <a:pPr indent="0" marL="0">
              <a:spcAft>
                <a:spcPts val="1200"/>
              </a:spcAft>
              <a:buNone/>
            </a:pPr>
            <a:r>
              <a:rPr lang="en-US" sz="1400" dirty="0">
                <a:solidFill>
                  <a:srgbClr val="222222"/>
                </a:solidFill>
                <a:latin typeface="Calibri" pitchFamily="34" charset="0"/>
                <a:ea typeface="Calibri" pitchFamily="34" charset="-122"/>
                <a:cs typeface="Calibri" pitchFamily="34" charset="-120"/>
              </a:rPr>
              <a:t>[4] J. S. Plank. Open Source Encoder and Decoder for SD Erasure Codes. Technical Report, 2013 — source of the FAST coefficient table.</a:t>
            </a:r>
            <a:endParaRPr lang="en-US" sz="1400" dirty="0"/>
          </a:p>
          <a:p>
            <a:pPr indent="0" marL="0">
              <a:spcAft>
                <a:spcPts val="1200"/>
              </a:spcAft>
              <a:buNone/>
            </a:pPr>
            <a:r>
              <a:rPr lang="en-US" sz="1400" dirty="0">
                <a:solidFill>
                  <a:srgbClr val="222222"/>
                </a:solidFill>
                <a:latin typeface="Calibri" pitchFamily="34" charset="0"/>
                <a:ea typeface="Calibri" pitchFamily="34" charset="-122"/>
                <a:cs typeface="Calibri" pitchFamily="34" charset="-120"/>
              </a:rPr>
              <a:t>[5] J. S. Plank, K. M. Greenan, E. L. Miller. Screaming Fast Galois Field Arithmetic Using Intel SIMD Instructions. FAST, 2013.</a:t>
            </a:r>
            <a:endParaRPr lang="en-US" sz="1400" dirty="0"/>
          </a:p>
          <a:p>
            <a:pPr indent="0" marL="0">
              <a:spcAft>
                <a:spcPts val="1200"/>
              </a:spcAft>
              <a:buNone/>
            </a:pPr>
            <a:r>
              <a:rPr lang="en-US" sz="1400" dirty="0">
                <a:solidFill>
                  <a:srgbClr val="222222"/>
                </a:solidFill>
                <a:latin typeface="Calibri" pitchFamily="34" charset="0"/>
                <a:ea typeface="Calibri" pitchFamily="34" charset="-122"/>
                <a:cs typeface="Calibri" pitchFamily="34" charset="-120"/>
              </a:rPr>
              <a:t>[6] Project repository: github.com/Advay2006/parallel_Computing_gPPM — branches main (Milestone 1, M2 design) and milestone2 (implementation, results).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gPPM – Milestone 2</dc:title>
  <dc:subject>PptxGenJS Presentation</dc:subject>
  <dc:creator>PptxGenJS</dc:creator>
  <cp:lastModifiedBy>PptxGenJS</cp:lastModifiedBy>
  <cp:revision>1</cp:revision>
  <dcterms:created xsi:type="dcterms:W3CDTF">2026-09-23T18:51:17Z</dcterms:created>
  <dcterms:modified xsi:type="dcterms:W3CDTF">2026-09-23T18:51:17Z</dcterms:modified>
</cp:coreProperties>
</file>
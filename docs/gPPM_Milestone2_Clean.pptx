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01 — Partitioned Matrix Recovery for SD Erasure Codes</a:t>
            </a:r>
          </a:p>
          <a:p/>
          <a:p>
            <a:r>
              <a:t>This project is based on the gPPM paper. We started by implementing its</a:t>
            </a:r>
          </a:p>
          <a:p>
            <a:r>
              <a:t>traditional, sequential recovery method in Milestone 1. Then, in Milestone 2,</a:t>
            </a:r>
          </a:p>
          <a:p>
            <a:r>
              <a:t>we added the paper's partitioned and parallel matrix method for SD erasure</a:t>
            </a:r>
          </a:p>
          <a:p>
            <a:r>
              <a:t>codes. Today I'll show what problem that solves, how the implementation is</a:t>
            </a:r>
          </a:p>
          <a:p>
            <a:r>
              <a:t>structured, and what changed in the measurements. The three numbers on this</a:t>
            </a:r>
          </a:p>
          <a:p>
            <a:r>
              <a:t>slide are a quick preview: fewer operations in the paper's example, about 855</a:t>
            </a:r>
          </a:p>
          <a:p>
            <a:r>
              <a:t>mebibytes per second for one of our sequential baseline settings, and up to</a:t>
            </a:r>
          </a:p>
          <a:p>
            <a:r>
              <a:t>2.33 times the baseline speed with PPM. At the end I'll separate the work we</a:t>
            </a:r>
          </a:p>
          <a:p>
            <a:r>
              <a:t>have completed from what we plan to do in Milestone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02 — A disk failure plus one more sector</a:t>
            </a:r>
          </a:p>
          <a:p/>
          <a:p>
            <a:r>
              <a:t>Imagine the storage laid out across these four disks. Each square is one</a:t>
            </a:r>
          </a:p>
          <a:p>
            <a:r>
              <a:t>sector, and sectors with the same row number belong to the same encoded</a:t>
            </a:r>
          </a:p>
          <a:p>
            <a:r>
              <a:t>stripe row. The orange cells in disk 2 show a complete disk failure. There's</a:t>
            </a:r>
          </a:p>
          <a:p>
            <a:r>
              <a:t>also one extra failed sector, number 13, on disk 1. This is the kind of</a:t>
            </a:r>
          </a:p>
          <a:p>
            <a:r>
              <a:t>combined failure an SD code is designed to handle.</a:t>
            </a:r>
          </a:p>
          <a:p/>
          <a:p>
            <a:r>
              <a:t>Notice that rows zero, one and two each have one missing sector, but the</a:t>
            </a:r>
          </a:p>
          <a:p>
            <a:r>
              <a:t>bottom row has two. That difference matters more than it might seem. The</a:t>
            </a:r>
          </a:p>
          <a:p>
            <a:r>
              <a:t>first three rows can each be repaired from their own local parity equation;</a:t>
            </a:r>
          </a:p>
          <a:p>
            <a:r>
              <a:t>the last one also needs an equation involving the whole stripe.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03 — One stripe: n disks × r rows</a:t>
            </a:r>
          </a:p>
          <a:p/>
          <a:p>
            <a:r>
              <a:t>Here is how to read the parameters. A stripe is the entire grid being</a:t>
            </a:r>
          </a:p>
          <a:p>
            <a:r>
              <a:t>encoded together: n disks, with r sectors from each disk. In this example,</a:t>
            </a:r>
          </a:p>
          <a:p>
            <a:r>
              <a:t>n and r are both four, so there are sixteen sectors. We number them across</a:t>
            </a:r>
          </a:p>
          <a:p>
            <a:r>
              <a:t>each row from left to right. For example, sector 14 is row 3 on disk 2.</a:t>
            </a:r>
          </a:p>
          <a:p/>
          <a:p>
            <a:r>
              <a:t>The code tolerates m whole-disk failures and s extra sector failures. Here,</a:t>
            </a:r>
          </a:p>
          <a:p>
            <a:r>
              <a:t>both m and s equal one. The last parameter on the slide, w, is the size of a</a:t>
            </a:r>
          </a:p>
          <a:p>
            <a:r>
              <a:t>finite-field symbol; here it is eight bits. The published coefficients for</a:t>
            </a:r>
          </a:p>
          <a:p>
            <a:r>
              <a:t>this particular example are 1 and 2. Together these choices tell us which</a:t>
            </a:r>
          </a:p>
          <a:p>
            <a:r>
              <a:t>parity equations to construct and what failures we can recover.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04 — H: each column is a sector</a:t>
            </a:r>
          </a:p>
          <a:p/>
          <a:p>
            <a:r>
              <a:t>This diagram is the parity-check matrix H. The sixteen columns match the</a:t>
            </a:r>
          </a:p>
          <a:p>
            <a:r>
              <a:t>sixteen physical sectors on the previous slide. A colored cell means that</a:t>
            </a:r>
          </a:p>
          <a:p>
            <a:r>
              <a:t>the sector participates in that equation; a pale cell means the coefficient</a:t>
            </a:r>
          </a:p>
          <a:p>
            <a:r>
              <a:t>is zero. The first four equations are local: each touches only one stripe</a:t>
            </a:r>
          </a:p>
          <a:p>
            <a:r>
              <a:t>row. The bottom equation spans the whole stripe, so we call it dense. Orange</a:t>
            </a:r>
          </a:p>
          <a:p>
            <a:r>
              <a:t>marks the failed-sector columns within those equations.</a:t>
            </a:r>
          </a:p>
          <a:p/>
          <a:p>
            <a:r>
              <a:t>The equation H times B equals zero is how a valid encoded stripe is defined.</a:t>
            </a:r>
          </a:p>
          <a:p>
            <a:r>
              <a:t>B is the collection of all sector contents. The encoder calculates parity</a:t>
            </a:r>
          </a:p>
          <a:p>
            <a:r>
              <a:t>sector values so that every equation adds to zero. Recovery uses those same</a:t>
            </a:r>
          </a:p>
          <a:p>
            <a:r>
              <a:t>equations after some of the sector contents are lost.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05 — Separate missing from surviving</a:t>
            </a:r>
          </a:p>
          <a:p/>
          <a:p>
            <a:r>
              <a:t>Once we know which sectors failed, we separate the columns of H into two</a:t>
            </a:r>
          </a:p>
          <a:p>
            <a:r>
              <a:t>matrices. F contains the failed columns, and S contains the surviving</a:t>
            </a:r>
          </a:p>
          <a:p>
            <a:r>
              <a:t>columns. We do the same with the sector data: B-F means the missing sector</a:t>
            </a:r>
          </a:p>
          <a:p>
            <a:r>
              <a:t>contents, and B-S means the contents we still have. This is just a</a:t>
            </a:r>
          </a:p>
          <a:p>
            <a:r>
              <a:t>rearrangement of the original parity equation; it gives us F times B-F plus</a:t>
            </a:r>
          </a:p>
          <a:p>
            <a:r>
              <a:t>S times B-S equals zero.</a:t>
            </a:r>
          </a:p>
          <a:p/>
          <a:p>
            <a:r>
              <a:t>In this finite field, addition is XOR, so moving the survivor contribution</a:t>
            </a:r>
          </a:p>
          <a:p>
            <a:r>
              <a:t>to the other side does not introduce a minus sign. We can invert F and solve</a:t>
            </a:r>
          </a:p>
          <a:p>
            <a:r>
              <a:t>for the missing data. Physically, each coefficient tells us how to combine</a:t>
            </a:r>
          </a:p>
          <a:p>
            <a:r>
              <a:t>entire sector regions, not just a few numbers in a small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06 — Milestone 1: sequential recovery</a:t>
            </a:r>
          </a:p>
          <a:p/>
          <a:p>
            <a:r>
              <a:t>Milestone 1 was our reference implementation. We built the SD parity-check</a:t>
            </a:r>
          </a:p>
          <a:p>
            <a:r>
              <a:t>matrix from the published coding coefficients, implemented the finite-field</a:t>
            </a:r>
          </a:p>
          <a:p>
            <a:r>
              <a:t>arithmetic, separated the failed and surviving columns, inverted the failed</a:t>
            </a:r>
          </a:p>
          <a:p>
            <a:r>
              <a:t>matrix, and recovered the missing sectors. The normal calculation order</a:t>
            </a:r>
          </a:p>
          <a:p>
            <a:r>
              <a:t>first combines the surviving sectors into a temporary value, called T in</a:t>
            </a:r>
          </a:p>
          <a:p>
            <a:r>
              <a:t>this equation, and then applies F inverse to obtain the missing sectors.</a:t>
            </a:r>
          </a:p>
          <a:p>
            <a:r>
              <a:t>Here T is an intermediate data buffer, not a thread count.</a:t>
            </a:r>
          </a:p>
          <a:p/>
          <a:p>
            <a:r>
              <a:t>This decoder is deliberately scalar and single-threaded, and we keep it</a:t>
            </a:r>
          </a:p>
          <a:p>
            <a:r>
              <a:t>unchanged as the comparison for Milestone 2. In the paper's small example,</a:t>
            </a:r>
          </a:p>
          <a:p>
            <a:r>
              <a:t>its normal sequence makes 35 whole-sector multiply-XOR calls. The same code</a:t>
            </a:r>
          </a:p>
          <a:p>
            <a:r>
              <a:t>supports the three field sizes shown on the right.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07 — Milestone 1: sequential throughput</a:t>
            </a:r>
          </a:p>
          <a:p/>
          <a:p>
            <a:r>
              <a:t>Now we have a measured starting point, not just an algorithm on paper. This</a:t>
            </a:r>
          </a:p>
          <a:p>
            <a:r>
              <a:t>chart shows mean useful-data throughput for sequential encoding and recovery</a:t>
            </a:r>
          </a:p>
          <a:p>
            <a:r>
              <a:t>with a 32 MiB codeword. To keep it readable, I am showing the three settings</a:t>
            </a:r>
          </a:p>
          <a:p>
            <a:r>
              <a:t>with one additional sector failure, s equals one; these all use GF of two to</a:t>
            </a:r>
          </a:p>
          <a:p>
            <a:r>
              <a:t>the eight. The test suite actually covers nine combinations of m and s.</a:t>
            </a:r>
          </a:p>
          <a:p/>
          <a:p>
            <a:r>
              <a:t>The dark bars are recovery. With one disk failure tolerated we measured about</a:t>
            </a:r>
          </a:p>
          <a:p>
            <a:r>
              <a:t>855 MiB per second, with two about 448, and with three about 276. Encoding is</a:t>
            </a:r>
          </a:p>
          <a:p>
            <a:r>
              <a:t>the lighter bar and follows a similar pattern. As more disk failures are</a:t>
            </a:r>
          </a:p>
          <a:p>
            <a:r>
              <a:t>tolerated, the baseline has more matrix work to do. These numbers give us a</a:t>
            </a:r>
          </a:p>
          <a:p>
            <a:r>
              <a:t>local sequential reference; they are not the paper's absolute throughput</a:t>
            </a:r>
          </a:p>
          <a:p>
            <a:r>
              <a:t>numbers because the hardware and arithmetic implementations differ.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08 — Same answer. Different work.</a:t>
            </a:r>
          </a:p>
          <a:p/>
          <a:p>
            <a:r>
              <a:t>The paper's first useful observation is that the order of multiplication can</a:t>
            </a:r>
          </a:p>
          <a:p>
            <a:r>
              <a:t>change the amount of expensive work. On the left is our normal baseline: we</a:t>
            </a:r>
          </a:p>
          <a:p>
            <a:r>
              <a:t>first apply S to the large surviving sector data and then apply F inverse.</a:t>
            </a:r>
          </a:p>
          <a:p>
            <a:r>
              <a:t>On the right, we multiply the small coefficient matrices first and only then</a:t>
            </a:r>
          </a:p>
          <a:p>
            <a:r>
              <a:t>touch the sector data.</a:t>
            </a:r>
          </a:p>
          <a:p/>
          <a:p>
            <a:r>
              <a:t>Both sides calculate the same answer, because matrix multiplication is</a:t>
            </a:r>
          </a:p>
          <a:p>
            <a:r>
              <a:t>associative. But during the small matrix multiplication, some finite-field</a:t>
            </a:r>
          </a:p>
          <a:p>
            <a:r>
              <a:t>terms can cancel and turn coefficients into zero. A zero means we skip a</a:t>
            </a:r>
          </a:p>
          <a:p>
            <a:r>
              <a:t>whole-sector operation. That's why the paper counts nonzero coefficients as</a:t>
            </a:r>
          </a:p>
          <a:p>
            <a:r>
              <a:t>region operations. In Milestone 2 we use matrix-first for the independent</a:t>
            </a:r>
          </a:p>
          <a:p>
            <a:r>
              <a:t>parts of the problem; the dependent remainder still uses the normal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09 — Partition by stripe row</a:t>
            </a:r>
          </a:p>
          <a:p/>
          <a:p>
            <a:r>
              <a:t>The second observation comes from the structure of the failure pattern.</a:t>
            </a:r>
          </a:p>
          <a:p>
            <a:r>
              <a:t>With m equal to one, each of the first three rows has exactly one missing</a:t>
            </a:r>
          </a:p>
          <a:p>
            <a:r>
              <a:t>sector and one local equation that can recover it. So we make three separate</a:t>
            </a:r>
          </a:p>
          <a:p>
            <a:r>
              <a:t>jobs, for sectors 2, 6 and 10. The number three here means three independent</a:t>
            </a:r>
          </a:p>
          <a:p>
            <a:r>
              <a:t>groups; it does not necessarily mean three OpenMP workers.</a:t>
            </a:r>
          </a:p>
          <a:p/>
          <a:p>
            <a:r>
              <a:t>The bottom row has two missing sectors, 13 and 14, but only one local</a:t>
            </a:r>
          </a:p>
          <a:p>
            <a:r>
              <a:t>equation. It also needs the dense equation, and we call this coupled piece</a:t>
            </a:r>
          </a:p>
          <a:p>
            <a:r>
              <a:t>the remainder. In ordinary terms, we can solve the easy rows independently,</a:t>
            </a:r>
          </a:p>
          <a:p>
            <a:r>
              <a:t>then use those recovered sectors to help solve the row that needs more</a:t>
            </a:r>
          </a:p>
          <a:p>
            <a:r>
              <a:t>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Parallel first. Dependent last.</a:t>
            </a:r>
          </a:p>
          <a:p/>
          <a:p>
            <a:r>
              <a:t>This is the actual order of the PPM recovery function. First we validate the</a:t>
            </a:r>
          </a:p>
          <a:p>
            <a:r>
              <a:t>inputs, then count failures by stripe row and divide the matrix into</a:t>
            </a:r>
          </a:p>
          <a:p>
            <a:r>
              <a:t>independent jobs and a remainder. We prepare each job, including its matrix</a:t>
            </a:r>
          </a:p>
          <a:p>
            <a:r>
              <a:t>split and inverse, before workers begin writing to any sector.</a:t>
            </a:r>
          </a:p>
          <a:p/>
          <a:p>
            <a:r>
              <a:t>The blue outlined jobs run in an OpenMP loop, each with the matrix-first</a:t>
            </a:r>
          </a:p>
          <a:p>
            <a:r>
              <a:t>calculation. The orange line represents the barrier at the end of that loop.</a:t>
            </a:r>
          </a:p>
          <a:p>
            <a:r>
              <a:t>Only once every independent job finishes can the dependent remainder use</a:t>
            </a:r>
          </a:p>
          <a:p>
            <a:r>
              <a:t>their recovered sectors; we decode that remainder with the normal sequence.</a:t>
            </a:r>
          </a:p>
          <a:p>
            <a:r>
              <a:t>Finally, we collect the operation counts. The baseline function remains</a:t>
            </a:r>
          </a:p>
          <a:p>
            <a:r>
              <a:t>separate; this path is implemented by ppm_recover_sd.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11 — Parallel without races</a:t>
            </a:r>
          </a:p>
          <a:p/>
          <a:p>
            <a:r>
              <a:t>There are four practical decisions behind that flow. First, independent jobs</a:t>
            </a:r>
          </a:p>
          <a:p>
            <a:r>
              <a:t>write different missing sectors and read surviving data, so they do not need</a:t>
            </a:r>
          </a:p>
          <a:p>
            <a:r>
              <a:t>locks around the sector writes. Second, the remainder has to wait for the</a:t>
            </a:r>
          </a:p>
          <a:p>
            <a:r>
              <a:t>barrier, because it may read sectors those jobs just recovered.</a:t>
            </a:r>
          </a:p>
          <a:p/>
          <a:p>
            <a:r>
              <a:t>Third, the work counter is thread-local. A shared counter would race, and</a:t>
            </a:r>
          </a:p>
          <a:p>
            <a:r>
              <a:t>making every operation update an atomic counter would add contention to the</a:t>
            </a:r>
          </a:p>
          <a:p>
            <a:r>
              <a:t>hot part of the benchmark. Fourth, we finish splitting and inverting the</a:t>
            </a:r>
          </a:p>
          <a:p>
            <a:r>
              <a:t>matrices before any writes happen. These choices let us parallelize the</a:t>
            </a:r>
          </a:p>
          <a:p>
            <a:r>
              <a:t>independent work while preserving the data dependencies of the original</a:t>
            </a:r>
          </a:p>
          <a:p>
            <a:r>
              <a:t>decoding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12 — Figure 3: 35 → 29 operations</a:t>
            </a:r>
          </a:p>
          <a:p/>
          <a:p>
            <a:r>
              <a:t>This slide shows the paper's Figure 3 example in our implementation. The</a:t>
            </a:r>
          </a:p>
          <a:p>
            <a:r>
              <a:t>sequential baseline has 22 region operations from the surviving matrix and</a:t>
            </a:r>
          </a:p>
          <a:p>
            <a:r>
              <a:t>13 from the inverse, for 35 altogether. With PPM, the three independent jobs</a:t>
            </a:r>
          </a:p>
          <a:p>
            <a:r>
              <a:t>take three operations each, and the dependent remainder takes 20. That adds</a:t>
            </a:r>
          </a:p>
          <a:p>
            <a:r>
              <a:t>up to 29, which is six fewer calls, or about 17 percent less whole-sector</a:t>
            </a:r>
          </a:p>
          <a:p>
            <a:r>
              <a:t>work.</a:t>
            </a:r>
          </a:p>
          <a:p/>
          <a:p>
            <a:r>
              <a:t>These bars are operation counts, not elapsed time. They show that we changed</a:t>
            </a:r>
          </a:p>
          <a:p>
            <a:r>
              <a:t>the work required by the algorithm itself, before adding more threads. On</a:t>
            </a:r>
          </a:p>
          <a:p>
            <a:r>
              <a:t>the next performance slide, the one-thread PPM result will let us see that</a:t>
            </a:r>
          </a:p>
          <a:p>
            <a:r>
              <a:t>algorithmic improvement separately from the benefit of parallel workers.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13 — Published coefficients. Synthetic bytes.</a:t>
            </a:r>
          </a:p>
          <a:p/>
          <a:p>
            <a:r>
              <a:t>Here is where the experiment's inputs come from. The published FAST table</a:t>
            </a:r>
          </a:p>
          <a:p>
            <a:r>
              <a:t>from Plank gives us the coding coefficients and field width for 3,969 SD</a:t>
            </a:r>
          </a:p>
          <a:p>
            <a:r>
              <a:t>configurations. It is a table of code parameters, not a collection of real</a:t>
            </a:r>
          </a:p>
          <a:p>
            <a:r>
              <a:t>user files. We generate the sector contents ourselves with a fixed</a:t>
            </a:r>
          </a:p>
          <a:p>
            <a:r>
              <a:t>pseudo-random sequence, and place the disk and extra sector failures in a</a:t>
            </a:r>
          </a:p>
          <a:p>
            <a:r>
              <a:t>repeatable pattern.</a:t>
            </a:r>
          </a:p>
          <a:p/>
          <a:p>
            <a:r>
              <a:t>Across the parameter grid there are 7,833 feasible configuration-and-layout</a:t>
            </a:r>
          </a:p>
          <a:p>
            <a:r>
              <a:t>cases. For performance, we use a larger 32 MiB codeword and nine SD</a:t>
            </a:r>
          </a:p>
          <a:p>
            <a:r>
              <a:t>settings. The point of this design is that we can hold the data and failure</a:t>
            </a:r>
          </a:p>
          <a:p>
            <a:r>
              <a:t>pattern steady while comparing the sequential and PPM recovery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14 — Fewer region operations in every tested layout</a:t>
            </a:r>
          </a:p>
          <a:p/>
          <a:p>
            <a:r>
              <a:t>The six-operation difference in the paper's example is one instance of a</a:t>
            </a:r>
          </a:p>
          <a:p>
            <a:r>
              <a:t>larger pattern. Across the tested layouts, the median reduction in</a:t>
            </a:r>
          </a:p>
          <a:p>
            <a:r>
              <a:t>whole-sector operations was 12.9 percent. Grouped by m, the median reduction</a:t>
            </a:r>
          </a:p>
          <a:p>
            <a:r>
              <a:t>increases from 4.7 percent with one disk failure tolerated, to 13.3 percent</a:t>
            </a:r>
          </a:p>
          <a:p>
            <a:r>
              <a:t>with two, and 22.1 percent with three.</a:t>
            </a:r>
          </a:p>
          <a:p/>
          <a:p>
            <a:r>
              <a:t>This is an algorithmic result: changing the thread count does not change the</a:t>
            </a:r>
          </a:p>
          <a:p>
            <a:r>
              <a:t>number of sector operations. More disk-failure parity equations tend to give</a:t>
            </a:r>
          </a:p>
          <a:p>
            <a:r>
              <a:t>the partitioned method more useful local work and more opportunities to</a:t>
            </a:r>
          </a:p>
          <a:p>
            <a:r>
              <a:t>avoid operations. The chart describes the representative failure placements</a:t>
            </a:r>
          </a:p>
          <a:p>
            <a:r>
              <a:t>we tested for each published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15 — Scaling: one thread to eight</a:t>
            </a:r>
          </a:p>
          <a:p/>
          <a:p>
            <a:r>
              <a:t>Here we look at elapsed recovery time. The plot shows the three s-equals-one</a:t>
            </a:r>
          </a:p>
          <a:p>
            <a:r>
              <a:t>settings, with each line comparing PPM to the sequential baseline measured</a:t>
            </a:r>
          </a:p>
          <a:p>
            <a:r>
              <a:t>in the same benchmark run. We use a 32 MiB codeword and ten trials per</a:t>
            </a:r>
          </a:p>
          <a:p>
            <a:r>
              <a:t>setting; the speedup is the baseline median time divided by the PPM median</a:t>
            </a:r>
          </a:p>
          <a:p>
            <a:r>
              <a:t>time.</a:t>
            </a:r>
          </a:p>
          <a:p/>
          <a:p>
            <a:r>
              <a:t>Even with one thread, PPM is faster, which is the algorithmic benefit we</a:t>
            </a:r>
          </a:p>
          <a:p>
            <a:r>
              <a:t>just discussed. Adding workers can bring another gain. The strongest line is</a:t>
            </a:r>
          </a:p>
          <a:p>
            <a:r>
              <a:t>m equals three: it rises from about 1.19 times at one thread to 2.33 times at</a:t>
            </a:r>
          </a:p>
          <a:p>
            <a:r>
              <a:t>eight. The increase isn't perfectly linear because we still have a</a:t>
            </a:r>
          </a:p>
          <a:p>
            <a:r>
              <a:t>sequential remainder and because parallel execution has costs of its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16 — The remainder limits scaling</a:t>
            </a:r>
          </a:p>
          <a:p/>
          <a:p>
            <a:r>
              <a:t>This schematic explains why eight threads do not mean eight times the</a:t>
            </a:r>
          </a:p>
          <a:p>
            <a:r>
              <a:t>performance. The independent groups can run at the same time, but everyone</a:t>
            </a:r>
          </a:p>
          <a:p>
            <a:r>
              <a:t>must reach the barrier before the dependent remainder starts. That remainder</a:t>
            </a:r>
          </a:p>
          <a:p>
            <a:r>
              <a:t>is sequential in the current implementation. The widths here are just a</a:t>
            </a:r>
          </a:p>
          <a:p>
            <a:r>
              <a:t>diagram, not measured proportions.</a:t>
            </a:r>
          </a:p>
          <a:p/>
          <a:p>
            <a:r>
              <a:t>There can also be thread startup and synchronization overhead, and workers</a:t>
            </a:r>
          </a:p>
          <a:p>
            <a:r>
              <a:t>may compete for memory bandwidth while they read large sectors. So the main</a:t>
            </a:r>
          </a:p>
          <a:p>
            <a:r>
              <a:t>claim is not ideal linear scaling. It is that the implemented SD decoder does</a:t>
            </a:r>
          </a:p>
          <a:p>
            <a:r>
              <a:t>less region work, can use multiple cores for the independent groups, and has</a:t>
            </a:r>
          </a:p>
          <a:p>
            <a:r>
              <a:t>a measured speedup against the sequential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17 — From PPM to generalized gPPM</a:t>
            </a:r>
          </a:p>
          <a:p/>
          <a:p>
            <a:r>
              <a:t>This slide separates what we have built from what we would build next. So</a:t>
            </a:r>
          </a:p>
          <a:p>
            <a:r>
              <a:t>far, Milestone 2 partitions SD-code failures, always chooses matrix-first</a:t>
            </a:r>
          </a:p>
          <a:p>
            <a:r>
              <a:t>for the independent jobs, and runs those jobs with OpenMP. That gave us the</a:t>
            </a:r>
          </a:p>
          <a:p>
            <a:r>
              <a:t>operation reduction and the speedup shown earlier.</a:t>
            </a:r>
          </a:p>
          <a:p/>
          <a:p>
            <a:r>
              <a:t>Generalized gPPM would decide the calculation order dynamically from a more</a:t>
            </a:r>
          </a:p>
          <a:p>
            <a:r>
              <a:t>detailed cost model. In that model, u counts nonzero coefficients, v counts</a:t>
            </a:r>
          </a:p>
          <a:p>
            <a:r>
              <a:t>the ones that require real field multiplication rather than just XOR, and c</a:t>
            </a:r>
          </a:p>
          <a:p>
            <a:r>
              <a:t>represents that extra cost. We would also compare a symmetric code such as</a:t>
            </a:r>
          </a:p>
          <a:p>
            <a:r>
              <a:t>Reed–Solomon and accelerate the sector operations with SIMD. Those are</a:t>
            </a:r>
          </a:p>
          <a:p>
            <a:r>
              <a:t>planned extensions, not claims about the current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18 — Sources</a:t>
            </a:r>
          </a:p>
          <a:p/>
          <a:p>
            <a:r>
              <a:t>Our main algorithmic reference is Li and colleagues' gPPM paper in ACM</a:t>
            </a:r>
          </a:p>
          <a:p>
            <a:r>
              <a:t>Transactions on Architecture and Code Optimization. The SD-code design</a:t>
            </a:r>
          </a:p>
          <a:p>
            <a:r>
              <a:t>comes from Plank, Blaum and Hafner, and Plank's published SD encoder and</a:t>
            </a:r>
          </a:p>
          <a:p>
            <a:r>
              <a:t>decoder supplied the coefficient table we use to construct the codes. The</a:t>
            </a:r>
          </a:p>
          <a:p>
            <a:r>
              <a:t>repository on this slide contains the implementation and the measured</a:t>
            </a:r>
          </a:p>
          <a:p>
            <a:r>
              <a:t>results. That is the work we are presenting: a sequential Milestone 1</a:t>
            </a:r>
          </a:p>
          <a:p>
            <a:r>
              <a:t>reference, an SD-specific partitioned and parallel Milestone 2 decoder, and</a:t>
            </a:r>
          </a:p>
          <a:p>
            <a:r>
              <a:t>a clear path toward the remaining gPPM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19 — Codebase &amp; implementation details</a:t>
            </a:r>
          </a:p>
          <a:p/>
          <a:p>
            <a:r>
              <a:t>This is the start of the backup slides. I would not show these during the</a:t>
            </a:r>
          </a:p>
          <a:p>
            <a:r>
              <a:t>normal presentation. If a question goes into the repository or asks for a</a:t>
            </a:r>
          </a:p>
          <a:p>
            <a:r>
              <a:t>specific implementation detail, I can open the relevant slide from here.</a:t>
            </a:r>
          </a:p>
          <a:p>
            <a:r>
              <a:t>The next pages map the modules, name the programs and data files, and show</a:t>
            </a:r>
          </a:p>
          <a:p>
            <a:r>
              <a:t>small excerpts of the Milestone 1 and Milestone 2 recovery paths.</a:t>
            </a:r>
          </a:p>
          <a:p>
            <a:r>
              <a:t>These slides are hidden from the normal slideshow; I can select the one I</a:t>
            </a:r>
          </a:p>
          <a:p>
            <a:r>
              <a:t>need in the slide pane and show it when a question calls for more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20 — What is in this codebase?</a:t>
            </a:r>
          </a:p>
          <a:p/>
          <a:p>
            <a:r>
              <a:t>The input on the left is Plank's published coefficient table. The loader</a:t>
            </a:r>
          </a:p>
          <a:p>
            <a:r>
              <a:t>reads a code configuration, and sd_code.c uses its coefficients to construct</a:t>
            </a:r>
          </a:p>
          <a:p>
            <a:r>
              <a:t>the parity-check matrix H. There are then two ways to use that matrix: the</a:t>
            </a:r>
          </a:p>
          <a:p>
            <a:r>
              <a:t>Milestone 1 ec_recover function in codec.c, or the Milestone 2 PPM entry point</a:t>
            </a:r>
          </a:p>
          <a:p>
            <a:r>
              <a:t>in ppm.c. Both paths use the same GF arithmetic and matrix utilities shown</a:t>
            </a:r>
          </a:p>
          <a:p>
            <a:r>
              <a:t>underneath. The executables at the bottom are wrappers around these shared</a:t>
            </a:r>
          </a:p>
          <a:p>
            <a:r>
              <a:t>layers for demos, sweeps, and benchmarks. So this isn't two independent</a:t>
            </a:r>
          </a:p>
          <a:p>
            <a:r>
              <a:t>decoders built from scratch: PPM adds partitioning and scheduling on top of</a:t>
            </a:r>
          </a:p>
          <a:p>
            <a:r>
              <a:t>the existing mathematical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21 — Core files: what each module owns</a:t>
            </a:r>
          </a:p>
          <a:p/>
          <a:p>
            <a:r>
              <a:t>If someone wants a tour of src, I would start at the bottom of the stack.</a:t>
            </a:r>
          </a:p>
          <a:p>
            <a:r>
              <a:t>gf.c provides finite-field arithmetic and the multiply-XOR operation over</a:t>
            </a:r>
          </a:p>
          <a:p>
            <a:r>
              <a:t>whole data regions. matrix.c provides small coefficient-matrix operations,</a:t>
            </a:r>
          </a:p>
          <a:p>
            <a:r>
              <a:t>including inversion and the matrix multiplication added for matrix-first.</a:t>
            </a:r>
          </a:p>
          <a:p>
            <a:r>
              <a:t>coefficients.c loads the published code settings; sd_code.c builds H and</a:t>
            </a:r>
          </a:p>
          <a:p>
            <a:r>
              <a:t>chooses the parity and failure locations. codec.c contains the split,</a:t>
            </a:r>
          </a:p>
          <a:p>
            <a:r>
              <a:t>sequential normal decoder, matrix-first decoder, and original baseline</a:t>
            </a:r>
          </a:p>
          <a:p>
            <a:r>
              <a:t>entry point. Finally, ppm.c owns the SD-specific partition, prepared jobs,</a:t>
            </a:r>
          </a:p>
          <a:p>
            <a:r>
              <a:t>OpenMP loop, barrier, dependent remainder, and statistics. The matching</a:t>
            </a:r>
          </a:p>
          <a:p>
            <a:r>
              <a:t>headers declare the interfaces.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22 — Drivers, tests, data and results</a:t>
            </a:r>
          </a:p>
          <a:p/>
          <a:p>
            <a:r>
              <a:t>The source modules on the previous slide are the reusable library. These</a:t>
            </a:r>
          </a:p>
          <a:p>
            <a:r>
              <a:t>files run it. main.c is the small paper example; sweep.c and benchmark.c are</a:t>
            </a:r>
          </a:p>
          <a:p>
            <a:r>
              <a:t>the sequential Milestone 1 experiments. ppm_sweep.c and ppm_benchmark.c do</a:t>
            </a:r>
          </a:p>
          <a:p>
            <a:r>
              <a:t>the corresponding Milestone 2 work and timing measurements. The tests folder</a:t>
            </a:r>
          </a:p>
          <a:p>
            <a:r>
              <a:t>has focused checks for fields, SD construction, coefficients and PPM. The</a:t>
            </a:r>
          </a:p>
          <a:p>
            <a:r>
              <a:t>FAST text file is the published parameter input; CSV files in results are</a:t>
            </a:r>
          </a:p>
          <a:p>
            <a:r>
              <a:t>outputs generated by the sweeps and benchmarks. The plotting script turns</a:t>
            </a:r>
          </a:p>
          <a:p>
            <a:r>
              <a:t>those CSVs into the figures. The Makefile gives the commands at the bottom.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23 — From the M1 decoder to PPM jobs</a:t>
            </a:r>
          </a:p>
          <a:p/>
          <a:p>
            <a:r>
              <a:t>The excerpt on the left is the core of ec_recover in Milestone 1. It splits</a:t>
            </a:r>
          </a:p>
          <a:p>
            <a:r>
              <a:t>the full matrix into F and S, inverts F, and calls the normal decoder for</a:t>
            </a:r>
          </a:p>
          <a:p>
            <a:r>
              <a:t>the whole coupled problem. The right side shows what Milestone 2 adds before</a:t>
            </a:r>
          </a:p>
          <a:p>
            <a:r>
              <a:t>and during decoding. It identifies rows whose number of failed sectors is</a:t>
            </a:r>
          </a:p>
          <a:p>
            <a:r>
              <a:t>exactly m, counts those as independent jobs, and calls the matrix-first</a:t>
            </a:r>
          </a:p>
          <a:p>
            <a:r>
              <a:t>decoder for each. The excerpts are reflowed to fit on the slide, but those</a:t>
            </a:r>
          </a:p>
          <a:p>
            <a:r>
              <a:t>are the calls and conditions in the actual source. The algebra beneath them</a:t>
            </a:r>
          </a:p>
          <a:p>
            <a:r>
              <a:t>is the key change in work order: first S times the sector blocks, versus</a:t>
            </a:r>
          </a:p>
          <a:p>
            <a:r>
              <a:t>first F inverse times the small S coefficient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24 — Inside the OpenMP recovery</a:t>
            </a:r>
          </a:p>
          <a:p/>
          <a:p>
            <a:r>
              <a:t>This is the independent-job loop from ppm.c. OpenMP assigns iterations to</a:t>
            </a:r>
          </a:p>
          <a:p>
            <a:r>
              <a:t>workers with static scheduling. Inside each iteration we reset that worker's</a:t>
            </a:r>
          </a:p>
          <a:p>
            <a:r>
              <a:t>counter, decode the job using matrix-first, and save the count with the job.</a:t>
            </a:r>
          </a:p>
          <a:p>
            <a:r>
              <a:t>The counter is declared thread-local in gf.h, so workers don't contend on</a:t>
            </a:r>
          </a:p>
          <a:p>
            <a:r>
              <a:t>one shared integer. Once the loop ends, the implicit barrier means all</a:t>
            </a:r>
          </a:p>
          <a:p>
            <a:r>
              <a:t>independent sectors have been written. Only then do we call the normal</a:t>
            </a:r>
          </a:p>
          <a:p>
            <a:r>
              <a:t>decoder for the remainder. The small call on the right is shortened to fit;</a:t>
            </a:r>
          </a:p>
          <a:p>
            <a:r>
              <a:t>the actual call also passes the remainder's faulty and surviving sector</a:t>
            </a:r>
          </a:p>
          <a:p>
            <a:r>
              <a:t>indices. That order is why the dense equations never read half-recovered</a:t>
            </a:r>
          </a:p>
          <a:p>
            <a:r>
              <a:t>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58952" y="713232"/>
            <a:ext cx="1033271" cy="59436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941832"/>
            <a:ext cx="1005840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E6EEF5"/>
                </a:solidFill>
                <a:latin typeface="Liberation Sans"/>
              </a:defRPr>
            </a:pPr>
            <a:r>
              <a:t>PARALLEL COMPUTING  /  RESEARCH REPRODUCTION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8096" y="1572768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Liberation Sans"/>
              </a:defRPr>
            </a:pPr>
            <a:r>
              <a:t>Partitioned Matrix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3591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Liberation Sans"/>
              </a:defRPr>
            </a:pPr>
            <a:r>
              <a:t>for SD Erasure Codes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383280"/>
            <a:ext cx="105521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E6EEF5"/>
                </a:solidFill>
                <a:latin typeface="Liberation Sans"/>
              </a:defRPr>
            </a:pPr>
            <a:r>
              <a:t>Paper  →  M1 baseline  →  M2 PPM + OpenMP  →  M3 gPPM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636008"/>
            <a:ext cx="3218688" cy="1353312"/>
          </a:xfrm>
          <a:prstGeom prst="rect">
            <a:avLst/>
          </a:prstGeom>
          <a:solidFill>
            <a:srgbClr val="21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480060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Liberation Sans"/>
              </a:defRPr>
            </a:pPr>
            <a:r>
              <a:t>35 → 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5522976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B5D0E6"/>
                </a:solidFill>
                <a:latin typeface="Liberation Sans"/>
              </a:defRPr>
            </a:pPr>
            <a:r>
              <a:t>FIG. 3 REGION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4636008"/>
            <a:ext cx="3218688" cy="1353312"/>
          </a:xfrm>
          <a:prstGeom prst="rect">
            <a:avLst/>
          </a:prstGeom>
          <a:solidFill>
            <a:srgbClr val="21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7" y="480060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  <a:latin typeface="Liberation Sans"/>
              </a:defRPr>
            </a:pPr>
            <a:r>
              <a:t>855 MiB/s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7" y="5522976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B5D0E6"/>
                </a:solidFill>
                <a:latin typeface="Liberation Sans"/>
              </a:defRPr>
            </a:pPr>
            <a:r>
              <a:t>M1 DECODE · M=1, S=1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4636008"/>
            <a:ext cx="3218688" cy="1353312"/>
          </a:xfrm>
          <a:prstGeom prst="rect">
            <a:avLst/>
          </a:prstGeom>
          <a:solidFill>
            <a:srgbClr val="21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4800600"/>
            <a:ext cx="2834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500" b="1">
                <a:solidFill>
                  <a:srgbClr val="FFFFFF"/>
                </a:solidFill>
                <a:latin typeface="Liberation Sans"/>
              </a:defRPr>
            </a:pPr>
            <a:r>
              <a:t>2.33×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5522976"/>
            <a:ext cx="285292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B5D0E6"/>
                </a:solidFill>
                <a:latin typeface="Liberation Sans"/>
              </a:defRPr>
            </a:pPr>
            <a:r>
              <a:t>M2 BEST MEDIAN SPEEDUP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519672"/>
            <a:ext cx="822960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000" b="0">
                <a:solidFill>
                  <a:srgbClr val="B5D0E6"/>
                </a:solidFill>
                <a:latin typeface="Liberation Sans"/>
              </a:defRPr>
            </a:pPr>
            <a:r>
              <a:t>Based on Li et al., ACM TACO 20(4), 2023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THE PAPER  / 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A disk failure plus one more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SD codes recover both complete disk failures and additional sector erasures.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39112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832" y="2039112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35224" y="2039112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2039112"/>
            <a:ext cx="75895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40864"/>
            <a:ext cx="39319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340864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340864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84832" y="2340864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84832" y="2340864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35224" y="2340864"/>
            <a:ext cx="758952" cy="75895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35224" y="2340864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85616" y="2340864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85616" y="2340864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91256"/>
            <a:ext cx="39319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191256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191256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84832" y="3191256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84832" y="3191256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35224" y="3191256"/>
            <a:ext cx="758952" cy="75895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35224" y="3191256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85616" y="3191256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85616" y="3191256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4041648"/>
            <a:ext cx="39319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4041648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4041648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84832" y="4041648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84832" y="4041648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35224" y="4041648"/>
            <a:ext cx="758952" cy="75895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35224" y="4041648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785616" y="4041648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785616" y="4041648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892040"/>
            <a:ext cx="39319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" y="4892040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4892040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84832" y="4892040"/>
            <a:ext cx="758952" cy="75895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84832" y="4892040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935224" y="4892040"/>
            <a:ext cx="758952" cy="75895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935224" y="4892040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785616" y="4892040"/>
            <a:ext cx="758952" cy="75895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785616" y="4892040"/>
            <a:ext cx="758952" cy="7589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79776" y="5760720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15F8A"/>
                </a:solidFill>
                <a:latin typeface="Liberation Sans"/>
              </a:defRPr>
            </a:pPr>
            <a:r>
              <a:t>disk 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699248" y="2249424"/>
            <a:ext cx="3319272" cy="1078992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001000" y="2414016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900" b="1">
                <a:solidFill>
                  <a:srgbClr val="315F8A"/>
                </a:solidFill>
                <a:latin typeface="Liberation Sans"/>
              </a:defRPr>
            </a:pPr>
            <a:r>
              <a:t>DISK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6840" y="3566160"/>
            <a:ext cx="66751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100" b="0">
                <a:solidFill>
                  <a:srgbClr val="56677B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699248" y="4224528"/>
            <a:ext cx="3319272" cy="1078992"/>
          </a:xfrm>
          <a:prstGeom prst="rect">
            <a:avLst/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01000" y="4389120"/>
            <a:ext cx="2615184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900" b="1">
                <a:solidFill>
                  <a:srgbClr val="A86646"/>
                </a:solidFill>
                <a:latin typeface="Liberation Sans"/>
              </a:defRPr>
            </a:pPr>
            <a:r>
              <a:t>SECTOR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THE PAPER  /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One stripe: n disks × r rows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The encoded unit is a grid of sectors across disks, not a single disk block.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029967"/>
            <a:ext cx="722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34540" y="2029967"/>
            <a:ext cx="722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34640" y="2029967"/>
            <a:ext cx="722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4740" y="2029967"/>
            <a:ext cx="722376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31720"/>
            <a:ext cx="3931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34440" y="23317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4440" y="23317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34540" y="23317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34540" y="23317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331720"/>
            <a:ext cx="722376" cy="72237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3317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34740" y="23317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34740" y="23317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131820"/>
            <a:ext cx="3931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234440" y="31318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234440" y="31318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34540" y="31318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34540" y="31318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34640" y="3131820"/>
            <a:ext cx="722376" cy="72237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31318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34740" y="31318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34740" y="31318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8096" y="3931920"/>
            <a:ext cx="3931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39319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39319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034540" y="39319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34540" y="39319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3931920"/>
            <a:ext cx="722376" cy="72237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34640" y="39319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34740" y="39319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34740" y="39319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" y="4732020"/>
            <a:ext cx="3931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34440" y="47320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34440" y="47320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034540" y="4732020"/>
            <a:ext cx="722376" cy="72237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034540" y="47320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834640" y="4732020"/>
            <a:ext cx="722376" cy="72237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834640" y="47320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34740" y="4732020"/>
            <a:ext cx="722376" cy="7223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34740" y="4732020"/>
            <a:ext cx="722376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17320" y="5623560"/>
            <a:ext cx="279806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300" b="1">
                <a:solidFill>
                  <a:srgbClr val="1D3047"/>
                </a:solidFill>
                <a:latin typeface="Liberation Sans"/>
              </a:defRPr>
            </a:pPr>
            <a:r>
              <a:t>n =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833872" y="1984248"/>
            <a:ext cx="2414016" cy="14813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16752" y="2121408"/>
            <a:ext cx="206654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315F8A"/>
                </a:solidFill>
                <a:latin typeface="Liberation Sans"/>
              </a:defRPr>
            </a:pPr>
            <a:r>
              <a:t>m = 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16752" y="2871215"/>
            <a:ext cx="20391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disk failure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604504" y="1984248"/>
            <a:ext cx="2414016" cy="14813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87384" y="2121408"/>
            <a:ext cx="206654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315F8A"/>
                </a:solidFill>
                <a:latin typeface="Liberation Sans"/>
              </a:defRPr>
            </a:pPr>
            <a:r>
              <a:t>s = 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87384" y="2871215"/>
            <a:ext cx="20391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extra sector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33872" y="3840479"/>
            <a:ext cx="2414016" cy="14813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016752" y="3977639"/>
            <a:ext cx="206654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1D3047"/>
                </a:solidFill>
                <a:latin typeface="Liberation Sans"/>
              </a:defRPr>
            </a:pPr>
            <a:r>
              <a:t>r = 4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016752" y="4727447"/>
            <a:ext cx="20391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rows per disk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604504" y="3840479"/>
            <a:ext cx="2414016" cy="14813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87384" y="3977639"/>
            <a:ext cx="2066543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1">
                <a:solidFill>
                  <a:srgbClr val="1D3047"/>
                </a:solidFill>
                <a:latin typeface="Liberation Sans"/>
              </a:defRPr>
            </a:pPr>
            <a:r>
              <a:t>w = 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87384" y="4727447"/>
            <a:ext cx="203911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GF word bits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715000"/>
            <a:ext cx="46634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0">
                <a:solidFill>
                  <a:srgbClr val="56677B"/>
                </a:solidFill>
                <a:latin typeface="Liberation Sans"/>
              </a:defRPr>
            </a:pPr>
            <a:r>
              <a:t>SD(4,4; 1,1)  ·  GF(2⁸)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THE PAPER  / 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H: each column is a sector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Rows represent parity equations: four local checks and one dense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1892807"/>
            <a:ext cx="20619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0–3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1892807"/>
            <a:ext cx="20619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4–7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892807"/>
            <a:ext cx="20619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8–11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892807"/>
            <a:ext cx="2061972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12–15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148840"/>
            <a:ext cx="941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500" b="1">
                <a:solidFill>
                  <a:srgbClr val="56677B"/>
                </a:solidFill>
                <a:latin typeface="Liberation Sans"/>
              </a:defRPr>
            </a:pPr>
            <a:r>
              <a:t>R0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14884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83180" y="214884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108960" y="214884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14884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34740" y="214884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8630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21208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3786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78942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4098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6676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89254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944100" y="214884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2766060"/>
            <a:ext cx="941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500" b="1">
                <a:solidFill>
                  <a:srgbClr val="56677B"/>
                </a:solidFill>
                <a:latin typeface="Liberation Sans"/>
              </a:defRPr>
            </a:pPr>
            <a:r>
              <a:t>R1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5740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58318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96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3474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160520" y="276606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686300" y="276606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12080" y="276606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276606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737860" y="276606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78942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731520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84098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36676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9254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41832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944100" y="276606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3383280"/>
            <a:ext cx="941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500" b="1">
                <a:solidFill>
                  <a:srgbClr val="56677B"/>
                </a:solidFill>
                <a:latin typeface="Liberation Sans"/>
              </a:defRPr>
            </a:pPr>
            <a:r>
              <a:t>R2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05740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58318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10896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63474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16052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8630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21208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73786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63640" y="338328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789420" y="338328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7315200" y="338328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0" y="338328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840980" y="338328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36676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889254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41832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944100" y="338328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51560" y="4000500"/>
            <a:ext cx="941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500" b="1">
                <a:solidFill>
                  <a:srgbClr val="56677B"/>
                </a:solidFill>
                <a:latin typeface="Liberation Sans"/>
              </a:defRPr>
            </a:pPr>
            <a:r>
              <a:t>R3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05740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258318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10896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3474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16052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68630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21208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73786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26364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78942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31520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840980" y="4000500"/>
            <a:ext cx="484632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8366760" y="400050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8892540" y="400050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8892540" y="400050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418320" y="400050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418320" y="400050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944100" y="4000500"/>
            <a:ext cx="484632" cy="57607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51560" y="4617720"/>
            <a:ext cx="9418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100" b="1">
                <a:solidFill>
                  <a:srgbClr val="56677B"/>
                </a:solidFill>
                <a:latin typeface="Liberation Sans"/>
              </a:defRPr>
            </a:pPr>
            <a:r>
              <a:t>DENSE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205740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58318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0" y="461772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108960" y="461772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63474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16052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468630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5212080" y="461772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212080" y="461772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73786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26364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678942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7315200" y="461772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315200" y="461772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4098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836676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892540" y="461772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892540" y="461772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9418320" y="4617720"/>
            <a:ext cx="484632" cy="576072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9418320" y="4617720"/>
            <a:ext cx="484632" cy="5760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9944100" y="4617720"/>
            <a:ext cx="484632" cy="57607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10835640" y="267919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Sans"/>
              </a:defRPr>
            </a:pPr>
            <a:r>
              <a:t>local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771632" y="473659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472B0"/>
                </a:solidFill>
                <a:latin typeface="Liberation Sans"/>
              </a:defRPr>
            </a:pPr>
            <a:r>
              <a:t>global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474720" y="5559552"/>
            <a:ext cx="543153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H · B = 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2075688" y="6071616"/>
            <a:ext cx="173736" cy="173736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340864" y="6044184"/>
            <a:ext cx="218541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coefficient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736592" y="6071616"/>
            <a:ext cx="173736" cy="173736"/>
          </a:xfrm>
          <a:prstGeom prst="rect">
            <a:avLst/>
          </a:prstGeom>
          <a:solidFill>
            <a:srgbClr val="F4F6F8"/>
          </a:solidFill>
          <a:ln w="1270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001768" y="6044184"/>
            <a:ext cx="218541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zero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236208" y="6071616"/>
            <a:ext cx="173736" cy="173736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01384" y="6044184"/>
            <a:ext cx="218541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failed column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1  / 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Separate missing from surviving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Reorder the columns of H by failure status; solve for the unknown sectors.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" y="1947672"/>
            <a:ext cx="3657600" cy="2697480"/>
          </a:xfrm>
          <a:prstGeom prst="rect">
            <a:avLst/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9304" y="2185416"/>
            <a:ext cx="2761488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700" b="1">
                <a:solidFill>
                  <a:srgbClr val="A86646"/>
                </a:solidFill>
                <a:latin typeface="Liberation Sans"/>
              </a:defRPr>
            </a:pPr>
            <a:r>
              <a:t>F · B(F)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3511296"/>
            <a:ext cx="274320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A86646"/>
                </a:solidFill>
                <a:latin typeface="Liberation Sans"/>
              </a:defRPr>
            </a:pPr>
            <a:r>
              <a:t>FAILED / 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64024" y="2843784"/>
            <a:ext cx="73152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000" b="0">
                <a:solidFill>
                  <a:srgbClr val="56677B"/>
                </a:solidFill>
                <a:latin typeface="Liberation Sans"/>
              </a:defRPr>
            </a:pPr>
            <a:r>
              <a:t>+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5000" y="1947672"/>
            <a:ext cx="3657600" cy="269748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2185416"/>
            <a:ext cx="2761488" cy="10241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700" b="1">
                <a:solidFill>
                  <a:srgbClr val="315F8A"/>
                </a:solidFill>
                <a:latin typeface="Liberation Sans"/>
              </a:defRPr>
            </a:pPr>
            <a:r>
              <a:t>S · B(S)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44768" y="3511296"/>
            <a:ext cx="283464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15F8A"/>
                </a:solidFill>
                <a:latin typeface="Liberation Sans"/>
              </a:defRPr>
            </a:pPr>
            <a:r>
              <a:t>SURVIVING / KNOWN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6064" y="2825496"/>
            <a:ext cx="144475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000" b="0">
                <a:solidFill>
                  <a:srgbClr val="1D3047"/>
                </a:solidFill>
                <a:latin typeface="Liberation Sans"/>
              </a:defRPr>
            </a:pPr>
            <a:r>
              <a:t>= 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202936"/>
            <a:ext cx="992124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000" b="1">
                <a:solidFill>
                  <a:srgbClr val="1D3047"/>
                </a:solidFill>
                <a:latin typeface="Liberation Sans"/>
              </a:defRPr>
            </a:pPr>
            <a:r>
              <a:t>F · B₍F₎ + S · B₍S₎ =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66543" y="5833872"/>
            <a:ext cx="799185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0">
                <a:solidFill>
                  <a:srgbClr val="315F8A"/>
                </a:solidFill>
                <a:latin typeface="Liberation Sans"/>
              </a:defRPr>
            </a:pPr>
            <a:r>
              <a:t>B₍F₎ = F⁻¹ · S · B₍S₎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1  /  VALIDATED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Milestone 1: sequential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The baseline remains the reference implementation for every comparison.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987552" y="2084831"/>
            <a:ext cx="6153912" cy="339242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395728"/>
            <a:ext cx="52120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1">
                <a:solidFill>
                  <a:srgbClr val="315F8A"/>
                </a:solidFill>
                <a:latin typeface="Liberation Sans"/>
              </a:defRPr>
            </a:pPr>
            <a:r>
              <a:t>NORMAL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90672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0">
                <a:solidFill>
                  <a:srgbClr val="1D3047"/>
                </a:solidFill>
                <a:latin typeface="Liberation Sans"/>
              </a:defRPr>
            </a:pPr>
            <a:r>
              <a:t>T = S · B₍S₎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0480"/>
            <a:ext cx="53035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900" b="0">
                <a:solidFill>
                  <a:srgbClr val="1D3047"/>
                </a:solidFill>
                <a:latin typeface="Liberation Sans"/>
              </a:defRPr>
            </a:pPr>
            <a:r>
              <a:t>B₍F₎ = F⁻¹ ·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700016"/>
            <a:ext cx="53035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56677B"/>
                </a:solidFill>
                <a:latin typeface="Liberation Sans"/>
              </a:defRPr>
            </a:pPr>
            <a:r>
              <a:t>C = u(S) + u(F⁻¹)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34656" y="2084831"/>
            <a:ext cx="3575304" cy="155448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2276856"/>
            <a:ext cx="3099816" cy="8321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400" b="1">
                <a:solidFill>
                  <a:srgbClr val="315F8A"/>
                </a:solidFill>
                <a:latin typeface="Liberation Sans"/>
              </a:defRPr>
            </a:pPr>
            <a:r>
              <a:t>35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3163824"/>
            <a:ext cx="309981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Figure 2 region calls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34656" y="3886200"/>
            <a:ext cx="3575304" cy="1591056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0" y="4050791"/>
            <a:ext cx="3099816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400" b="1">
                <a:solidFill>
                  <a:srgbClr val="3472B0"/>
                </a:solidFill>
                <a:latin typeface="Liberation Sans"/>
              </a:defRPr>
            </a:pPr>
            <a:r>
              <a:t>GF(2ʷ)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4910328"/>
            <a:ext cx="30998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w = 8, 16, 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788152"/>
            <a:ext cx="1034186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0">
                <a:solidFill>
                  <a:srgbClr val="1D3047"/>
                </a:solidFill>
                <a:latin typeface="Liberation Sans"/>
              </a:defRPr>
            </a:pPr>
            <a:r>
              <a:t>ec_recover() · scalar GF arithmetic · single-threaded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1  /  MEASURED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Milestone 1: sequential throughput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32 MiB stripe · mean useful-data throughput (MiB/s) · s = 1, GF(2⁸)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44168" y="5477256"/>
            <a:ext cx="755294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94944" y="5349240"/>
            <a:ext cx="52120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344168" y="4654296"/>
            <a:ext cx="755294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94944" y="4526280"/>
            <a:ext cx="52120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250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44168" y="3831336"/>
            <a:ext cx="755294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94944" y="3703320"/>
            <a:ext cx="52120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500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344168" y="3008376"/>
            <a:ext cx="755294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94944" y="2880360"/>
            <a:ext cx="52120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750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344168" y="2185416"/>
            <a:ext cx="755294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94944" y="2057400"/>
            <a:ext cx="521207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1000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83664" y="2670633"/>
            <a:ext cx="530352" cy="2806622"/>
          </a:xfrm>
          <a:prstGeom prst="rect">
            <a:avLst/>
          </a:prstGeom>
          <a:solidFill>
            <a:srgbClr val="85A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323161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853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14600" y="2664115"/>
            <a:ext cx="530352" cy="2813140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9736" y="2316643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855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01952" y="5577840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0">
                <a:solidFill>
                  <a:srgbClr val="1D3047"/>
                </a:solidFill>
                <a:latin typeface="Liberation Sans"/>
              </a:defRPr>
            </a:pPr>
            <a:r>
              <a:t>m=1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88536" y="4012453"/>
            <a:ext cx="530352" cy="1464802"/>
          </a:xfrm>
          <a:prstGeom prst="rect">
            <a:avLst/>
          </a:prstGeom>
          <a:solidFill>
            <a:srgbClr val="85A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33672" y="3664981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445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19471" y="4003137"/>
            <a:ext cx="530352" cy="1474118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655665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448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06823" y="5577840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0">
                <a:solidFill>
                  <a:srgbClr val="1D3047"/>
                </a:solidFill>
                <a:latin typeface="Liberation Sans"/>
              </a:defRPr>
            </a:pPr>
            <a:r>
              <a:t>m=2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93408" y="4547113"/>
            <a:ext cx="530352" cy="930142"/>
          </a:xfrm>
          <a:prstGeom prst="rect">
            <a:avLst/>
          </a:prstGeom>
          <a:solidFill>
            <a:srgbClr val="85A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38544" y="4199641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283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24344" y="4570189"/>
            <a:ext cx="530352" cy="907066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69480" y="4222717"/>
            <a:ext cx="64922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1">
                <a:solidFill>
                  <a:srgbClr val="1D3047"/>
                </a:solidFill>
                <a:latin typeface="Liberation Sans"/>
              </a:defRPr>
            </a:pPr>
            <a:r>
              <a:t>276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11696" y="5577840"/>
            <a:ext cx="115214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0">
                <a:solidFill>
                  <a:srgbClr val="1D3047"/>
                </a:solidFill>
                <a:latin typeface="Liberation Sans"/>
              </a:defRPr>
            </a:pPr>
            <a:r>
              <a:t>m=3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54896" y="2304288"/>
            <a:ext cx="173736" cy="173736"/>
          </a:xfrm>
          <a:prstGeom prst="rect">
            <a:avLst/>
          </a:prstGeom>
          <a:solidFill>
            <a:srgbClr val="85A9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60" y="2267712"/>
            <a:ext cx="12435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encode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54896" y="2706624"/>
            <a:ext cx="173736" cy="173736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38360" y="2679192"/>
            <a:ext cx="1243584" cy="2651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decode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3776472"/>
            <a:ext cx="2057400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100" b="1">
                <a:solidFill>
                  <a:srgbClr val="315F8A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54312" y="4507992"/>
            <a:ext cx="2057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SD settings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" y="6025896"/>
            <a:ext cx="951890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Three of nine settings shown · mean over 10 trials each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INSIGHT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Same answer. Different work.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Associativity lets us combine small coefficient matrices before touching sector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911095"/>
            <a:ext cx="4965192" cy="32186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911095"/>
            <a:ext cx="4965192" cy="32186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2221992"/>
            <a:ext cx="43891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15F8A"/>
                </a:solidFill>
                <a:latin typeface="Liberation Sans"/>
              </a:defRPr>
            </a:pPr>
            <a:r>
              <a:t>NORMAL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" y="2898648"/>
            <a:ext cx="43708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0">
                <a:solidFill>
                  <a:srgbClr val="1D3047"/>
                </a:solidFill>
                <a:latin typeface="Liberation Sans"/>
              </a:defRPr>
            </a:pPr>
            <a:r>
              <a:t>S · B₍S₎ →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" y="3611880"/>
            <a:ext cx="4370832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0">
                <a:solidFill>
                  <a:srgbClr val="1D3047"/>
                </a:solidFill>
                <a:latin typeface="Liberation Sans"/>
              </a:defRPr>
            </a:pPr>
            <a:r>
              <a:t>F⁻¹ · T → B₍F₎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" y="4581144"/>
            <a:ext cx="43708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0">
                <a:solidFill>
                  <a:srgbClr val="56677B"/>
                </a:solidFill>
                <a:latin typeface="Liberation Sans"/>
              </a:defRPr>
            </a:pPr>
            <a:r>
              <a:t>u(S) + u(F⁻¹)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5010912"/>
            <a:ext cx="437083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0">
                <a:solidFill>
                  <a:srgbClr val="56677B"/>
                </a:solidFill>
                <a:latin typeface="Liberation Sans"/>
              </a:defRPr>
            </a:pPr>
            <a:r>
              <a:t>u(M): nonzero coefficients / region calls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9984" y="2221992"/>
            <a:ext cx="431596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3472B0"/>
                </a:solidFill>
                <a:latin typeface="Liberation Sans"/>
              </a:defRPr>
            </a:pPr>
            <a:r>
              <a:t>MATRIX-FIRST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2898648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0">
                <a:solidFill>
                  <a:srgbClr val="1D3047"/>
                </a:solidFill>
                <a:latin typeface="Liberation Sans"/>
              </a:defRPr>
            </a:pPr>
            <a:r>
              <a:t>F⁻¹ · S → 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3611880"/>
            <a:ext cx="434340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0">
                <a:solidFill>
                  <a:srgbClr val="1D3047"/>
                </a:solidFill>
                <a:latin typeface="Liberation Sans"/>
              </a:defRPr>
            </a:pPr>
            <a:r>
              <a:t>G · B₍S₎ → B₍F₎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4581144"/>
            <a:ext cx="43434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0">
                <a:solidFill>
                  <a:srgbClr val="56677B"/>
                </a:solidFill>
                <a:latin typeface="Liberation Sans"/>
              </a:defRPr>
            </a:pPr>
            <a:r>
              <a:t>u(G)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" y="5715000"/>
            <a:ext cx="102412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0">
                <a:solidFill>
                  <a:srgbClr val="1D3047"/>
                </a:solidFill>
                <a:latin typeface="Liberation Sans"/>
              </a:defRPr>
            </a:pPr>
            <a:r>
              <a:t>Tiny matrix math can eliminate large-region operations.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INSIGHT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Partition by stripe row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Rows with exactly m failed sectors can be solved using only local parity.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4984" y="2048255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48255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2616" y="2048255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2048255"/>
            <a:ext cx="70408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350008"/>
            <a:ext cx="39319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14984" y="2350008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4984" y="235000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2350008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235000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42616" y="2350008"/>
            <a:ext cx="704088" cy="70408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42616" y="235000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56432" y="2350008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2350008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63824"/>
            <a:ext cx="39319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" y="3163824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" y="316382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3163824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28800" y="316382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42616" y="3163824"/>
            <a:ext cx="704088" cy="70408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42616" y="316382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56432" y="3163824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3163824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977639"/>
            <a:ext cx="39319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14984" y="3977639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4984" y="3977639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828800" y="3977639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0" y="3977639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42616" y="3977639"/>
            <a:ext cx="704088" cy="70408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42616" y="3977639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56432" y="3977639"/>
            <a:ext cx="704088" cy="70408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56432" y="3977639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791456"/>
            <a:ext cx="393192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" y="4791456"/>
            <a:ext cx="704088" cy="70408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" y="4791456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828800" y="4791456"/>
            <a:ext cx="704088" cy="70408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828800" y="4791456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42616" y="4791456"/>
            <a:ext cx="704088" cy="70408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42616" y="4791456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56432" y="4791456"/>
            <a:ext cx="704088" cy="70408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56432" y="4791456"/>
            <a:ext cx="704088" cy="7040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42432" y="2057400"/>
            <a:ext cx="1947672" cy="667512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42432" y="2057400"/>
            <a:ext cx="194767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3472B0"/>
                </a:solidFill>
                <a:latin typeface="Liberation Sans"/>
              </a:defRPr>
            </a:pPr>
            <a:r>
              <a:t>H₀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42432" y="2953512"/>
            <a:ext cx="1947672" cy="667512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742432" y="2953512"/>
            <a:ext cx="194767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3472B0"/>
                </a:solidFill>
                <a:latin typeface="Liberation Sans"/>
              </a:defRPr>
            </a:pPr>
            <a:r>
              <a:t>H₁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42432" y="3849624"/>
            <a:ext cx="1947672" cy="667512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42432" y="3849624"/>
            <a:ext cx="194767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400" b="1">
                <a:solidFill>
                  <a:srgbClr val="3472B0"/>
                </a:solidFill>
                <a:latin typeface="Liberation Sans"/>
              </a:defRPr>
            </a:pPr>
            <a:r>
              <a:t>H₂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742432" y="4745736"/>
            <a:ext cx="1947672" cy="667512"/>
          </a:xfrm>
          <a:prstGeom prst="rect">
            <a:avLst/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742432" y="4745736"/>
            <a:ext cx="1947672" cy="6675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100" b="1">
                <a:solidFill>
                  <a:srgbClr val="A86646"/>
                </a:solidFill>
                <a:latin typeface="Liberation Sans"/>
              </a:defRPr>
            </a:pPr>
            <a:r>
              <a:t>Hᵣₑₛₜ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0" y="2167128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{2}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3063240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{6}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959352"/>
            <a:ext cx="100584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{10}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229600" y="4855464"/>
            <a:ext cx="173736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{13, 14}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866376" y="2322576"/>
            <a:ext cx="1408176" cy="2322576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003536" y="2542032"/>
            <a:ext cx="1133856" cy="9692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4900" b="1">
                <a:solidFill>
                  <a:srgbClr val="3472B0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03536" y="3730752"/>
            <a:ext cx="11338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3472B0"/>
                </a:solidFill>
                <a:latin typeface="Liberation Sans"/>
              </a:defRPr>
            </a:pPr>
            <a:r>
              <a:t>groups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742432" y="5715000"/>
            <a:ext cx="562356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row 3: 2 failures, 1 local equation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Parallel first. Dependent last.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Validate and prepare before writing; solve independent rows in parallel.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2889504"/>
            <a:ext cx="1947672" cy="12435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108960"/>
            <a:ext cx="16550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1D3047"/>
                </a:solidFill>
                <a:latin typeface="Liberation Sans"/>
              </a:defRPr>
            </a:pPr>
            <a:r>
              <a:t>1  Validate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639312"/>
            <a:ext cx="1655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H, faults, sector size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706624" y="3364992"/>
            <a:ext cx="128016" cy="228600"/>
          </a:xfrm>
          <a:prstGeom prst="rightArrow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71215" y="2889504"/>
            <a:ext cx="1947672" cy="12435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5808" y="3108960"/>
            <a:ext cx="16550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1D3047"/>
                </a:solidFill>
                <a:latin typeface="Liberation Sans"/>
              </a:defRPr>
            </a:pPr>
            <a:r>
              <a:t>2  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808" y="3639312"/>
            <a:ext cx="1655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row-local vs remainder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864608" y="3364992"/>
            <a:ext cx="128016" cy="228600"/>
          </a:xfrm>
          <a:prstGeom prst="rightArrow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0" y="2889504"/>
            <a:ext cx="1947672" cy="12435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3108960"/>
            <a:ext cx="165506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1D3047"/>
                </a:solidFill>
                <a:latin typeface="Liberation Sans"/>
              </a:defRPr>
            </a:pPr>
            <a:r>
              <a:t>3  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93792" y="3639312"/>
            <a:ext cx="165506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split and invert jobs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34072" y="2093976"/>
            <a:ext cx="1527048" cy="749808"/>
          </a:xfrm>
          <a:prstGeom prst="rect">
            <a:avLst/>
          </a:prstGeom>
          <a:solidFill>
            <a:srgbClr val="FFFFFF"/>
          </a:solidFill>
          <a:ln w="20320">
            <a:solidFill>
              <a:srgbClr val="31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16368" y="2194560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315F8A"/>
                </a:solidFill>
                <a:latin typeface="Liberation Sans"/>
              </a:defRPr>
            </a:pPr>
            <a:r>
              <a:t>H₀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88936" y="258775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matrix-first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14616" y="2468880"/>
            <a:ext cx="192024" cy="1051560"/>
          </a:xfrm>
          <a:prstGeom prst="line">
            <a:avLst/>
          </a:prstGeom>
          <a:ln w="12700">
            <a:solidFill>
              <a:srgbClr val="566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ight Arrow 23"/>
          <p:cNvSpPr/>
          <p:nvPr/>
        </p:nvSpPr>
        <p:spPr>
          <a:xfrm>
            <a:off x="8979408" y="2340864"/>
            <a:ext cx="210312" cy="228600"/>
          </a:xfrm>
          <a:prstGeom prst="rightArrow">
            <a:avLst/>
          </a:prstGeom>
          <a:solidFill>
            <a:srgbClr val="566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34072" y="3026664"/>
            <a:ext cx="1527048" cy="749808"/>
          </a:xfrm>
          <a:prstGeom prst="rect">
            <a:avLst/>
          </a:prstGeom>
          <a:solidFill>
            <a:srgbClr val="FFFFFF"/>
          </a:solidFill>
          <a:ln w="20320">
            <a:solidFill>
              <a:srgbClr val="31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16368" y="3127248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315F8A"/>
                </a:solidFill>
                <a:latin typeface="Liberation Sans"/>
              </a:defRPr>
            </a:pPr>
            <a:r>
              <a:t>H₁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88936" y="3520440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matrix-first</a:t>
            </a:r>
          </a:p>
        </p:txBody>
      </p:sp>
      <p:cxnSp>
        <p:nvCxnSpPr>
          <p:cNvPr id="28" name="Connector 27"/>
          <p:cNvCxnSpPr/>
          <p:nvPr/>
        </p:nvCxnSpPr>
        <p:spPr>
          <a:xfrm flipV="1">
            <a:off x="7214616" y="3401568"/>
            <a:ext cx="192024" cy="118872"/>
          </a:xfrm>
          <a:prstGeom prst="line">
            <a:avLst/>
          </a:prstGeom>
          <a:ln w="12700">
            <a:solidFill>
              <a:srgbClr val="566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ight Arrow 28"/>
          <p:cNvSpPr/>
          <p:nvPr/>
        </p:nvSpPr>
        <p:spPr>
          <a:xfrm>
            <a:off x="8979408" y="3273552"/>
            <a:ext cx="210312" cy="228600"/>
          </a:xfrm>
          <a:prstGeom prst="rightArrow">
            <a:avLst/>
          </a:prstGeom>
          <a:solidFill>
            <a:srgbClr val="566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434072" y="3959352"/>
            <a:ext cx="1527048" cy="749808"/>
          </a:xfrm>
          <a:prstGeom prst="rect">
            <a:avLst/>
          </a:prstGeom>
          <a:solidFill>
            <a:srgbClr val="FFFFFF"/>
          </a:solidFill>
          <a:ln w="20320">
            <a:solidFill>
              <a:srgbClr val="315F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16368" y="4059936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315F8A"/>
                </a:solidFill>
                <a:latin typeface="Liberation Sans"/>
              </a:defRPr>
            </a:pPr>
            <a:r>
              <a:t>H₂ 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445312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matrix-first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214616" y="3520440"/>
            <a:ext cx="192024" cy="813816"/>
          </a:xfrm>
          <a:prstGeom prst="line">
            <a:avLst/>
          </a:prstGeom>
          <a:ln w="12700">
            <a:solidFill>
              <a:srgbClr val="5667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ight Arrow 33"/>
          <p:cNvSpPr/>
          <p:nvPr/>
        </p:nvSpPr>
        <p:spPr>
          <a:xfrm>
            <a:off x="8979408" y="4206240"/>
            <a:ext cx="210312" cy="228600"/>
          </a:xfrm>
          <a:prstGeom prst="rightArrow">
            <a:avLst/>
          </a:prstGeom>
          <a:solidFill>
            <a:srgbClr val="5667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35440" y="2048256"/>
            <a:ext cx="118872" cy="2798064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0" y="4946904"/>
            <a:ext cx="89611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A86646"/>
                </a:solidFill>
                <a:latin typeface="Liberation Sans"/>
              </a:defRPr>
            </a:pPr>
            <a:r>
              <a:t>barrier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418320" y="3063240"/>
            <a:ext cx="265176" cy="246888"/>
          </a:xfrm>
          <a:prstGeom prst="rightArrow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774936" y="2724912"/>
            <a:ext cx="1700784" cy="932688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848088" y="2834640"/>
            <a:ext cx="1554480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Liberation Sans"/>
              </a:defRPr>
            </a:pPr>
            <a:r>
              <a:t>Hᵣₑₛₜ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48088" y="327355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Liberation Sans"/>
              </a:defRPr>
            </a:pPr>
            <a:r>
              <a:t>normal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10616184" y="3666744"/>
            <a:ext cx="0" cy="301752"/>
          </a:xfrm>
          <a:prstGeom prst="line">
            <a:avLst/>
          </a:prstGeom>
          <a:ln w="19050">
            <a:solidFill>
              <a:srgbClr val="1D3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9774936" y="4059936"/>
            <a:ext cx="1700784" cy="76809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48088" y="4169663"/>
            <a:ext cx="155448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1">
                <a:solidFill>
                  <a:srgbClr val="1D3047"/>
                </a:solidFill>
                <a:latin typeface="Liberation Sans"/>
              </a:defRPr>
            </a:pPr>
            <a:r>
              <a:t>Aggregate counts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48088" y="4489704"/>
            <a:ext cx="15544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TLS + remainder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13232" y="5532120"/>
            <a:ext cx="10762488" cy="51206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9264" y="5660136"/>
            <a:ext cx="1019556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ppm_recover_sd()    ·    #pragma omp for    ·    workers = min(T, 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Parallel without races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Four constraints make the parallel implementation predictable and safe.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" y="2048256"/>
            <a:ext cx="5120640" cy="15727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32104" y="2048256"/>
            <a:ext cx="54864" cy="157276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2249424"/>
            <a:ext cx="466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315F8A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9344" y="2249424"/>
            <a:ext cx="40050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1">
                <a:solidFill>
                  <a:srgbClr val="1D3047"/>
                </a:solidFill>
                <a:latin typeface="Liberation Sans"/>
              </a:defRPr>
            </a:pPr>
            <a:r>
              <a:t>Disjoint writes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9344" y="2743200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Each job writes only its own missing sectors and reads surviving data.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048256"/>
            <a:ext cx="5120640" cy="15727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2048256"/>
            <a:ext cx="54864" cy="157276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249424"/>
            <a:ext cx="466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A86646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59" y="2249424"/>
            <a:ext cx="40050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1">
                <a:solidFill>
                  <a:srgbClr val="A86646"/>
                </a:solidFill>
                <a:latin typeface="Liberation Sans"/>
              </a:defRPr>
            </a:pPr>
            <a:r>
              <a:t>Mandatory barrier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5159" y="2743200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The remainder waits before reading independently recovered sectors.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3904487"/>
            <a:ext cx="5120640" cy="15727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" y="3904487"/>
            <a:ext cx="54864" cy="157276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9848" y="4105655"/>
            <a:ext cx="466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315F8A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4105655"/>
            <a:ext cx="40050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1">
                <a:solidFill>
                  <a:srgbClr val="1D3047"/>
                </a:solidFill>
                <a:latin typeface="Liberation Sans"/>
              </a:defRPr>
            </a:pPr>
            <a:r>
              <a:t>Thread-local counts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4599431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A private counter avoids races and hot-path atomic contention.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904487"/>
            <a:ext cx="5120640" cy="15727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904487"/>
            <a:ext cx="54864" cy="157276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55664" y="4105655"/>
            <a:ext cx="46634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315F8A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4105655"/>
            <a:ext cx="40050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1">
                <a:solidFill>
                  <a:srgbClr val="1D3047"/>
                </a:solidFill>
                <a:latin typeface="Liberation Sans"/>
              </a:defRPr>
            </a:pPr>
            <a:r>
              <a:t>Prepare before write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95159" y="4599431"/>
            <a:ext cx="391363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All splits and inversions finish before any worker modifies sectors.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" y="5852160"/>
            <a:ext cx="10506456" cy="329184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861304"/>
            <a:ext cx="1022299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Threads are capped at p; matrices are read-only and worker status is checked after the loop.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REPRODUCED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Figure 3: 35 → 29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Whole-sector multiply-XOR operations in the paper's example.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39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1D3047"/>
                </a:solidFill>
                <a:latin typeface="Liberation Sans"/>
              </a:defRPr>
            </a:pPr>
            <a:r>
              <a:t>BASELINE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0976" y="2660904"/>
            <a:ext cx="4791456" cy="95097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42432" y="2660904"/>
            <a:ext cx="2825496" cy="950976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272491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0">
                <a:solidFill>
                  <a:srgbClr val="315F8A"/>
                </a:solidFill>
                <a:latin typeface="Liberation Sans"/>
              </a:defRPr>
            </a:pPr>
            <a:r>
              <a:t>u(S)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072384"/>
            <a:ext cx="34747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700" b="1">
                <a:solidFill>
                  <a:srgbClr val="315F8A"/>
                </a:solidFill>
                <a:latin typeface="Liberation Sans"/>
              </a:defRPr>
            </a:pPr>
            <a:r>
              <a:t>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42432" y="2724912"/>
            <a:ext cx="282549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Liberation Sans"/>
              </a:defRPr>
            </a:pPr>
            <a:r>
              <a:t>u(F⁻¹)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42432" y="3072384"/>
            <a:ext cx="2825496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42248" y="2715768"/>
            <a:ext cx="153619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4500" b="1">
                <a:solidFill>
                  <a:srgbClr val="1D3047"/>
                </a:solidFill>
                <a:latin typeface="Liberation Sans"/>
              </a:defRPr>
            </a:pPr>
            <a:r>
              <a:t>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0965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472B0"/>
                </a:solidFill>
                <a:latin typeface="Liberation Sans"/>
              </a:defRPr>
            </a:pPr>
            <a:r>
              <a:t>PPM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0976" y="4626864"/>
            <a:ext cx="649224" cy="950976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864608"/>
            <a:ext cx="64922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55064" y="4626864"/>
            <a:ext cx="649224" cy="950976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55064" y="4864608"/>
            <a:ext cx="64922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59152" y="4626864"/>
            <a:ext cx="649224" cy="950976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59152" y="4864608"/>
            <a:ext cx="649224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Liberation Sans"/>
              </a:defRPr>
            </a:pPr>
            <a: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63240" y="4626864"/>
            <a:ext cx="4352544" cy="950976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63240" y="4700016"/>
            <a:ext cx="43525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300" b="0">
                <a:solidFill>
                  <a:srgbClr val="FFFFFF"/>
                </a:solidFill>
                <a:latin typeface="Liberation Sans"/>
              </a:defRPr>
            </a:pPr>
            <a:r>
              <a:t>remainder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4992624"/>
            <a:ext cx="4352544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700" b="1">
                <a:solidFill>
                  <a:srgbClr val="FFFFFF"/>
                </a:solidFill>
                <a:latin typeface="Liberation Sans"/>
              </a:defRPr>
            </a:pPr>
            <a:r>
              <a:t>20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42248" y="4681728"/>
            <a:ext cx="1536192" cy="8046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4500" b="1">
                <a:solidFill>
                  <a:srgbClr val="315F8A"/>
                </a:solidFill>
                <a:latin typeface="Liberation Sans"/>
              </a:defRPr>
            </a:pPr>
            <a:r>
              <a:t>29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3383280"/>
            <a:ext cx="1252728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300" b="1">
                <a:solidFill>
                  <a:srgbClr val="A86646"/>
                </a:solidFill>
                <a:latin typeface="Liberation Sans"/>
              </a:defRPr>
            </a:pPr>
            <a:r>
              <a:t>−17.1%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" y="5879592"/>
            <a:ext cx="747064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3 independent groups + dependent remainder · region calls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Published coefficients. Synthetic bytes.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Coefficients define the code; locally generated sectors test its recovery.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" y="2185416"/>
            <a:ext cx="3328416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7824" y="2185416"/>
            <a:ext cx="3328416" cy="50292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249631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56677B"/>
                </a:solidFill>
                <a:latin typeface="Liberation Sans"/>
              </a:defRPr>
            </a:pPr>
            <a:r>
              <a:t>Coefficients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072384"/>
            <a:ext cx="29077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200" b="1">
                <a:solidFill>
                  <a:srgbClr val="315F8A"/>
                </a:solidFill>
                <a:latin typeface="Liberation Sans"/>
              </a:defRPr>
            </a:pPr>
            <a:r>
              <a:t>3,969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4133087"/>
            <a:ext cx="282549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Plank's published FAST SD configurations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81728" y="2185416"/>
            <a:ext cx="3328416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81728" y="2185416"/>
            <a:ext cx="3328416" cy="50292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249631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56677B"/>
                </a:solidFill>
                <a:latin typeface="Liberation Sans"/>
              </a:defRPr>
            </a:pPr>
            <a:r>
              <a:t>Failure layouts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1184" y="3072384"/>
            <a:ext cx="29077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200" b="1">
                <a:solidFill>
                  <a:srgbClr val="3472B0"/>
                </a:solidFill>
                <a:latin typeface="Liberation Sans"/>
              </a:defRPr>
            </a:pPr>
            <a:r>
              <a:t>7,833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19472" y="4133087"/>
            <a:ext cx="282549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Feasible (configuration, z) cases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85632" y="2185416"/>
            <a:ext cx="3328416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85632" y="2185416"/>
            <a:ext cx="3328416" cy="50292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23376" y="2496312"/>
            <a:ext cx="287121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56677B"/>
                </a:solidFill>
                <a:latin typeface="Liberation Sans"/>
              </a:defRPr>
            </a:pPr>
            <a:r>
              <a:t>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3072384"/>
            <a:ext cx="2907792" cy="7223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200" b="1">
                <a:solidFill>
                  <a:srgbClr val="1D3047"/>
                </a:solidFill>
                <a:latin typeface="Liberation Sans"/>
              </a:defRPr>
            </a:pPr>
            <a:r>
              <a:t>32 MiB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23376" y="4133087"/>
            <a:ext cx="282549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Synthetic codeword, nine SD settings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5650992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Inputs: deterministic pseudo-random data and repeatable failure positions.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ALGORITHMIC BENEFIT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Fewer region operations in every tested layout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Median reduction increases with the number of disk failures tolerated.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8720" y="2075688"/>
            <a:ext cx="2084831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55064" y="4253369"/>
            <a:ext cx="1133856" cy="410070"/>
          </a:xfrm>
          <a:prstGeom prst="rect">
            <a:avLst/>
          </a:prstGeom>
          <a:solidFill>
            <a:srgbClr val="8AB3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5230368"/>
            <a:ext cx="20848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1D3047"/>
                </a:solidFill>
                <a:latin typeface="Liberation Sans"/>
              </a:defRPr>
            </a:pPr>
            <a:r>
              <a:t>4.7%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5751576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m =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9936" y="2075688"/>
            <a:ext cx="2084831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26280" y="3503028"/>
            <a:ext cx="1133856" cy="1160411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59936" y="5230368"/>
            <a:ext cx="20848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1D3047"/>
                </a:solidFill>
                <a:latin typeface="Liberation Sans"/>
              </a:defRPr>
            </a:pPr>
            <a:r>
              <a:t>13.3%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936" y="5751576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m = 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31152" y="2075688"/>
            <a:ext cx="2084831" cy="303580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97496" y="2735237"/>
            <a:ext cx="1133856" cy="1928202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31152" y="5230368"/>
            <a:ext cx="208483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1D3047"/>
                </a:solidFill>
                <a:latin typeface="Liberation Sans"/>
              </a:defRPr>
            </a:pPr>
            <a:r>
              <a:t>22.1%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5751576"/>
            <a:ext cx="2084831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m = 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2121408"/>
            <a:ext cx="1737360" cy="2843784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12096" y="2798064"/>
            <a:ext cx="1481328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500" b="1">
                <a:solidFill>
                  <a:srgbClr val="3472B0"/>
                </a:solidFill>
                <a:latin typeface="Liberation Sans"/>
              </a:defRPr>
            </a:pPr>
            <a:r>
              <a:t>12.9%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02952" y="3675887"/>
            <a:ext cx="1481328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0">
                <a:solidFill>
                  <a:srgbClr val="3472B0"/>
                </a:solidFill>
                <a:latin typeface="Liberation Sans"/>
              </a:defRPr>
            </a:pPr>
            <a:r>
              <a:t>grid median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Scaling: one thread to eight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n = r = 16, z = 1  ·  32 MiB  ·  10 trials / setting  ·  ratio of median times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8176" y="5440680"/>
            <a:ext cx="718718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5285232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300" b="0">
                <a:solidFill>
                  <a:srgbClr val="56677B"/>
                </a:solidFill>
                <a:latin typeface="Liberation Sans"/>
              </a:defRPr>
            </a:pPr>
            <a:r>
              <a:t>1.0×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408176" y="4276344"/>
            <a:ext cx="718718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0352" y="4120896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300" b="0">
                <a:solidFill>
                  <a:srgbClr val="56677B"/>
                </a:solidFill>
                <a:latin typeface="Liberation Sans"/>
              </a:defRPr>
            </a:pPr>
            <a:r>
              <a:t>1.5×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408176" y="3112008"/>
            <a:ext cx="718718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2956560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300" b="0">
                <a:solidFill>
                  <a:srgbClr val="56677B"/>
                </a:solidFill>
                <a:latin typeface="Liberation Sans"/>
              </a:defRPr>
            </a:pPr>
            <a:r>
              <a:t>2.0×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408176" y="1947672"/>
            <a:ext cx="7187184" cy="0"/>
          </a:xfrm>
          <a:prstGeom prst="line">
            <a:avLst/>
          </a:prstGeom>
          <a:ln w="10160">
            <a:solidFill>
              <a:srgbClr val="D1DA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1792224"/>
            <a:ext cx="74980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300" b="0">
                <a:solidFill>
                  <a:srgbClr val="56677B"/>
                </a:solidFill>
                <a:latin typeface="Liberation Sans"/>
              </a:defRPr>
            </a:pPr>
            <a:r>
              <a:t>2.5×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691640" y="4718791"/>
            <a:ext cx="2167128" cy="419161"/>
          </a:xfrm>
          <a:prstGeom prst="line">
            <a:avLst/>
          </a:prstGeom>
          <a:ln w="38100">
            <a:solidFill>
              <a:srgbClr val="82A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3858768" y="4648931"/>
            <a:ext cx="2176272" cy="69860"/>
          </a:xfrm>
          <a:prstGeom prst="line">
            <a:avLst/>
          </a:prstGeom>
          <a:ln w="38100">
            <a:solidFill>
              <a:srgbClr val="82A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035040" y="4485924"/>
            <a:ext cx="2176272" cy="163007"/>
          </a:xfrm>
          <a:prstGeom prst="line">
            <a:avLst/>
          </a:prstGeom>
          <a:ln w="38100">
            <a:solidFill>
              <a:srgbClr val="82AE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1627632" y="5073944"/>
            <a:ext cx="128016" cy="128016"/>
          </a:xfrm>
          <a:prstGeom prst="ellipse">
            <a:avLst/>
          </a:prstGeom>
          <a:solidFill>
            <a:srgbClr val="82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794759" y="4654783"/>
            <a:ext cx="128016" cy="128016"/>
          </a:xfrm>
          <a:prstGeom prst="ellipse">
            <a:avLst/>
          </a:prstGeom>
          <a:solidFill>
            <a:srgbClr val="82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971031" y="4584923"/>
            <a:ext cx="128016" cy="128016"/>
          </a:xfrm>
          <a:prstGeom prst="ellipse">
            <a:avLst/>
          </a:prstGeom>
          <a:solidFill>
            <a:srgbClr val="82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147304" y="4421916"/>
            <a:ext cx="128016" cy="128016"/>
          </a:xfrm>
          <a:prstGeom prst="ellipse">
            <a:avLst/>
          </a:prstGeom>
          <a:solidFill>
            <a:srgbClr val="82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" name="Connector 23"/>
          <p:cNvCxnSpPr/>
          <p:nvPr/>
        </p:nvCxnSpPr>
        <p:spPr>
          <a:xfrm flipV="1">
            <a:off x="1691640" y="4858512"/>
            <a:ext cx="2167128" cy="535594"/>
          </a:xfrm>
          <a:prstGeom prst="line">
            <a:avLst/>
          </a:prstGeom>
          <a:ln w="38100">
            <a:solidFill>
              <a:srgbClr val="31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858768" y="3927043"/>
            <a:ext cx="2176272" cy="931469"/>
          </a:xfrm>
          <a:prstGeom prst="line">
            <a:avLst/>
          </a:prstGeom>
          <a:ln w="38100">
            <a:solidFill>
              <a:srgbClr val="31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035040" y="3647602"/>
            <a:ext cx="2176272" cy="279441"/>
          </a:xfrm>
          <a:prstGeom prst="line">
            <a:avLst/>
          </a:prstGeom>
          <a:ln w="38100">
            <a:solidFill>
              <a:srgbClr val="31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627632" y="5330098"/>
            <a:ext cx="128016" cy="128016"/>
          </a:xfrm>
          <a:prstGeom prst="ellipse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794759" y="4794504"/>
            <a:ext cx="128016" cy="128016"/>
          </a:xfrm>
          <a:prstGeom prst="ellipse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971031" y="3863035"/>
            <a:ext cx="128016" cy="128016"/>
          </a:xfrm>
          <a:prstGeom prst="ellipse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147304" y="3583594"/>
            <a:ext cx="128016" cy="128016"/>
          </a:xfrm>
          <a:prstGeom prst="ellipse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 flipV="1">
            <a:off x="1691640" y="3903756"/>
            <a:ext cx="2167128" cy="1094476"/>
          </a:xfrm>
          <a:prstGeom prst="line">
            <a:avLst/>
          </a:prstGeom>
          <a:ln w="38100">
            <a:solidFill>
              <a:srgbClr val="1D3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3858768" y="2879140"/>
            <a:ext cx="2176272" cy="1024616"/>
          </a:xfrm>
          <a:prstGeom prst="line">
            <a:avLst/>
          </a:prstGeom>
          <a:ln w="38100">
            <a:solidFill>
              <a:srgbClr val="1D3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6035040" y="2343546"/>
            <a:ext cx="2176272" cy="535594"/>
          </a:xfrm>
          <a:prstGeom prst="line">
            <a:avLst/>
          </a:prstGeom>
          <a:ln w="38100">
            <a:solidFill>
              <a:srgbClr val="1D304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627632" y="4934224"/>
            <a:ext cx="128016" cy="128016"/>
          </a:xfrm>
          <a:prstGeom prst="ellipse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794759" y="3839748"/>
            <a:ext cx="128016" cy="128016"/>
          </a:xfrm>
          <a:prstGeom prst="ellipse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5971031" y="2815132"/>
            <a:ext cx="128016" cy="128016"/>
          </a:xfrm>
          <a:prstGeom prst="ellipse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147304" y="2279538"/>
            <a:ext cx="128016" cy="128016"/>
          </a:xfrm>
          <a:prstGeom prst="ellipse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426464" y="5632704"/>
            <a:ext cx="530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3591" y="5632704"/>
            <a:ext cx="530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69864" y="5632704"/>
            <a:ext cx="530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46136" y="5632704"/>
            <a:ext cx="530352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11296" y="5980176"/>
            <a:ext cx="2990088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requested threads</a:t>
            </a:r>
          </a:p>
        </p:txBody>
      </p:sp>
      <p:sp>
        <p:nvSpPr>
          <p:cNvPr id="43" name="Oval 42"/>
          <p:cNvSpPr/>
          <p:nvPr/>
        </p:nvSpPr>
        <p:spPr>
          <a:xfrm>
            <a:off x="9345168" y="2057400"/>
            <a:ext cx="173736" cy="173736"/>
          </a:xfrm>
          <a:prstGeom prst="ellipse">
            <a:avLst/>
          </a:prstGeom>
          <a:solidFill>
            <a:srgbClr val="82A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46920" y="2002536"/>
            <a:ext cx="1417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m=1</a:t>
            </a:r>
          </a:p>
        </p:txBody>
      </p:sp>
      <p:sp>
        <p:nvSpPr>
          <p:cNvPr id="45" name="Oval 44"/>
          <p:cNvSpPr/>
          <p:nvPr/>
        </p:nvSpPr>
        <p:spPr>
          <a:xfrm>
            <a:off x="9345168" y="2551176"/>
            <a:ext cx="173736" cy="173736"/>
          </a:xfrm>
          <a:prstGeom prst="ellipse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46920" y="2496312"/>
            <a:ext cx="1417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m=2</a:t>
            </a:r>
          </a:p>
        </p:txBody>
      </p:sp>
      <p:sp>
        <p:nvSpPr>
          <p:cNvPr id="47" name="Oval 46"/>
          <p:cNvSpPr/>
          <p:nvPr/>
        </p:nvSpPr>
        <p:spPr>
          <a:xfrm>
            <a:off x="9345168" y="3044952"/>
            <a:ext cx="173736" cy="173736"/>
          </a:xfrm>
          <a:prstGeom prst="ellipse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46920" y="2990088"/>
            <a:ext cx="141732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1D3047"/>
                </a:solidFill>
                <a:latin typeface="Liberation Sans"/>
              </a:defRPr>
            </a:pPr>
            <a:r>
              <a:t>m=3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81160" y="3785615"/>
            <a:ext cx="2084831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0">
                <a:solidFill>
                  <a:srgbClr val="56677B"/>
                </a:solidFill>
                <a:latin typeface="Liberation Sans"/>
              </a:defRPr>
            </a:pPr>
            <a:r>
              <a:t>s = 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4636008"/>
            <a:ext cx="2496312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3700" b="1">
                <a:solidFill>
                  <a:srgbClr val="315F8A"/>
                </a:solidFill>
                <a:latin typeface="Liberation Sans"/>
              </a:defRPr>
            </a:pPr>
            <a:r>
              <a:t>2.33×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53728" y="5385816"/>
            <a:ext cx="2194560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best median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35440" y="5815584"/>
            <a:ext cx="22494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m=3, s=1, T=8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2  / 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The remainder limits scaling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Independent work can overlap; the dense-equation remainder waits for all workers.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1" y="2221992"/>
            <a:ext cx="5641848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900" b="1">
                <a:solidFill>
                  <a:srgbClr val="1D3047"/>
                </a:solidFill>
                <a:latin typeface="Liberation Sans"/>
              </a:defRPr>
            </a:pPr>
            <a:r>
              <a:t>independent groups (parallel)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214884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400" b="0">
                <a:solidFill>
                  <a:srgbClr val="56677B"/>
                </a:solidFill>
                <a:latin typeface="Liberation Sans"/>
              </a:defRPr>
            </a:pPr>
            <a:r>
              <a:t>schematic · not to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33271" y="2752344"/>
            <a:ext cx="5605272" cy="320040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1" y="2766060"/>
            <a:ext cx="56052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H₀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3163824"/>
            <a:ext cx="5605272" cy="320040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3271" y="3177540"/>
            <a:ext cx="56052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H₁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1" y="3575303"/>
            <a:ext cx="5605272" cy="320040"/>
          </a:xfrm>
          <a:prstGeom prst="rect">
            <a:avLst/>
          </a:prstGeom>
          <a:solidFill>
            <a:srgbClr val="3472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3271" y="3589020"/>
            <a:ext cx="5605272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H₂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11696" y="2560320"/>
            <a:ext cx="118872" cy="1700784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7648" y="4352544"/>
            <a:ext cx="95097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1">
                <a:solidFill>
                  <a:srgbClr val="A86646"/>
                </a:solidFill>
                <a:latin typeface="Liberation Sans"/>
              </a:defRPr>
            </a:pPr>
            <a:r>
              <a:t>barrier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03720" y="2834640"/>
            <a:ext cx="3346704" cy="1106424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3172968"/>
            <a:ext cx="29260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1">
                <a:solidFill>
                  <a:srgbClr val="FFFFFF"/>
                </a:solidFill>
                <a:latin typeface="Liberation Sans"/>
              </a:defRPr>
            </a:pPr>
            <a:r>
              <a:t>Hᵣₑₛₜ (sequential)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8992" y="5029200"/>
            <a:ext cx="2907792" cy="81381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97864" y="5221224"/>
            <a:ext cx="26791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Thread overhead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5029200"/>
            <a:ext cx="2907792" cy="81381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5221224"/>
            <a:ext cx="26791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Memory bandwidth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22208" y="5029200"/>
            <a:ext cx="2907792" cy="81381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41080" y="5221224"/>
            <a:ext cx="2679192" cy="4297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Sequential tail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MILESTONE 3  / 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From PPM to generalized gPPM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Milestone 2 establishes a verified SD-specific parallel baseline for the next stage.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2121408"/>
            <a:ext cx="4251960" cy="3127248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59168" y="2121408"/>
            <a:ext cx="4224528" cy="3127248"/>
          </a:xfrm>
          <a:prstGeom prst="rect">
            <a:avLst/>
          </a:prstGeom>
          <a:solidFill>
            <a:srgbClr val="EB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61872" y="2432304"/>
            <a:ext cx="358444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1">
                <a:solidFill>
                  <a:srgbClr val="315F8A"/>
                </a:solidFill>
                <a:latin typeface="Liberation Sans"/>
              </a:defRPr>
            </a:pPr>
            <a:r>
              <a:t>M2  /  PPM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61872" y="3236976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SD partitioning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3822191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fixed matrix-first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61872" y="4407408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1D3047"/>
                </a:solidFill>
                <a:latin typeface="Liberation Sans"/>
              </a:defRPr>
            </a:pPr>
            <a:r>
              <a:t>OpenMP recovery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623560" y="3401568"/>
            <a:ext cx="749808" cy="475488"/>
          </a:xfrm>
          <a:prstGeom prst="rightArrow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2432304"/>
            <a:ext cx="3584448" cy="4480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200" b="1">
                <a:solidFill>
                  <a:srgbClr val="3472B0"/>
                </a:solidFill>
                <a:latin typeface="Liberation Sans"/>
              </a:defRPr>
            </a:pPr>
            <a:r>
              <a:t>M3  /  gPPM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3236976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1D3047"/>
                </a:solidFill>
                <a:latin typeface="Liberation Sans"/>
              </a:defRPr>
            </a:pPr>
            <a:r>
              <a:t>dynamic sequence choice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97496" y="3822191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1D3047"/>
                </a:solidFill>
                <a:latin typeface="Liberation Sans"/>
              </a:defRPr>
            </a:pPr>
            <a:r>
              <a:t>cost: C = u + c·v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4224528"/>
            <a:ext cx="3584448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u: nonzeros  ·  v: non-ones  ·  c: GF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97496" y="4645152"/>
            <a:ext cx="35844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000" b="0">
                <a:solidFill>
                  <a:srgbClr val="1D3047"/>
                </a:solidFill>
                <a:latin typeface="Liberation Sans"/>
              </a:defRPr>
            </a:pPr>
            <a:r>
              <a:t>RS comparison + SIMD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5751576"/>
            <a:ext cx="10661904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0">
                <a:solidFill>
                  <a:srgbClr val="56677B"/>
                </a:solidFill>
                <a:latin typeface="Liberation Sans"/>
              </a:defRPr>
            </a:pPr>
            <a:r>
              <a:t>M2 results  ·  35 → 29 operations  ·  12.9% median work reduction  ·  2.33× best speedup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315F8A"/>
                </a:solidFill>
                <a:latin typeface="Liberation Sans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gPPM  /  Parallel Computing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Algorithm, SD-code construction, and published coding parameters.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0704" y="1920240"/>
            <a:ext cx="10003536" cy="10241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71016" y="2139696"/>
            <a:ext cx="612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1">
                <a:solidFill>
                  <a:srgbClr val="315F8A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011680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1D3047"/>
                </a:solidFill>
                <a:latin typeface="Liberation Sans"/>
              </a:defRPr>
            </a:pPr>
            <a:r>
              <a:t>Li et al. · gPPM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514600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ACM TACO 20(4), 2023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60704" y="3191256"/>
            <a:ext cx="10003536" cy="10241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71016" y="3410712"/>
            <a:ext cx="612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1">
                <a:solidFill>
                  <a:srgbClr val="315F8A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282696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1D3047"/>
                </a:solidFill>
                <a:latin typeface="Liberation Sans"/>
              </a:defRPr>
            </a:pPr>
            <a:r>
              <a:t>Plank et al. · SD Codes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785616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FAST, 2013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0704" y="4462272"/>
            <a:ext cx="10003536" cy="10241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71016" y="4681728"/>
            <a:ext cx="61264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700" b="1">
                <a:solidFill>
                  <a:srgbClr val="315F8A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553712"/>
            <a:ext cx="585216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300" b="1">
                <a:solidFill>
                  <a:srgbClr val="1D3047"/>
                </a:solidFill>
                <a:latin typeface="Liberation Sans"/>
              </a:defRPr>
            </a:pPr>
            <a:r>
              <a:t>Plank · SD encoder/decoder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5056632"/>
            <a:ext cx="859536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Technical report + FAST coefficients, 2013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02536" y="5861304"/>
            <a:ext cx="8065008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0">
                <a:solidFill>
                  <a:srgbClr val="315F8A"/>
                </a:solidFill>
                <a:latin typeface="Liberation Sans"/>
              </a:defRPr>
            </a:pPr>
            <a:r>
              <a:t>github.com/Advay2006/parallel_Computing_gPPM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1D30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95528" y="1014984"/>
            <a:ext cx="822960" cy="54864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1362456"/>
            <a:ext cx="98298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B7CEE0"/>
                </a:solidFill>
                <a:latin typeface="Liberation Sans"/>
              </a:defRPr>
            </a:pPr>
            <a:r>
              <a:t>BACKUP  /  OPEN ONLY FOR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240280"/>
            <a:ext cx="10424160" cy="7955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3900" b="1">
                <a:solidFill>
                  <a:srgbClr val="FFFFFF"/>
                </a:solidFill>
                <a:latin typeface="Liberation Sans"/>
              </a:defRPr>
            </a:pPr>
            <a:r>
              <a:t>Codebase &amp; 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3264408"/>
            <a:ext cx="10149840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100" b="0">
                <a:solidFill>
                  <a:srgbClr val="B7CEE0"/>
                </a:solidFill>
                <a:latin typeface="Liberation Sans"/>
              </a:defRPr>
            </a:pPr>
            <a:r>
              <a:t>Repository map   ·   file responsibilities   ·   M1 → M2 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5943600"/>
            <a:ext cx="100584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B7CEE0"/>
                </a:solidFill>
                <a:latin typeface="Liberation Sans"/>
              </a:defRPr>
            </a:pPr>
            <a:r>
              <a:t>The main presentation ends on the preceding references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5952" y="6501384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100" b="0">
                <a:solidFill>
                  <a:srgbClr val="B7CEE0"/>
                </a:solidFill>
                <a:latin typeface="Liberation Sans"/>
              </a:defRPr>
            </a:pPr>
            <a:r>
              <a:t>B1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A86646"/>
                </a:solidFill>
                <a:latin typeface="Liberation Sans"/>
              </a:defRPr>
            </a:pPr>
            <a:r>
              <a:t>Q&amp;A BACKUP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What is in this codebase?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Q&amp;A appendix  /  not in the main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The coefficient table builds H; both recovery paths share GF and matrix utilities.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96112" y="2121408"/>
            <a:ext cx="2852928" cy="96012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267712"/>
            <a:ext cx="2432304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900" b="1">
                <a:solidFill>
                  <a:srgbClr val="1D3047"/>
                </a:solidFill>
                <a:latin typeface="Liberation Sans"/>
              </a:defRPr>
            </a:pPr>
            <a:r>
              <a:t>FAST coefficients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15768"/>
            <a:ext cx="261518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data/FAST-Coefficients.txt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831336" y="2468880"/>
            <a:ext cx="347472" cy="283464"/>
          </a:xfrm>
          <a:prstGeom prst="rightArrow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2121408"/>
            <a:ext cx="2935224" cy="960120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53128" y="2295144"/>
            <a:ext cx="2660904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700" b="1">
                <a:solidFill>
                  <a:srgbClr val="315F8A"/>
                </a:solidFill>
                <a:latin typeface="Liberation Sans"/>
              </a:defRPr>
            </a:pPr>
            <a:r>
              <a:t>coefficients.c → sd_code.c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8264" y="2715768"/>
            <a:ext cx="275234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200" b="0">
                <a:solidFill>
                  <a:srgbClr val="56677B"/>
                </a:solidFill>
                <a:latin typeface="Liberation Sans"/>
              </a:defRPr>
            </a:pPr>
            <a:r>
              <a:t>construct parity-check matrix H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379208" y="2468880"/>
            <a:ext cx="356616" cy="283464"/>
          </a:xfrm>
          <a:prstGeom prst="rightArrow">
            <a:avLst/>
          </a:prstGeom>
          <a:solidFill>
            <a:srgbClr val="31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09560" y="1938528"/>
            <a:ext cx="3419856" cy="90525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139696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1D3047"/>
                </a:solidFill>
                <a:latin typeface="Liberation Sans"/>
              </a:defRPr>
            </a:pPr>
            <a:r>
              <a:t>codec.c   /   M1 baseline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3136392"/>
            <a:ext cx="3419856" cy="905256"/>
          </a:xfrm>
          <a:prstGeom prst="rect">
            <a:avLst/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337560"/>
            <a:ext cx="3035808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2000" b="1">
                <a:solidFill>
                  <a:srgbClr val="A86646"/>
                </a:solidFill>
                <a:latin typeface="Liberation Sans"/>
              </a:defRPr>
            </a:pPr>
            <a:r>
              <a:t>ppm.c   /   M2 PPM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62088" y="2624328"/>
            <a:ext cx="0" cy="960120"/>
          </a:xfrm>
          <a:prstGeom prst="line">
            <a:avLst/>
          </a:prstGeom>
          <a:ln w="16510">
            <a:solidFill>
              <a:srgbClr val="315F8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ight Arrow 21"/>
          <p:cNvSpPr/>
          <p:nvPr/>
        </p:nvSpPr>
        <p:spPr>
          <a:xfrm>
            <a:off x="7562088" y="3456432"/>
            <a:ext cx="265176" cy="246888"/>
          </a:xfrm>
          <a:prstGeom prst="rightArrow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361688"/>
            <a:ext cx="3392424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56677B"/>
                </a:solidFill>
                <a:latin typeface="Liberation Sans"/>
              </a:defRPr>
            </a:pPr>
            <a:r>
              <a:t>shared foundation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4718304"/>
            <a:ext cx="10433304" cy="539496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52144" y="4828032"/>
            <a:ext cx="993038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Liberation Sans"/>
              </a:defRPr>
            </a:pPr>
            <a:r>
              <a:t>gf.c  ·  finite-field math     +     matrix.c  ·  inversion / multiplication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6112" y="5486400"/>
            <a:ext cx="10433304" cy="57607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5623560"/>
            <a:ext cx="99761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Entry points: main.c / sweep.c / benchmark.c / ppm_sweep.c / ppm_benchmark.c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A86646"/>
                </a:solidFill>
                <a:latin typeface="Liberation Sans"/>
              </a:defRPr>
            </a:pPr>
            <a:r>
              <a:t>Q&amp;A BACKUP  /  FILE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Core files: what each module owns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Q&amp;A appendix  /  not in the main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Each header declares the API; the matching .c file contains its implementation.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" y="2020824"/>
            <a:ext cx="10579608" cy="411480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084831"/>
            <a:ext cx="235915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84448" y="2084831"/>
            <a:ext cx="7461504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Responsibility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8" y="2441448"/>
            <a:ext cx="10579608" cy="576072"/>
          </a:xfrm>
          <a:prstGeom prst="rect">
            <a:avLst/>
          </a:prstGeom>
          <a:solidFill>
            <a:srgbClr val="F4F6F8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" y="2560320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gf.[ch]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2542032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GF(2⁸/2¹⁶/2³²), mult_XORs, thread-local call counter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" y="3026664"/>
            <a:ext cx="10579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" y="3145536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matrix.[ch]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84448" y="3127248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GF matrices, inversion, mat_mul, nonzero counts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3611880"/>
            <a:ext cx="10579608" cy="576072"/>
          </a:xfrm>
          <a:prstGeom prst="rect">
            <a:avLst/>
          </a:prstGeom>
          <a:solidFill>
            <a:srgbClr val="F4F6F8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6696" y="3730752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coefficients.[ch]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84448" y="3712464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Read and validate the published FAST SD coefficient grid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8" y="4197096"/>
            <a:ext cx="10579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4315968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sd_code.[ch]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4297680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Construct H; select coding sectors and failure layouts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" y="4782312"/>
            <a:ext cx="10579608" cy="576072"/>
          </a:xfrm>
          <a:prstGeom prst="rect">
            <a:avLst/>
          </a:prstGeom>
          <a:solidFill>
            <a:srgbClr val="F4F6F8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6696" y="4901184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codec.[ch]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84448" y="4882896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Split F/S; normal and matrix-first decode; ec_recover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8" y="5367528"/>
            <a:ext cx="10579608" cy="576072"/>
          </a:xfrm>
          <a:prstGeom prst="rect">
            <a:avLst/>
          </a:prstGeom>
          <a:solidFill>
            <a:srgbClr val="FFFFFF"/>
          </a:solidFill>
          <a:ln w="6350">
            <a:solidFill>
              <a:srgbClr val="D1D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6696" y="5486400"/>
            <a:ext cx="235915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1">
                <a:solidFill>
                  <a:srgbClr val="315F8A"/>
                </a:solidFill>
                <a:latin typeface="Liberation Mono"/>
              </a:defRPr>
            </a:pPr>
            <a:r>
              <a:t>ppm.[ch]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4448" y="5468112"/>
            <a:ext cx="7488936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1D3047"/>
                </a:solidFill>
                <a:latin typeface="Liberation Sans"/>
              </a:defRPr>
            </a:pPr>
            <a:r>
              <a:t>Partition SD jobs, OpenMP loop, barrier, remainder, stats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6108192"/>
            <a:ext cx="10561320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M2 added ppm.[ch] and matrix-first support; the ec_recover() baseline stays separate.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A86646"/>
                </a:solidFill>
                <a:latin typeface="Liberation Sans"/>
              </a:defRPr>
            </a:pPr>
            <a:r>
              <a:t>Q&amp;A BACKUP  /  FILE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Drivers, tests, data and results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Q&amp;A appendix  /  not in the main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Programs exercise the shared library; CSVs and plots are generated artifacts.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039112"/>
            <a:ext cx="5212080" cy="393192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2093976"/>
            <a:ext cx="4764024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Programs / tests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" y="2441448"/>
            <a:ext cx="521208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523744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main.c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91256" y="2514600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Paper-example baseline demo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" y="2980944"/>
            <a:ext cx="5212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063239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sweep.c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91256" y="3054096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M1 full-parameter work sweep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3520439"/>
            <a:ext cx="521208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602735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benchmark.c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91256" y="3593591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M1 sequential encode/decode timing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4059935"/>
            <a:ext cx="5212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142231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ppm_sweep.c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91256" y="4133087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M2 SD work sweep at T=1 and 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" y="4599431"/>
            <a:ext cx="521208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681727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ppm_benchmark.c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1256" y="4672583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M2 baseline vs PPM timing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6384" y="5138927"/>
            <a:ext cx="521208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221223"/>
            <a:ext cx="220370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315F8A"/>
                </a:solidFill>
                <a:latin typeface="Liberation Mono"/>
              </a:defRPr>
            </a:pPr>
            <a:r>
              <a:t>tests/test_*.c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91256" y="5212079"/>
            <a:ext cx="2660904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Sans"/>
              </a:defRPr>
            </a:pPr>
            <a:r>
              <a:t>GF, SD, coefficients, PPM tests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2039112"/>
            <a:ext cx="5166360" cy="393192"/>
          </a:xfrm>
          <a:prstGeom prst="rect">
            <a:avLst/>
          </a:prstGeom>
          <a:solidFill>
            <a:srgbClr val="1D30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2093976"/>
            <a:ext cx="4736592" cy="283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Liberation Sans"/>
              </a:defRPr>
            </a:pPr>
            <a:r>
              <a:t>Inputs / outputs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2441448"/>
            <a:ext cx="516636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2523744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data/FAST-*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34272" y="2514600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Published coding coefficients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2980944"/>
            <a:ext cx="5166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3063239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results/sweep_*.csv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054096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M1 work measurements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3520439"/>
            <a:ext cx="516636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602735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results/benchmark_*.csv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34272" y="3593591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M1 timings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17920" y="4059935"/>
            <a:ext cx="5166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142231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results/ppm_*.csv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34272" y="4133087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M2 work and scaling trials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17920" y="4599431"/>
            <a:ext cx="5166360" cy="521207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0" y="4681727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results/plots/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34272" y="4672583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Presentation charts (PNG + SVG)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17920" y="5138927"/>
            <a:ext cx="5166360" cy="52120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00800" y="5221223"/>
            <a:ext cx="2596896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315F8A"/>
                </a:solidFill>
                <a:latin typeface="Liberation Mono"/>
              </a:defRPr>
            </a:pPr>
            <a:r>
              <a:t>Makefile + scripts/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5212079"/>
            <a:ext cx="217627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Sans"/>
              </a:defRPr>
            </a:pPr>
            <a:r>
              <a:t>Build, runs and plot generator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6384" y="5861304"/>
            <a:ext cx="10597896" cy="402336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69264" y="5925312"/>
            <a:ext cx="1017727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sz="1500" b="0">
                <a:solidFill>
                  <a:srgbClr val="56677B"/>
                </a:solidFill>
                <a:latin typeface="Liberation Sans"/>
              </a:defRPr>
            </a:pPr>
            <a:r>
              <a:t>make run  ·  make benchmark  ·  make ppm-sweep  ·  make ppm-benchmark  ·  make plots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A86646"/>
                </a:solidFill>
                <a:latin typeface="Liberation Sans"/>
              </a:defRPr>
            </a:pPr>
            <a:r>
              <a:t>Q&amp;A BACKUP  /  SOURCE EXCERPT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From the M1 decoder to PPM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Q&amp;A appendix  /  not in the main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The baseline solves one F; PPM first identifies independent physical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39112"/>
            <a:ext cx="5257800" cy="34015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2039112"/>
            <a:ext cx="5212080" cy="340156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240280"/>
            <a:ext cx="4736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315F8A"/>
                </a:solidFill>
                <a:latin typeface="Liberation Sans"/>
              </a:defRPr>
            </a:pPr>
            <a:r>
              <a:t>M1  /  src/codec.c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45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A86646"/>
                </a:solidFill>
                <a:latin typeface="Liberation Sans"/>
              </a:defRPr>
            </a:pPr>
            <a:r>
              <a:t>M2  /  src/ppm.c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2807208"/>
            <a:ext cx="4727448" cy="2423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1D3047"/>
                </a:solidFill>
                <a:latin typeface="Liberation Mono"/>
              </a:defRPr>
            </a:pPr>
            <a:r>
              <a:t>ns = ec_split(H, faulty, nf, &amp;F, &amp;S, surviving);</a:t>
            </a:r>
            <a:br/>
            <a:r>
              <a:t>if (mat_invert(&amp;F, gf, &amp;Finv) != 0) goto done;</a:t>
            </a:r>
            <a:br/>
            <a:r>
              <a:t>gf_count_reset();</a:t>
            </a:r>
            <a:br/>
            <a:r>
              <a:t>if (ec_decode_normal(&amp;Finv, &amp;S, faulty,</a:t>
            </a:r>
            <a:br/>
            <a:r>
              <a:t>                     surviving, stripe,</a:t>
            </a:r>
            <a:br/>
            <a:r>
              <a:t>                     sector_bytes, gf) != 0)</a:t>
            </a:r>
            <a:br/>
            <a:r>
              <a:t>    goto done;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779776"/>
            <a:ext cx="4645152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1D3047"/>
                </a:solidFill>
                <a:latin typeface="Liberation Mono"/>
              </a:defRPr>
            </a:pPr>
            <a:r>
              <a:t>if (row_faults[i] == m) {</a:t>
            </a:r>
            <a:br/>
            <a:r>
              <a:t>    row_is_independent[i] = 1;</a:t>
            </a:r>
            <a:br/>
            <a:r>
              <a:t>    p++;</a:t>
            </a:r>
            <a:br/>
            <a:r>
              <a:t>}</a:t>
            </a:r>
            <a:br/>
            <a:br/>
            <a:r>
              <a:t>jobs[i].rc = ec_decode_matrix_first(</a:t>
            </a:r>
            <a:br/>
            <a:r>
              <a:t>    &amp;jobs[i].Finv, &amp;jobs[i].S,</a:t>
            </a:r>
            <a:br/>
            <a:r>
              <a:t>    jobs[i].faulty, jobs[i].surviving,</a:t>
            </a:r>
            <a:br/>
            <a:r>
              <a:t>    stripe, sector_bytes, gf);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5669280"/>
            <a:ext cx="4992624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M1:  T = S·BS; BF = F⁻¹·T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5669280"/>
            <a:ext cx="4818888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700" b="1">
                <a:solidFill>
                  <a:srgbClr val="1D3047"/>
                </a:solidFill>
                <a:latin typeface="Liberation Sans"/>
              </a:defRPr>
            </a:pPr>
            <a:r>
              <a:t>M2:  G = F⁻¹·S; BF = G·BS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9184"/>
            <a:ext cx="1001268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100" b="1">
                <a:solidFill>
                  <a:srgbClr val="A86646"/>
                </a:solidFill>
                <a:latin typeface="Liberation Sans"/>
              </a:defRPr>
            </a:pPr>
            <a:r>
              <a:t>Q&amp;A BACKUP  /  SOURCE EXCERPT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694944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2800" b="1">
                <a:solidFill>
                  <a:srgbClr val="1D3047"/>
                </a:solidFill>
                <a:latin typeface="Liberation Sans"/>
              </a:defRPr>
            </a:pPr>
            <a:r>
              <a:t>Inside the OpenMP recovery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80744"/>
            <a:ext cx="10954512" cy="16459"/>
          </a:xfrm>
          <a:prstGeom prst="rect">
            <a:avLst/>
          </a:prstGeom>
          <a:solidFill>
            <a:srgbClr val="D1D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1792" y="1380744"/>
            <a:ext cx="667512" cy="32918"/>
          </a:xfrm>
          <a:prstGeom prst="rect">
            <a:avLst/>
          </a:prstGeom>
          <a:solidFill>
            <a:srgbClr val="A86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6547104"/>
            <a:ext cx="6035040" cy="1737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900" b="0">
                <a:solidFill>
                  <a:srgbClr val="56677B"/>
                </a:solidFill>
                <a:latin typeface="Liberation Sans"/>
              </a:defRPr>
            </a:pPr>
            <a:r>
              <a:t>Q&amp;A appendix  /  not in the main talk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528816"/>
            <a:ext cx="502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defRPr sz="1000" b="0">
                <a:solidFill>
                  <a:srgbClr val="56677B"/>
                </a:solidFill>
                <a:latin typeface="Liberation Sans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508760"/>
            <a:ext cx="10872216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600" b="0">
                <a:solidFill>
                  <a:srgbClr val="56677B"/>
                </a:solidFill>
                <a:latin typeface="Liberation Sans"/>
              </a:defRPr>
            </a:pPr>
            <a:r>
              <a:t>The loop owns disjoint jobs; leaving it is the barrier before the remainder.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2103120"/>
            <a:ext cx="6647688" cy="399592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267712"/>
            <a:ext cx="619963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315F8A"/>
                </a:solidFill>
                <a:latin typeface="Liberation Sans"/>
              </a:defRPr>
            </a:pPr>
            <a:r>
              <a:t>src/ppm.c  ·  independent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2761488"/>
            <a:ext cx="6254496" cy="3054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1D3047"/>
                </a:solidFill>
                <a:latin typeface="Liberation Mono"/>
              </a:defRPr>
            </a:pPr>
            <a:r>
              <a:t>#pragma omp for schedule(static)</a:t>
            </a:r>
            <a:br/>
            <a:r>
              <a:t>for (i = 0; i &lt; p; i++) {</a:t>
            </a:r>
            <a:br/>
            <a:r>
              <a:t>    gf_count_reset();</a:t>
            </a:r>
            <a:br/>
            <a:r>
              <a:t>    jobs[i].rc = ec_decode_matrix_first(</a:t>
            </a:r>
            <a:br/>
            <a:r>
              <a:t>        &amp;jobs[i].Finv, &amp;jobs[i].S,</a:t>
            </a:r>
            <a:br/>
            <a:r>
              <a:t>        jobs[i].faulty, jobs[i].surviving,</a:t>
            </a:r>
            <a:br/>
            <a:r>
              <a:t>        stripe, sector_bytes, gf);</a:t>
            </a:r>
            <a:br/>
            <a:r>
              <a:t>    jobs[i].mult_xors = gf_count_get();</a:t>
            </a:r>
            <a:br/>
            <a: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08392" y="2103120"/>
            <a:ext cx="3685032" cy="1316736"/>
          </a:xfrm>
          <a:prstGeom prst="rect">
            <a:avLst/>
          </a:prstGeom>
          <a:solidFill>
            <a:srgbClr val="E6EE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2258568"/>
            <a:ext cx="3273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500" b="1">
                <a:solidFill>
                  <a:srgbClr val="315F8A"/>
                </a:solidFill>
                <a:latin typeface="Liberation Sans"/>
              </a:defRPr>
            </a:pPr>
            <a:r>
              <a:t>src/gf.h  ·  thread-local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2642616"/>
            <a:ext cx="3200400" cy="530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1D3047"/>
                </a:solidFill>
                <a:latin typeface="Liberation Mono"/>
              </a:defRPr>
            </a:pPr>
            <a:r>
              <a:t>extern _Thread_local uint64_t</a:t>
            </a:r>
            <a:br/>
            <a:r>
              <a:t>    gf_mult_xors_count;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08392" y="3621024"/>
            <a:ext cx="3685032" cy="2478024"/>
          </a:xfrm>
          <a:prstGeom prst="rect">
            <a:avLst/>
          </a:prstGeom>
          <a:solidFill>
            <a:srgbClr val="F7ED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3803904"/>
            <a:ext cx="327355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800" b="1">
                <a:solidFill>
                  <a:srgbClr val="A86646"/>
                </a:solidFill>
                <a:latin typeface="Liberation Sans"/>
              </a:defRPr>
            </a:pPr>
            <a:r>
              <a:t>After the barrier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7848" y="4315968"/>
            <a:ext cx="3227832" cy="11247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1D3047"/>
                </a:solidFill>
                <a:latin typeface="Liberation Mono"/>
              </a:defRPr>
            </a:pPr>
            <a:r>
              <a:t>ec_decode_normal(</a:t>
            </a:r>
            <a:br/>
            <a:r>
              <a:t>    &amp;remainder.Finv,</a:t>
            </a:r>
            <a:br/>
            <a:r>
              <a:t>    &amp;remainder.S, ...);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09560" y="5568696"/>
            <a:ext cx="3264408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56677B"/>
                </a:solidFill>
                <a:latin typeface="Liberation Sans"/>
              </a:defRPr>
            </a:pPr>
            <a:r>
              <a:t>Excerpt at right is shortened; full call uses remainder.faulty and remainder.surviving.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